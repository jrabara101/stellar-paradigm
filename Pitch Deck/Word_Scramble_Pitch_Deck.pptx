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DM Sans" charset="1" panose="00000000000000000000"/>
      <p:regular r:id="rId15"/>
    </p:embeddedFont>
    <p:embeddedFont>
      <p:font typeface="DM Sans Bold" charset="1" panose="0000000000000000000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Johnrick Rabara. What if the very first blockchain transaction someone ever makes wasn't a scary DeFi swap — but solving a word puzzle? This is Word Scramble: a retro word game where every score you earn is a real transaction on the Stellar blockchain. It's live right now, anyone can play it in a browser, and today I'll show you how it turns casual gamers into on-chain users.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problem. Getting a normal person onto a blockchain is hard — wallets, seed phrases, gas fees, testnet faucets. Every one of those is a place people quit. And the way we usually teach Web3 is passive: we hand people docs and videos, but never put a wallet in their hand for a safe, low-stakes first transaction. Meanwhile casual word games like Wordle prove hundreds of millions will open a puzzle every day. Nobody has combined that habit with a real on-chain action — so onboarding funnels leak and huge gaming audiences never try blockchain.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make the blockchain invisible until the moment it delights you. You drag tiles, solve a word, and hit submit — and that submit is a real smart-contract call on Stellar, verifiable on Stellar Expert. Under the hood two contracts talk to each other: the leaderboard contract auto-calls a reward contract that mints a badge — Bronze, Silver, Gold, or Legend — in one transaction. Four wallets are supported, new accounts auto-fund via Friendbot, first-timers get a guided walkthrough, and a live event stream lights up whenever anyone submits a score.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now, and why this? Casual word games are one of the most durable categories in gaming — Wordle turned a single mechanic into a daily habit for millions. At the same time, Stellar's mission is consumer financial inclusion — lowering the barrier for non-technical people. Word Scramble sits exactly at that intersection: it takes an audience that already loves word games and gives them a safe on-ramp to Web3. And because our expansion modes copy mechanics that already work, our growth path is de-risked.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this is deliberately lean. The whole front end is vanilla HTML, CSS, and JavaScript — no backend, no build step — served as a static site. One file, stellar.js, bridges the game to two Soroban contracts via the Stellar SDK and Stellar Wallets Kit. On submit, the contract writes to a top-ten leaderboard only if you beat your best, then mints your badge in the same flow. The front end polls every five seconds so every tab sees new scores live. CI runs on GitHub Actions on every push, and privacy-friendly analytics track real usage.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Growth runs as a repeatable loop: recruit a player, they connect a wallet, submit a score on-chain, and we independently verify that transaction against Stellar's ledger — so our numbers aren't self-reported, they're cryptographically backed. We scaled from ten verified users to fifty-one, with a hundred and eighty-two real transactions and a hundred percent verification rate. Retention is built in — the game invites feedback right after your first score, and that loop has already shipped real fixes. Our next modes reuse systems we've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favorite slide, because it proves the loop closes. Testers said the hint button was confusing — we renamed it to a clear Definition button. Several asked for a bigger, persistent, Scrabble-style board — so we built Scramble Board, a two-to-four-player fifteen-by-fifteen tile game, shipped as version two-point-oh. Ahead: moving the daily leaderboard fully on-chain with streaks and fair commit-reveal, adding seasons and profiles, a timed Speedrun mode, and long-term, evolving these badges into verifiable vocabulary credentials schools could recognize.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the numbers — this is live, and the traction is real and verified: fifty-one distinct users, every wallet independently cross-checked on Stellar Horizon for a genuine submit_score, a hundred percent verification rate across a hundred and eighty-two transactions. Players rate it four-point-eight out of five, and fifty-one of fifty-two say they'd play again. It's all open source with a passing CI pipeline, plus a full walkthrough video of the entire flow.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my ask is simple: go to word-scramble-v1.surge.sh, solve one word, and you'll have made your first blockchain transaction without even realizing it. That's how we onboard the next million users to Stellar.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11525791" y="285750"/>
            <a:ext cx="7126185" cy="9715500"/>
            <a:chOff x="0" y="0"/>
            <a:chExt cx="1072489" cy="1462180"/>
          </a:xfrm>
        </p:grpSpPr>
        <p:sp>
          <p:nvSpPr>
            <p:cNvPr name="Freeform 3" id="3"/>
            <p:cNvSpPr/>
            <p:nvPr/>
          </p:nvSpPr>
          <p:spPr>
            <a:xfrm flipH="false" flipV="false" rot="0">
              <a:off x="0" y="0"/>
              <a:ext cx="1072489" cy="1462180"/>
            </a:xfrm>
            <a:custGeom>
              <a:avLst/>
              <a:gdLst/>
              <a:ahLst/>
              <a:cxnLst/>
              <a:rect r="r" b="b" t="t" l="l"/>
              <a:pathLst>
                <a:path h="1462180" w="1072489">
                  <a:moveTo>
                    <a:pt x="32592" y="0"/>
                  </a:moveTo>
                  <a:lnTo>
                    <a:pt x="1039897" y="0"/>
                  </a:lnTo>
                  <a:cubicBezTo>
                    <a:pt x="1057897" y="0"/>
                    <a:pt x="1072489" y="14592"/>
                    <a:pt x="1072489" y="32592"/>
                  </a:cubicBezTo>
                  <a:lnTo>
                    <a:pt x="1072489" y="1429588"/>
                  </a:lnTo>
                  <a:cubicBezTo>
                    <a:pt x="1072489" y="1447588"/>
                    <a:pt x="1057897" y="1462180"/>
                    <a:pt x="1039897" y="1462180"/>
                  </a:cubicBezTo>
                  <a:lnTo>
                    <a:pt x="32592" y="1462180"/>
                  </a:lnTo>
                  <a:cubicBezTo>
                    <a:pt x="23948" y="1462180"/>
                    <a:pt x="15658" y="1458746"/>
                    <a:pt x="9546" y="1452634"/>
                  </a:cubicBezTo>
                  <a:cubicBezTo>
                    <a:pt x="3434" y="1446522"/>
                    <a:pt x="0" y="1438232"/>
                    <a:pt x="0" y="1429588"/>
                  </a:cubicBezTo>
                  <a:lnTo>
                    <a:pt x="0" y="32592"/>
                  </a:lnTo>
                  <a:cubicBezTo>
                    <a:pt x="0" y="14592"/>
                    <a:pt x="14592" y="0"/>
                    <a:pt x="32592" y="0"/>
                  </a:cubicBezTo>
                  <a:close/>
                </a:path>
              </a:pathLst>
            </a:custGeom>
            <a:blipFill>
              <a:blip r:embed="rId2"/>
              <a:stretch>
                <a:fillRect l="0" t="-152" r="0" b="-152"/>
              </a:stretch>
            </a:blipFill>
          </p:spPr>
          <p:txBody>
            <a:bodyPr/>
            <a:p/>
          </p:txBody>
        </p:sp>
      </p:grpSp>
      <p:sp>
        <p:nvSpPr>
          <p:cNvPr name="TextBox 4" id="4"/>
          <p:cNvSpPr txBox="true"/>
          <p:nvPr/>
        </p:nvSpPr>
        <p:spPr>
          <a:xfrm rot="0">
            <a:off x="666750" y="3771688"/>
            <a:ext cx="10067925" cy="3008140"/>
          </a:xfrm>
          <a:prstGeom prst="rect">
            <a:avLst/>
          </a:prstGeom>
        </p:spPr>
        <p:txBody>
          <a:bodyPr anchor="t" rtlCol="false" tIns="0" lIns="0" bIns="0" rIns="0">
            <a:spAutoFit/>
          </a:bodyPr>
          <a:lstStyle/>
          <a:p>
            <a:pPr algn="ctr" marL="0" indent="0" lvl="0">
              <a:lnSpc>
                <a:spcPts val="11555"/>
              </a:lnSpc>
            </a:pPr>
            <a:r>
              <a:rPr lang="en-US" sz="11555" spc="-346">
                <a:solidFill>
                  <a:srgbClr val="F9FAFB"/>
                </a:solidFill>
                <a:latin typeface="DM Sans"/>
                <a:ea typeface="DM Sans"/>
                <a:cs typeface="DM Sans"/>
                <a:sym typeface="DM Sans"/>
              </a:rPr>
              <a:t>Gamified Web3 Onboarding</a:t>
            </a:r>
          </a:p>
        </p:txBody>
      </p:sp>
      <p:grpSp>
        <p:nvGrpSpPr>
          <p:cNvPr name="Group 5" id="5"/>
          <p:cNvGrpSpPr/>
          <p:nvPr/>
        </p:nvGrpSpPr>
        <p:grpSpPr>
          <a:xfrm rot="0">
            <a:off x="9565823" y="7783108"/>
            <a:ext cx="2607127" cy="941792"/>
            <a:chOff x="0" y="0"/>
            <a:chExt cx="3476169" cy="1255723"/>
          </a:xfrm>
        </p:grpSpPr>
        <p:grpSp>
          <p:nvGrpSpPr>
            <p:cNvPr name="Group 6" id="6"/>
            <p:cNvGrpSpPr/>
            <p:nvPr/>
          </p:nvGrpSpPr>
          <p:grpSpPr>
            <a:xfrm rot="0">
              <a:off x="0" y="452517"/>
              <a:ext cx="2997536" cy="803206"/>
              <a:chOff x="0" y="0"/>
              <a:chExt cx="677333" cy="181495"/>
            </a:xfrm>
          </p:grpSpPr>
          <p:sp>
            <p:nvSpPr>
              <p:cNvPr name="Freeform 7" id="7"/>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6366F1"/>
              </a:solidFill>
            </p:spPr>
            <p:txBody>
              <a:bodyPr/>
              <a:p/>
            </p:txBody>
          </p:sp>
          <p:sp>
            <p:nvSpPr>
              <p:cNvPr name="TextBox 8" id="8"/>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9" id="9"/>
            <p:cNvSpPr/>
            <p:nvPr/>
          </p:nvSpPr>
          <p:spPr>
            <a:xfrm flipH="false" flipV="false" rot="-2700000">
              <a:off x="2906402" y="95255"/>
              <a:ext cx="468474" cy="480551"/>
            </a:xfrm>
            <a:custGeom>
              <a:avLst/>
              <a:gdLst/>
              <a:ahLst/>
              <a:cxnLst/>
              <a:rect r="r" b="b" t="t" l="l"/>
              <a:pathLst>
                <a:path h="480551" w="468474">
                  <a:moveTo>
                    <a:pt x="0" y="0"/>
                  </a:moveTo>
                  <a:lnTo>
                    <a:pt x="468473" y="0"/>
                  </a:lnTo>
                  <a:lnTo>
                    <a:pt x="468473" y="480551"/>
                  </a:lnTo>
                  <a:lnTo>
                    <a:pt x="0" y="48055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0" id="10"/>
            <p:cNvSpPr txBox="true"/>
            <p:nvPr/>
          </p:nvSpPr>
          <p:spPr>
            <a:xfrm rot="0">
              <a:off x="197602" y="495345"/>
              <a:ext cx="2602332" cy="727075"/>
            </a:xfrm>
            <a:prstGeom prst="rect">
              <a:avLst/>
            </a:prstGeom>
          </p:spPr>
          <p:txBody>
            <a:bodyPr anchor="t" rtlCol="false" tIns="0" lIns="0" bIns="0" rIns="0">
              <a:spAutoFit/>
            </a:bodyPr>
            <a:lstStyle/>
            <a:p>
              <a:pPr algn="ctr" marL="0" indent="0" lvl="0">
                <a:lnSpc>
                  <a:spcPts val="2199"/>
                </a:lnSpc>
                <a:spcBef>
                  <a:spcPct val="0"/>
                </a:spcBef>
              </a:pPr>
              <a:r>
                <a:rPr lang="en-US" sz="1832">
                  <a:solidFill>
                    <a:srgbClr val="F9FAFB"/>
                  </a:solidFill>
                  <a:latin typeface="DM Sans"/>
                  <a:ea typeface="DM Sans"/>
                  <a:cs typeface="DM Sans"/>
                  <a:sym typeface="DM Sans"/>
                </a:rPr>
                <a:t>Johnrick Rabara</a:t>
              </a:r>
            </a:p>
          </p:txBody>
        </p:sp>
      </p:grpSp>
      <p:sp>
        <p:nvSpPr>
          <p:cNvPr name="TextBox 11" id="11"/>
          <p:cNvSpPr txBox="true"/>
          <p:nvPr/>
        </p:nvSpPr>
        <p:spPr>
          <a:xfrm rot="0">
            <a:off x="2105025" y="9394750"/>
            <a:ext cx="6886575" cy="390525"/>
          </a:xfrm>
          <a:prstGeom prst="rect">
            <a:avLst/>
          </a:prstGeom>
        </p:spPr>
        <p:txBody>
          <a:bodyPr anchor="t" rtlCol="false" tIns="0" lIns="0" bIns="0" rIns="0">
            <a:spAutoFit/>
          </a:bodyPr>
          <a:lstStyle/>
          <a:p>
            <a:pPr algn="ctr" marL="0" indent="0" lvl="0">
              <a:lnSpc>
                <a:spcPts val="3184"/>
              </a:lnSpc>
            </a:pPr>
            <a:r>
              <a:rPr lang="en-US" sz="2653">
                <a:solidFill>
                  <a:srgbClr val="F9FAFB"/>
                </a:solidFill>
                <a:latin typeface="DM Sans"/>
                <a:ea typeface="DM Sans"/>
                <a:cs typeface="DM Sans"/>
                <a:sym typeface="DM Sans"/>
              </a:rPr>
              <a:t>July 2026</a:t>
            </a:r>
          </a:p>
        </p:txBody>
      </p:sp>
      <p:sp>
        <p:nvSpPr>
          <p:cNvPr name="TextBox 12" id="12"/>
          <p:cNvSpPr txBox="true"/>
          <p:nvPr/>
        </p:nvSpPr>
        <p:spPr>
          <a:xfrm rot="0">
            <a:off x="2105025" y="476250"/>
            <a:ext cx="6886575" cy="390525"/>
          </a:xfrm>
          <a:prstGeom prst="rect">
            <a:avLst/>
          </a:prstGeom>
        </p:spPr>
        <p:txBody>
          <a:bodyPr anchor="t" rtlCol="false" tIns="0" lIns="0" bIns="0" rIns="0">
            <a:spAutoFit/>
          </a:bodyPr>
          <a:lstStyle/>
          <a:p>
            <a:pPr algn="ctr" marL="0" indent="0" lvl="0">
              <a:lnSpc>
                <a:spcPts val="3184"/>
              </a:lnSpc>
            </a:pPr>
            <a:r>
              <a:rPr lang="en-US" sz="2653">
                <a:solidFill>
                  <a:srgbClr val="F9FAFB"/>
                </a:solidFill>
                <a:latin typeface="DM Sans"/>
                <a:ea typeface="DM Sans"/>
                <a:cs typeface="DM Sans"/>
                <a:sym typeface="DM Sans"/>
              </a:rPr>
              <a:t>Word Scramble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sp>
        <p:nvSpPr>
          <p:cNvPr name="TextBox 2" id="2"/>
          <p:cNvSpPr txBox="true"/>
          <p:nvPr/>
        </p:nvSpPr>
        <p:spPr>
          <a:xfrm rot="0">
            <a:off x="571500" y="1422081"/>
            <a:ext cx="17145000" cy="1209675"/>
          </a:xfrm>
          <a:prstGeom prst="rect">
            <a:avLst/>
          </a:prstGeom>
        </p:spPr>
        <p:txBody>
          <a:bodyPr anchor="t" rtlCol="false" tIns="0" lIns="0" bIns="0" rIns="0">
            <a:spAutoFit/>
          </a:bodyPr>
          <a:lstStyle/>
          <a:p>
            <a:pPr algn="l" marL="0" indent="0" lvl="0">
              <a:lnSpc>
                <a:spcPts val="9000"/>
              </a:lnSpc>
            </a:pPr>
            <a:r>
              <a:rPr lang="en-US" sz="9000" spc="-270">
                <a:solidFill>
                  <a:srgbClr val="F9FAFB"/>
                </a:solidFill>
                <a:latin typeface="DM Sans"/>
                <a:ea typeface="DM Sans"/>
                <a:cs typeface="DM Sans"/>
                <a:sym typeface="DM Sans"/>
              </a:rPr>
              <a:t>Challenges in Web3 Onboarding</a:t>
            </a:r>
          </a:p>
        </p:txBody>
      </p:sp>
      <p:sp>
        <p:nvSpPr>
          <p:cNvPr name="TextBox 3" id="3"/>
          <p:cNvSpPr txBox="true"/>
          <p:nvPr/>
        </p:nvSpPr>
        <p:spPr>
          <a:xfrm rot="0">
            <a:off x="571500" y="3460746"/>
            <a:ext cx="6981825" cy="2324100"/>
          </a:xfrm>
          <a:prstGeom prst="rect">
            <a:avLst/>
          </a:prstGeom>
        </p:spPr>
        <p:txBody>
          <a:bodyPr anchor="t" rtlCol="false" tIns="0" lIns="0" bIns="0" rIns="0">
            <a:spAutoFit/>
          </a:bodyPr>
          <a:lstStyle/>
          <a:p>
            <a:pPr algn="l" marL="0" indent="0" lvl="0">
              <a:lnSpc>
                <a:spcPts val="4500"/>
              </a:lnSpc>
            </a:pPr>
            <a:r>
              <a:rPr lang="en-US" b="true" sz="4500" spc="-135">
                <a:solidFill>
                  <a:srgbClr val="F9FAFB"/>
                </a:solidFill>
                <a:latin typeface="DM Sans Bold"/>
                <a:ea typeface="DM Sans Bold"/>
                <a:cs typeface="DM Sans Bold"/>
                <a:sym typeface="DM Sans Bold"/>
              </a:rPr>
              <a:t>Non-technical users find onboarding intimidating and confusing due to complex processes.</a:t>
            </a:r>
          </a:p>
        </p:txBody>
      </p:sp>
      <p:grpSp>
        <p:nvGrpSpPr>
          <p:cNvPr name="Group 4" id="4"/>
          <p:cNvGrpSpPr/>
          <p:nvPr/>
        </p:nvGrpSpPr>
        <p:grpSpPr>
          <a:xfrm rot="0">
            <a:off x="9239250" y="3524074"/>
            <a:ext cx="3723401" cy="1279800"/>
            <a:chOff x="0" y="0"/>
            <a:chExt cx="4964535" cy="1706401"/>
          </a:xfrm>
        </p:grpSpPr>
        <p:sp>
          <p:nvSpPr>
            <p:cNvPr name="TextBox 5" id="5"/>
            <p:cNvSpPr txBox="true"/>
            <p:nvPr/>
          </p:nvSpPr>
          <p:spPr>
            <a:xfrm rot="0">
              <a:off x="0" y="687226"/>
              <a:ext cx="4964535" cy="1019175"/>
            </a:xfrm>
            <a:prstGeom prst="rect">
              <a:avLst/>
            </a:prstGeom>
          </p:spPr>
          <p:txBody>
            <a:bodyPr anchor="t" rtlCol="false" tIns="0" lIns="0" bIns="0" rIns="0">
              <a:spAutoFit/>
            </a:bodyPr>
            <a:lstStyle/>
            <a:p>
              <a:pPr algn="l" marL="0" indent="0" lvl="0">
                <a:lnSpc>
                  <a:spcPts val="2057"/>
                </a:lnSpc>
              </a:pPr>
              <a:r>
                <a:rPr lang="en-US" sz="1714">
                  <a:solidFill>
                    <a:srgbClr val="F9FAFB">
                      <a:alpha val="97647"/>
                    </a:srgbClr>
                  </a:solidFill>
                  <a:latin typeface="DM Sans"/>
                  <a:ea typeface="DM Sans"/>
                  <a:cs typeface="DM Sans"/>
                  <a:sym typeface="DM Sans"/>
                </a:rPr>
                <a:t>Many potential users feel overwhelmed by wallets, seed phrases, and other unfamiliar terms.</a:t>
              </a:r>
            </a:p>
          </p:txBody>
        </p:sp>
        <p:sp>
          <p:nvSpPr>
            <p:cNvPr name="TextBox 6" id="6"/>
            <p:cNvSpPr txBox="true"/>
            <p:nvPr/>
          </p:nvSpPr>
          <p:spPr>
            <a:xfrm rot="0">
              <a:off x="0" y="9525"/>
              <a:ext cx="4964535" cy="333375"/>
            </a:xfrm>
            <a:prstGeom prst="rect">
              <a:avLst/>
            </a:prstGeom>
          </p:spPr>
          <p:txBody>
            <a:bodyPr anchor="t" rtlCol="false" tIns="0" lIns="0" bIns="0" rIns="0">
              <a:spAutoFit/>
            </a:bodyPr>
            <a:lstStyle/>
            <a:p>
              <a:pPr algn="l" marL="0" indent="0" lvl="0">
                <a:lnSpc>
                  <a:spcPts val="2057"/>
                </a:lnSpc>
              </a:pPr>
              <a:r>
                <a:rPr lang="en-US" b="true" sz="1714">
                  <a:solidFill>
                    <a:srgbClr val="F9FAFB"/>
                  </a:solidFill>
                  <a:latin typeface="DM Sans Bold"/>
                  <a:ea typeface="DM Sans Bold"/>
                  <a:cs typeface="DM Sans Bold"/>
                  <a:sym typeface="DM Sans Bold"/>
                </a:rPr>
                <a:t>User Intimidation</a:t>
              </a:r>
            </a:p>
          </p:txBody>
        </p:sp>
      </p:grpSp>
      <p:grpSp>
        <p:nvGrpSpPr>
          <p:cNvPr name="Group 7" id="7"/>
          <p:cNvGrpSpPr/>
          <p:nvPr/>
        </p:nvGrpSpPr>
        <p:grpSpPr>
          <a:xfrm rot="0">
            <a:off x="13573125" y="3524074"/>
            <a:ext cx="3708475" cy="1794150"/>
            <a:chOff x="0" y="0"/>
            <a:chExt cx="4944633" cy="2392201"/>
          </a:xfrm>
        </p:grpSpPr>
        <p:sp>
          <p:nvSpPr>
            <p:cNvPr name="TextBox 8" id="8"/>
            <p:cNvSpPr txBox="true"/>
            <p:nvPr/>
          </p:nvSpPr>
          <p:spPr>
            <a:xfrm rot="0">
              <a:off x="0" y="687226"/>
              <a:ext cx="4944633" cy="1704975"/>
            </a:xfrm>
            <a:prstGeom prst="rect">
              <a:avLst/>
            </a:prstGeom>
          </p:spPr>
          <p:txBody>
            <a:bodyPr anchor="t" rtlCol="false" tIns="0" lIns="0" bIns="0" rIns="0">
              <a:spAutoFit/>
            </a:bodyPr>
            <a:lstStyle/>
            <a:p>
              <a:pPr algn="l" marL="0" indent="0" lvl="0">
                <a:lnSpc>
                  <a:spcPts val="2057"/>
                </a:lnSpc>
              </a:pPr>
              <a:r>
                <a:rPr lang="en-US" sz="1714">
                  <a:solidFill>
                    <a:srgbClr val="F9FAFB">
                      <a:alpha val="97647"/>
                    </a:srgbClr>
                  </a:solidFill>
                  <a:latin typeface="DM Sans"/>
                  <a:ea typeface="DM Sans"/>
                  <a:cs typeface="DM Sans"/>
                  <a:sym typeface="DM Sans"/>
                </a:rPr>
                <a:t>Existing education content lacks engagement, making it difficult for users to experience blockchain interactions and leading to high drop-off rates in onboarding funnels.</a:t>
              </a:r>
            </a:p>
          </p:txBody>
        </p:sp>
        <p:sp>
          <p:nvSpPr>
            <p:cNvPr name="TextBox 9" id="9"/>
            <p:cNvSpPr txBox="true"/>
            <p:nvPr/>
          </p:nvSpPr>
          <p:spPr>
            <a:xfrm rot="0">
              <a:off x="0" y="9525"/>
              <a:ext cx="4944633" cy="333375"/>
            </a:xfrm>
            <a:prstGeom prst="rect">
              <a:avLst/>
            </a:prstGeom>
          </p:spPr>
          <p:txBody>
            <a:bodyPr anchor="t" rtlCol="false" tIns="0" lIns="0" bIns="0" rIns="0">
              <a:spAutoFit/>
            </a:bodyPr>
            <a:lstStyle/>
            <a:p>
              <a:pPr algn="l" marL="0" indent="0" lvl="0">
                <a:lnSpc>
                  <a:spcPts val="2057"/>
                </a:lnSpc>
              </a:pPr>
              <a:r>
                <a:rPr lang="en-US" b="true" sz="1714">
                  <a:solidFill>
                    <a:srgbClr val="F9FAFB"/>
                  </a:solidFill>
                  <a:latin typeface="DM Sans Bold"/>
                  <a:ea typeface="DM Sans Bold"/>
                  <a:cs typeface="DM Sans Bold"/>
                  <a:sym typeface="DM Sans Bold"/>
                </a:rPr>
                <a:t>Missed Opportunities</a:t>
              </a:r>
            </a:p>
          </p:txBody>
        </p:sp>
      </p:grpSp>
      <p:sp>
        <p:nvSpPr>
          <p:cNvPr name="TextBox 10" id="10"/>
          <p:cNvSpPr txBox="true"/>
          <p:nvPr/>
        </p:nvSpPr>
        <p:spPr>
          <a:xfrm rot="0">
            <a:off x="14605000" y="511473"/>
            <a:ext cx="3111500" cy="201930"/>
          </a:xfrm>
          <a:prstGeom prst="rect">
            <a:avLst/>
          </a:prstGeom>
        </p:spPr>
        <p:txBody>
          <a:bodyPr anchor="t" rtlCol="false" tIns="0" lIns="0" bIns="0" rIns="0">
            <a:spAutoFit/>
          </a:bodyPr>
          <a:lstStyle/>
          <a:p>
            <a:pPr algn="r" marL="0" indent="0" lvl="0">
              <a:lnSpc>
                <a:spcPts val="1500"/>
              </a:lnSpc>
            </a:pPr>
            <a:r>
              <a:rPr lang="en-US" b="true" sz="1200" spc="-18">
                <a:solidFill>
                  <a:srgbClr val="F9FAFB"/>
                </a:solidFill>
                <a:latin typeface="DM Sans Bold"/>
                <a:ea typeface="DM Sans Bold"/>
                <a:cs typeface="DM Sans Bold"/>
                <a:sym typeface="DM Sans Bold"/>
              </a:rPr>
              <a:t>WEB3 ONBOARDING BARRIERS</a:t>
            </a:r>
          </a:p>
        </p:txBody>
      </p:sp>
      <p:sp>
        <p:nvSpPr>
          <p:cNvPr name="TextBox 11" id="11"/>
          <p:cNvSpPr txBox="true"/>
          <p:nvPr/>
        </p:nvSpPr>
        <p:spPr>
          <a:xfrm rot="0">
            <a:off x="4905375" y="511473"/>
            <a:ext cx="3111500" cy="201930"/>
          </a:xfrm>
          <a:prstGeom prst="rect">
            <a:avLst/>
          </a:prstGeom>
        </p:spPr>
        <p:txBody>
          <a:bodyPr anchor="t" rtlCol="false" tIns="0" lIns="0" bIns="0" rIns="0">
            <a:spAutoFit/>
          </a:bodyPr>
          <a:lstStyle/>
          <a:p>
            <a:pPr algn="l" marL="0" indent="0" lvl="0">
              <a:lnSpc>
                <a:spcPts val="1500"/>
              </a:lnSpc>
            </a:pPr>
            <a:r>
              <a:rPr lang="en-US" b="true" sz="1200" spc="-18">
                <a:solidFill>
                  <a:srgbClr val="F9FAFB"/>
                </a:solidFill>
                <a:latin typeface="DM Sans Bold"/>
                <a:ea typeface="DM Sans Bold"/>
                <a:cs typeface="DM Sans Bold"/>
                <a:sym typeface="DM Sans Bold"/>
              </a:rPr>
              <a:t>PROBLEM OVERVIEW</a:t>
            </a:r>
          </a:p>
        </p:txBody>
      </p:sp>
      <p:sp>
        <p:nvSpPr>
          <p:cNvPr name="TextBox 12" id="12"/>
          <p:cNvSpPr txBox="true"/>
          <p:nvPr/>
        </p:nvSpPr>
        <p:spPr>
          <a:xfrm rot="0">
            <a:off x="571500" y="511473"/>
            <a:ext cx="3111500" cy="201930"/>
          </a:xfrm>
          <a:prstGeom prst="rect">
            <a:avLst/>
          </a:prstGeom>
        </p:spPr>
        <p:txBody>
          <a:bodyPr anchor="t" rtlCol="false" tIns="0" lIns="0" bIns="0" rIns="0">
            <a:spAutoFit/>
          </a:bodyPr>
          <a:lstStyle/>
          <a:p>
            <a:pPr algn="l" marL="0" indent="0" lvl="0">
              <a:lnSpc>
                <a:spcPts val="1500"/>
              </a:lnSpc>
            </a:pPr>
            <a:r>
              <a:rPr lang="en-US" b="true" sz="1200" spc="-18">
                <a:solidFill>
                  <a:srgbClr val="F9FAFB"/>
                </a:solidFill>
                <a:latin typeface="DM Sans Bold"/>
                <a:ea typeface="DM Sans Bold"/>
                <a:cs typeface="DM Sans Bold"/>
                <a:sym typeface="DM Sans Bold"/>
              </a:rPr>
              <a:t>WORD SCRAMBLE</a:t>
            </a:r>
          </a:p>
        </p:txBody>
      </p:sp>
      <p:grpSp>
        <p:nvGrpSpPr>
          <p:cNvPr name="Group 13" id="13"/>
          <p:cNvGrpSpPr/>
          <p:nvPr/>
        </p:nvGrpSpPr>
        <p:grpSpPr>
          <a:xfrm rot="0">
            <a:off x="666750" y="8678458"/>
            <a:ext cx="2607127" cy="964440"/>
            <a:chOff x="0" y="0"/>
            <a:chExt cx="3476169" cy="1285920"/>
          </a:xfrm>
        </p:grpSpPr>
        <p:grpSp>
          <p:nvGrpSpPr>
            <p:cNvPr name="Group 14" id="14"/>
            <p:cNvGrpSpPr/>
            <p:nvPr/>
          </p:nvGrpSpPr>
          <p:grpSpPr>
            <a:xfrm rot="0">
              <a:off x="0" y="452517"/>
              <a:ext cx="2997536" cy="803206"/>
              <a:chOff x="0" y="0"/>
              <a:chExt cx="677333" cy="181495"/>
            </a:xfrm>
          </p:grpSpPr>
          <p:sp>
            <p:nvSpPr>
              <p:cNvPr name="Freeform 15" id="15"/>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F9FAFB"/>
              </a:solidFill>
            </p:spPr>
            <p:txBody>
              <a:bodyPr/>
              <a:p/>
            </p:txBody>
          </p:sp>
          <p:sp>
            <p:nvSpPr>
              <p:cNvPr name="TextBox 16" id="16"/>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17" id="17"/>
            <p:cNvSpPr/>
            <p:nvPr/>
          </p:nvSpPr>
          <p:spPr>
            <a:xfrm flipH="false" flipV="false" rot="-2700000">
              <a:off x="2906402" y="95255"/>
              <a:ext cx="468474" cy="480551"/>
            </a:xfrm>
            <a:custGeom>
              <a:avLst/>
              <a:gdLst/>
              <a:ahLst/>
              <a:cxnLst/>
              <a:rect r="r" b="b" t="t" l="l"/>
              <a:pathLst>
                <a:path h="480551" w="468474">
                  <a:moveTo>
                    <a:pt x="0" y="0"/>
                  </a:moveTo>
                  <a:lnTo>
                    <a:pt x="468473" y="0"/>
                  </a:lnTo>
                  <a:lnTo>
                    <a:pt x="468473" y="480551"/>
                  </a:lnTo>
                  <a:lnTo>
                    <a:pt x="0" y="48055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TextBox 18" id="18"/>
            <p:cNvSpPr txBox="true"/>
            <p:nvPr/>
          </p:nvSpPr>
          <p:spPr>
            <a:xfrm rot="0">
              <a:off x="197602" y="422320"/>
              <a:ext cx="2602332" cy="863600"/>
            </a:xfrm>
            <a:prstGeom prst="rect">
              <a:avLst/>
            </a:prstGeom>
          </p:spPr>
          <p:txBody>
            <a:bodyPr anchor="t" rtlCol="false" tIns="0" lIns="0" bIns="0" rIns="0">
              <a:spAutoFit/>
            </a:bodyPr>
            <a:lstStyle/>
            <a:p>
              <a:pPr algn="ctr" marL="0" indent="0" lvl="0">
                <a:lnSpc>
                  <a:spcPts val="2571"/>
                </a:lnSpc>
                <a:spcBef>
                  <a:spcPct val="0"/>
                </a:spcBef>
              </a:pPr>
              <a:r>
                <a:rPr lang="en-US" sz="2142">
                  <a:solidFill>
                    <a:srgbClr val="6366F1"/>
                  </a:solidFill>
                  <a:latin typeface="DM Sans"/>
                  <a:ea typeface="DM Sans"/>
                  <a:cs typeface="DM Sans"/>
                  <a:sym typeface="DM Sans"/>
                </a:rPr>
                <a:t>Johnrick Rabara</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10735628" y="571500"/>
            <a:ext cx="6980873" cy="10094923"/>
            <a:chOff x="0" y="0"/>
            <a:chExt cx="1081520" cy="1563968"/>
          </a:xfrm>
        </p:grpSpPr>
        <p:sp>
          <p:nvSpPr>
            <p:cNvPr name="Freeform 3" id="3"/>
            <p:cNvSpPr/>
            <p:nvPr/>
          </p:nvSpPr>
          <p:spPr>
            <a:xfrm flipH="false" flipV="false" rot="0">
              <a:off x="0" y="0"/>
              <a:ext cx="1081520" cy="1563968"/>
            </a:xfrm>
            <a:custGeom>
              <a:avLst/>
              <a:gdLst/>
              <a:ahLst/>
              <a:cxnLst/>
              <a:rect r="r" b="b" t="t" l="l"/>
              <a:pathLst>
                <a:path h="1563968" w="1081520">
                  <a:moveTo>
                    <a:pt x="33271" y="0"/>
                  </a:moveTo>
                  <a:lnTo>
                    <a:pt x="1048249" y="0"/>
                  </a:lnTo>
                  <a:cubicBezTo>
                    <a:pt x="1057073" y="0"/>
                    <a:pt x="1065536" y="3505"/>
                    <a:pt x="1071775" y="9745"/>
                  </a:cubicBezTo>
                  <a:cubicBezTo>
                    <a:pt x="1078015" y="15984"/>
                    <a:pt x="1081520" y="24447"/>
                    <a:pt x="1081520" y="33271"/>
                  </a:cubicBezTo>
                  <a:lnTo>
                    <a:pt x="1081520" y="1530697"/>
                  </a:lnTo>
                  <a:cubicBezTo>
                    <a:pt x="1081520" y="1549072"/>
                    <a:pt x="1066624" y="1563968"/>
                    <a:pt x="1048249" y="1563968"/>
                  </a:cubicBezTo>
                  <a:lnTo>
                    <a:pt x="33271" y="1563968"/>
                  </a:lnTo>
                  <a:cubicBezTo>
                    <a:pt x="14896" y="1563968"/>
                    <a:pt x="0" y="1549072"/>
                    <a:pt x="0" y="1530697"/>
                  </a:cubicBezTo>
                  <a:lnTo>
                    <a:pt x="0" y="33271"/>
                  </a:lnTo>
                  <a:cubicBezTo>
                    <a:pt x="0" y="24447"/>
                    <a:pt x="3505" y="15984"/>
                    <a:pt x="9745" y="9745"/>
                  </a:cubicBezTo>
                  <a:cubicBezTo>
                    <a:pt x="15984" y="3505"/>
                    <a:pt x="24447" y="0"/>
                    <a:pt x="33271" y="0"/>
                  </a:cubicBezTo>
                  <a:close/>
                </a:path>
              </a:pathLst>
            </a:custGeom>
            <a:blipFill>
              <a:blip r:embed="rId2"/>
              <a:stretch>
                <a:fillRect l="0" t="-19" r="0" b="-19"/>
              </a:stretch>
            </a:blipFill>
          </p:spPr>
          <p:txBody>
            <a:bodyPr/>
            <a:p/>
          </p:txBody>
        </p:sp>
      </p:grpSp>
      <p:grpSp>
        <p:nvGrpSpPr>
          <p:cNvPr name="Group 4" id="4"/>
          <p:cNvGrpSpPr/>
          <p:nvPr/>
        </p:nvGrpSpPr>
        <p:grpSpPr>
          <a:xfrm rot="0">
            <a:off x="571500" y="1562100"/>
            <a:ext cx="8420100" cy="3505200"/>
            <a:chOff x="0" y="0"/>
            <a:chExt cx="11226800" cy="4673600"/>
          </a:xfrm>
        </p:grpSpPr>
        <p:sp>
          <p:nvSpPr>
            <p:cNvPr name="TextBox 5" id="5"/>
            <p:cNvSpPr txBox="true"/>
            <p:nvPr/>
          </p:nvSpPr>
          <p:spPr>
            <a:xfrm rot="0">
              <a:off x="0" y="104775"/>
              <a:ext cx="11226800" cy="1114425"/>
            </a:xfrm>
            <a:prstGeom prst="rect">
              <a:avLst/>
            </a:prstGeom>
          </p:spPr>
          <p:txBody>
            <a:bodyPr anchor="t" rtlCol="false" tIns="0" lIns="0" bIns="0" rIns="0">
              <a:spAutoFit/>
            </a:bodyPr>
            <a:lstStyle/>
            <a:p>
              <a:pPr algn="l" marL="0" indent="0" lvl="0">
                <a:lnSpc>
                  <a:spcPts val="6000"/>
                </a:lnSpc>
              </a:pPr>
              <a:r>
                <a:rPr lang="en-US" sz="6000" spc="-179">
                  <a:solidFill>
                    <a:srgbClr val="F9FAFB"/>
                  </a:solidFill>
                  <a:latin typeface="DM Sans"/>
                  <a:ea typeface="DM Sans"/>
                  <a:cs typeface="DM Sans"/>
                  <a:sym typeface="DM Sans"/>
                </a:rPr>
                <a:t>Word Scramble</a:t>
              </a:r>
            </a:p>
          </p:txBody>
        </p:sp>
        <p:sp>
          <p:nvSpPr>
            <p:cNvPr name="TextBox 6" id="6"/>
            <p:cNvSpPr txBox="true"/>
            <p:nvPr/>
          </p:nvSpPr>
          <p:spPr>
            <a:xfrm rot="0">
              <a:off x="0" y="2632075"/>
              <a:ext cx="11226800" cy="2041525"/>
            </a:xfrm>
            <a:prstGeom prst="rect">
              <a:avLst/>
            </a:prstGeom>
          </p:spPr>
          <p:txBody>
            <a:bodyPr anchor="t" rtlCol="false" tIns="0" lIns="0" bIns="0" rIns="0">
              <a:spAutoFit/>
            </a:bodyPr>
            <a:lstStyle/>
            <a:p>
              <a:pPr algn="l" marL="0" indent="0" lvl="0">
                <a:lnSpc>
                  <a:spcPts val="2400"/>
                </a:lnSpc>
              </a:pPr>
              <a:r>
                <a:rPr lang="en-US" sz="2000">
                  <a:solidFill>
                    <a:srgbClr val="F9FAFB"/>
                  </a:solidFill>
                  <a:latin typeface="DM Sans"/>
                  <a:ea typeface="DM Sans"/>
                  <a:cs typeface="DM Sans"/>
                  <a:sym typeface="DM Sans"/>
                </a:rPr>
                <a:t>The </a:t>
              </a:r>
              <a:r>
                <a:rPr lang="en-US" b="true" sz="2000">
                  <a:solidFill>
                    <a:srgbClr val="F9FAFB"/>
                  </a:solidFill>
                  <a:latin typeface="DM Sans Bold"/>
                  <a:ea typeface="DM Sans Bold"/>
                  <a:cs typeface="DM Sans Bold"/>
                  <a:sym typeface="DM Sans Bold"/>
                </a:rPr>
                <a:t>Word Scramble</a:t>
              </a:r>
              <a:r>
                <a:rPr lang="en-US" sz="2000">
                  <a:solidFill>
                    <a:srgbClr val="F9FAFB"/>
                  </a:solidFill>
                  <a:latin typeface="DM Sans"/>
                  <a:ea typeface="DM Sans"/>
                  <a:cs typeface="DM Sans"/>
                  <a:sym typeface="DM Sans"/>
                </a:rPr>
                <a:t> game features Soroban contracts that facilitate real on-chain transactions. With multi-wallet support and a guided walkthrough, users can easily connect and play. A live event stream enhances engagement by showcasing real-time player activity, making the onboarding experience interactive and fun.</a:t>
              </a:r>
            </a:p>
          </p:txBody>
        </p:sp>
        <p:sp>
          <p:nvSpPr>
            <p:cNvPr name="TextBox 7" id="7"/>
            <p:cNvSpPr txBox="true"/>
            <p:nvPr/>
          </p:nvSpPr>
          <p:spPr>
            <a:xfrm rot="0">
              <a:off x="0" y="1549400"/>
              <a:ext cx="11226800" cy="838200"/>
            </a:xfrm>
            <a:prstGeom prst="rect">
              <a:avLst/>
            </a:prstGeom>
          </p:spPr>
          <p:txBody>
            <a:bodyPr anchor="t" rtlCol="false" tIns="0" lIns="0" bIns="0" rIns="0">
              <a:spAutoFit/>
            </a:bodyPr>
            <a:lstStyle/>
            <a:p>
              <a:pPr algn="l" marL="0" indent="0" lvl="0">
                <a:lnSpc>
                  <a:spcPts val="4500"/>
                </a:lnSpc>
              </a:pPr>
              <a:r>
                <a:rPr lang="en-US" b="true" sz="4500" spc="-135">
                  <a:solidFill>
                    <a:srgbClr val="F9FAFB"/>
                  </a:solidFill>
                  <a:latin typeface="DM Sans Bold"/>
                  <a:ea typeface="DM Sans Bold"/>
                  <a:cs typeface="DM Sans Bold"/>
                  <a:sym typeface="DM Sans Bold"/>
                </a:rPr>
                <a:t>Drag-and-drop puzzle</a:t>
              </a:r>
            </a:p>
          </p:txBody>
        </p:sp>
      </p:grpSp>
      <p:sp>
        <p:nvSpPr>
          <p:cNvPr name="TextBox 8" id="8"/>
          <p:cNvSpPr txBox="true"/>
          <p:nvPr/>
        </p:nvSpPr>
        <p:spPr>
          <a:xfrm rot="0">
            <a:off x="4905375"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SOLUTION OVERVIEW</a:t>
            </a:r>
          </a:p>
        </p:txBody>
      </p:sp>
      <p:sp>
        <p:nvSpPr>
          <p:cNvPr name="TextBox 9" id="9"/>
          <p:cNvSpPr txBox="true"/>
          <p:nvPr/>
        </p:nvSpPr>
        <p:spPr>
          <a:xfrm rot="0">
            <a:off x="571500"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WORD SCRAMBLE ONBOARDING</a:t>
            </a:r>
          </a:p>
        </p:txBody>
      </p:sp>
      <p:grpSp>
        <p:nvGrpSpPr>
          <p:cNvPr name="Group 10" id="10"/>
          <p:cNvGrpSpPr/>
          <p:nvPr/>
        </p:nvGrpSpPr>
        <p:grpSpPr>
          <a:xfrm rot="0">
            <a:off x="8991600" y="8678458"/>
            <a:ext cx="2607127" cy="945390"/>
            <a:chOff x="0" y="0"/>
            <a:chExt cx="3476169" cy="1260520"/>
          </a:xfrm>
        </p:grpSpPr>
        <p:grpSp>
          <p:nvGrpSpPr>
            <p:cNvPr name="Group 11" id="11"/>
            <p:cNvGrpSpPr/>
            <p:nvPr/>
          </p:nvGrpSpPr>
          <p:grpSpPr>
            <a:xfrm rot="0">
              <a:off x="0" y="452517"/>
              <a:ext cx="2997536" cy="803206"/>
              <a:chOff x="0" y="0"/>
              <a:chExt cx="677333" cy="181495"/>
            </a:xfrm>
          </p:grpSpPr>
          <p:sp>
            <p:nvSpPr>
              <p:cNvPr name="Freeform 12" id="12"/>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F9FAFB"/>
              </a:solidFill>
            </p:spPr>
            <p:txBody>
              <a:bodyPr/>
              <a:p/>
            </p:txBody>
          </p:sp>
          <p:sp>
            <p:nvSpPr>
              <p:cNvPr name="TextBox 13" id="13"/>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14" id="14"/>
            <p:cNvSpPr/>
            <p:nvPr/>
          </p:nvSpPr>
          <p:spPr>
            <a:xfrm flipH="false" flipV="false" rot="-2700000">
              <a:off x="2906402" y="95255"/>
              <a:ext cx="468474" cy="480551"/>
            </a:xfrm>
            <a:custGeom>
              <a:avLst/>
              <a:gdLst/>
              <a:ahLst/>
              <a:cxnLst/>
              <a:rect r="r" b="b" t="t" l="l"/>
              <a:pathLst>
                <a:path h="480551" w="468474">
                  <a:moveTo>
                    <a:pt x="0" y="0"/>
                  </a:moveTo>
                  <a:lnTo>
                    <a:pt x="468473" y="0"/>
                  </a:lnTo>
                  <a:lnTo>
                    <a:pt x="468473" y="480551"/>
                  </a:lnTo>
                  <a:lnTo>
                    <a:pt x="0" y="48055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5" id="15"/>
            <p:cNvSpPr txBox="true"/>
            <p:nvPr/>
          </p:nvSpPr>
          <p:spPr>
            <a:xfrm rot="0">
              <a:off x="197602" y="438195"/>
              <a:ext cx="2602332" cy="822325"/>
            </a:xfrm>
            <a:prstGeom prst="rect">
              <a:avLst/>
            </a:prstGeom>
          </p:spPr>
          <p:txBody>
            <a:bodyPr anchor="t" rtlCol="false" tIns="0" lIns="0" bIns="0" rIns="0">
              <a:spAutoFit/>
            </a:bodyPr>
            <a:lstStyle/>
            <a:p>
              <a:pPr algn="ctr" marL="0" indent="0" lvl="0">
                <a:lnSpc>
                  <a:spcPts val="2407"/>
                </a:lnSpc>
                <a:spcBef>
                  <a:spcPct val="0"/>
                </a:spcBef>
              </a:pPr>
              <a:r>
                <a:rPr lang="en-US" sz="2006">
                  <a:solidFill>
                    <a:srgbClr val="6366F1"/>
                  </a:solidFill>
                  <a:latin typeface="DM Sans"/>
                  <a:ea typeface="DM Sans"/>
                  <a:cs typeface="DM Sans"/>
                  <a:sym typeface="DM Sans"/>
                </a:rPr>
                <a:t>Johnrick Rabara</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308592">
            <a:off x="11540060" y="2043617"/>
            <a:ext cx="7218806" cy="9860257"/>
            <a:chOff x="0" y="0"/>
            <a:chExt cx="1176590" cy="1607119"/>
          </a:xfrm>
        </p:grpSpPr>
        <p:sp>
          <p:nvSpPr>
            <p:cNvPr name="Freeform 3" id="3"/>
            <p:cNvSpPr/>
            <p:nvPr/>
          </p:nvSpPr>
          <p:spPr>
            <a:xfrm flipH="false" flipV="false" rot="0">
              <a:off x="0" y="0"/>
              <a:ext cx="1176590" cy="1607119"/>
            </a:xfrm>
            <a:custGeom>
              <a:avLst/>
              <a:gdLst/>
              <a:ahLst/>
              <a:cxnLst/>
              <a:rect r="r" b="b" t="t" l="l"/>
              <a:pathLst>
                <a:path h="1607119" w="1176590">
                  <a:moveTo>
                    <a:pt x="32174" y="0"/>
                  </a:moveTo>
                  <a:lnTo>
                    <a:pt x="1144416" y="0"/>
                  </a:lnTo>
                  <a:cubicBezTo>
                    <a:pt x="1162186" y="0"/>
                    <a:pt x="1176590" y="14405"/>
                    <a:pt x="1176590" y="32174"/>
                  </a:cubicBezTo>
                  <a:lnTo>
                    <a:pt x="1176590" y="1574946"/>
                  </a:lnTo>
                  <a:cubicBezTo>
                    <a:pt x="1176590" y="1592715"/>
                    <a:pt x="1162186" y="1607119"/>
                    <a:pt x="1144416" y="1607119"/>
                  </a:cubicBezTo>
                  <a:lnTo>
                    <a:pt x="32174" y="1607119"/>
                  </a:lnTo>
                  <a:cubicBezTo>
                    <a:pt x="23641" y="1607119"/>
                    <a:pt x="15457" y="1603730"/>
                    <a:pt x="9424" y="1597696"/>
                  </a:cubicBezTo>
                  <a:cubicBezTo>
                    <a:pt x="3390" y="1591662"/>
                    <a:pt x="0" y="1583479"/>
                    <a:pt x="0" y="1574946"/>
                  </a:cubicBezTo>
                  <a:lnTo>
                    <a:pt x="0" y="32174"/>
                  </a:lnTo>
                  <a:cubicBezTo>
                    <a:pt x="0" y="14405"/>
                    <a:pt x="14405" y="0"/>
                    <a:pt x="32174" y="0"/>
                  </a:cubicBezTo>
                  <a:close/>
                </a:path>
              </a:pathLst>
            </a:custGeom>
            <a:blipFill>
              <a:blip r:embed="rId2"/>
              <a:stretch>
                <a:fillRect l="0" t="-58" r="0" b="-58"/>
              </a:stretch>
            </a:blipFill>
          </p:spPr>
          <p:txBody>
            <a:bodyPr/>
            <a:p/>
          </p:txBody>
        </p:sp>
      </p:grpSp>
      <p:grpSp>
        <p:nvGrpSpPr>
          <p:cNvPr name="Group 4" id="4"/>
          <p:cNvGrpSpPr/>
          <p:nvPr/>
        </p:nvGrpSpPr>
        <p:grpSpPr>
          <a:xfrm rot="0">
            <a:off x="597569" y="5805488"/>
            <a:ext cx="4084905" cy="3470510"/>
            <a:chOff x="0" y="0"/>
            <a:chExt cx="5446540" cy="4627346"/>
          </a:xfrm>
        </p:grpSpPr>
        <p:sp>
          <p:nvSpPr>
            <p:cNvPr name="TextBox 5" id="5"/>
            <p:cNvSpPr txBox="true"/>
            <p:nvPr/>
          </p:nvSpPr>
          <p:spPr>
            <a:xfrm rot="0">
              <a:off x="19050" y="690346"/>
              <a:ext cx="5419891" cy="3937000"/>
            </a:xfrm>
            <a:prstGeom prst="rect">
              <a:avLst/>
            </a:prstGeom>
          </p:spPr>
          <p:txBody>
            <a:bodyPr anchor="t" rtlCol="false" tIns="0" lIns="0" bIns="0" rIns="0">
              <a:spAutoFit/>
            </a:bodyPr>
            <a:lstStyle/>
            <a:p>
              <a:pPr algn="l" marL="431799" indent="-215899" lvl="1">
                <a:lnSpc>
                  <a:spcPts val="2399"/>
                </a:lnSpc>
                <a:buFont typeface="Arial"/>
                <a:buChar char="•"/>
              </a:pPr>
              <a:r>
                <a:rPr lang="en-US" sz="1999">
                  <a:solidFill>
                    <a:srgbClr val="F9FAFB">
                      <a:alpha val="97647"/>
                    </a:srgbClr>
                  </a:solidFill>
                  <a:latin typeface="DM Sans"/>
                  <a:ea typeface="DM Sans"/>
                  <a:cs typeface="DM Sans"/>
                  <a:sym typeface="DM Sans"/>
                </a:rPr>
                <a:t>Casual game markets are massive, driving daily engagement and attracting a broad user base across demographics.</a:t>
              </a:r>
            </a:p>
            <a:p>
              <a:pPr algn="l" marL="431799" indent="-215899" lvl="1">
                <a:lnSpc>
                  <a:spcPts val="2399"/>
                </a:lnSpc>
                <a:buFont typeface="Arial"/>
                <a:buChar char="•"/>
              </a:pPr>
              <a:r>
                <a:rPr lang="en-US" sz="1999">
                  <a:solidFill>
                    <a:srgbClr val="F9FAFB">
                      <a:alpha val="97647"/>
                    </a:srgbClr>
                  </a:solidFill>
                  <a:latin typeface="DM Sans"/>
                  <a:ea typeface="DM Sans"/>
                  <a:cs typeface="DM Sans"/>
                  <a:sym typeface="DM Sans"/>
                </a:rPr>
                <a:t>Proven success of games like Wordle highlights opportunities for real on-chain interactions to enhance user experience.</a:t>
              </a:r>
            </a:p>
          </p:txBody>
        </p:sp>
        <p:sp>
          <p:nvSpPr>
            <p:cNvPr name="TextBox 6" id="6"/>
            <p:cNvSpPr txBox="true"/>
            <p:nvPr/>
          </p:nvSpPr>
          <p:spPr>
            <a:xfrm rot="0">
              <a:off x="0" y="0"/>
              <a:ext cx="5446540" cy="393700"/>
            </a:xfrm>
            <a:prstGeom prst="rect">
              <a:avLst/>
            </a:prstGeom>
          </p:spPr>
          <p:txBody>
            <a:bodyPr anchor="t" rtlCol="false" tIns="0" lIns="0" bIns="0" rIns="0">
              <a:spAutoFit/>
            </a:bodyPr>
            <a:lstStyle/>
            <a:p>
              <a:pPr algn="l" marL="0" indent="0" lvl="0">
                <a:lnSpc>
                  <a:spcPts val="2399"/>
                </a:lnSpc>
              </a:pPr>
              <a:r>
                <a:rPr lang="en-US" b="true" sz="1999">
                  <a:solidFill>
                    <a:srgbClr val="F9FAFB"/>
                  </a:solidFill>
                  <a:latin typeface="DM Sans Bold"/>
                  <a:ea typeface="DM Sans Bold"/>
                  <a:cs typeface="DM Sans Bold"/>
                  <a:sym typeface="DM Sans Bold"/>
                </a:rPr>
                <a:t>Casual Market</a:t>
              </a:r>
            </a:p>
          </p:txBody>
        </p:sp>
      </p:grpSp>
      <p:grpSp>
        <p:nvGrpSpPr>
          <p:cNvPr name="Group 7" id="7"/>
          <p:cNvGrpSpPr/>
          <p:nvPr/>
        </p:nvGrpSpPr>
        <p:grpSpPr>
          <a:xfrm rot="0">
            <a:off x="4907632" y="5805488"/>
            <a:ext cx="4084905" cy="1698860"/>
            <a:chOff x="0" y="0"/>
            <a:chExt cx="5446540" cy="2265146"/>
          </a:xfrm>
        </p:grpSpPr>
        <p:sp>
          <p:nvSpPr>
            <p:cNvPr name="TextBox 8" id="8"/>
            <p:cNvSpPr txBox="true"/>
            <p:nvPr/>
          </p:nvSpPr>
          <p:spPr>
            <a:xfrm rot="0">
              <a:off x="19050" y="690346"/>
              <a:ext cx="5426241" cy="1574800"/>
            </a:xfrm>
            <a:prstGeom prst="rect">
              <a:avLst/>
            </a:prstGeom>
          </p:spPr>
          <p:txBody>
            <a:bodyPr anchor="t" rtlCol="false" tIns="0" lIns="0" bIns="0" rIns="0">
              <a:spAutoFit/>
            </a:bodyPr>
            <a:lstStyle/>
            <a:p>
              <a:pPr algn="l" marL="431799" indent="-215899" lvl="1">
                <a:lnSpc>
                  <a:spcPts val="2399"/>
                </a:lnSpc>
                <a:buFont typeface="Arial"/>
                <a:buChar char="•"/>
              </a:pPr>
              <a:r>
                <a:rPr lang="en-US" sz="1999">
                  <a:solidFill>
                    <a:srgbClr val="F9FAFB">
                      <a:alpha val="97647"/>
                    </a:srgbClr>
                  </a:solidFill>
                  <a:latin typeface="DM Sans"/>
                  <a:ea typeface="DM Sans"/>
                  <a:cs typeface="DM Sans"/>
                  <a:sym typeface="DM Sans"/>
                </a:rPr>
                <a:t>Stellar focuses on financial inclusion, lowering barriers for non-technical users to engage in the blockchain space.</a:t>
              </a:r>
            </a:p>
          </p:txBody>
        </p:sp>
        <p:sp>
          <p:nvSpPr>
            <p:cNvPr name="TextBox 9" id="9"/>
            <p:cNvSpPr txBox="true"/>
            <p:nvPr/>
          </p:nvSpPr>
          <p:spPr>
            <a:xfrm rot="0">
              <a:off x="0" y="0"/>
              <a:ext cx="5446540" cy="393700"/>
            </a:xfrm>
            <a:prstGeom prst="rect">
              <a:avLst/>
            </a:prstGeom>
          </p:spPr>
          <p:txBody>
            <a:bodyPr anchor="t" rtlCol="false" tIns="0" lIns="0" bIns="0" rIns="0">
              <a:spAutoFit/>
            </a:bodyPr>
            <a:lstStyle/>
            <a:p>
              <a:pPr algn="l" marL="0" indent="0" lvl="0">
                <a:lnSpc>
                  <a:spcPts val="2399"/>
                </a:lnSpc>
              </a:pPr>
              <a:r>
                <a:rPr lang="en-US" b="true" sz="1999">
                  <a:solidFill>
                    <a:srgbClr val="F9FAFB"/>
                  </a:solidFill>
                  <a:latin typeface="DM Sans Bold"/>
                  <a:ea typeface="DM Sans Bold"/>
                  <a:cs typeface="DM Sans Bold"/>
                  <a:sym typeface="DM Sans Bold"/>
                </a:rPr>
                <a:t>Financial Inclusion</a:t>
              </a:r>
            </a:p>
          </p:txBody>
        </p:sp>
      </p:grpSp>
      <p:sp>
        <p:nvSpPr>
          <p:cNvPr name="TextBox 10" id="10"/>
          <p:cNvSpPr txBox="true"/>
          <p:nvPr/>
        </p:nvSpPr>
        <p:spPr>
          <a:xfrm rot="0">
            <a:off x="571500" y="2364740"/>
            <a:ext cx="8763000" cy="23241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The </a:t>
            </a:r>
            <a:r>
              <a:rPr lang="en-US" b="true" sz="4500" spc="-135">
                <a:solidFill>
                  <a:srgbClr val="F9FAFB"/>
                </a:solidFill>
                <a:latin typeface="DM Sans Bold"/>
                <a:ea typeface="DM Sans Bold"/>
                <a:cs typeface="DM Sans Bold"/>
                <a:sym typeface="DM Sans Bold"/>
              </a:rPr>
              <a:t>intersection of casual gamers</a:t>
            </a:r>
            <a:r>
              <a:rPr lang="en-US" sz="4500" spc="-135">
                <a:solidFill>
                  <a:srgbClr val="F9FAFB"/>
                </a:solidFill>
                <a:latin typeface="DM Sans"/>
                <a:ea typeface="DM Sans"/>
                <a:cs typeface="DM Sans"/>
                <a:sym typeface="DM Sans"/>
              </a:rPr>
              <a:t> and Web3 newcomers presents a unique opportunity for mass adoption and engagement.</a:t>
            </a:r>
          </a:p>
        </p:txBody>
      </p:sp>
      <p:sp>
        <p:nvSpPr>
          <p:cNvPr name="TextBox 11" id="11"/>
          <p:cNvSpPr txBox="true"/>
          <p:nvPr/>
        </p:nvSpPr>
        <p:spPr>
          <a:xfrm rot="0">
            <a:off x="14605000" y="520998"/>
            <a:ext cx="3111500" cy="438785"/>
          </a:xfrm>
          <a:prstGeom prst="rect">
            <a:avLst/>
          </a:prstGeom>
        </p:spPr>
        <p:txBody>
          <a:bodyPr anchor="t" rtlCol="false" tIns="0" lIns="0" bIns="0" rIns="0">
            <a:spAutoFit/>
          </a:bodyPr>
          <a:lstStyle/>
          <a:p>
            <a:pPr algn="r" marL="0" indent="0" lvl="0">
              <a:lnSpc>
                <a:spcPts val="1750"/>
              </a:lnSpc>
            </a:pPr>
            <a:r>
              <a:rPr lang="en-US" b="true" sz="1400" spc="-21">
                <a:solidFill>
                  <a:srgbClr val="F9FAFB"/>
                </a:solidFill>
                <a:latin typeface="DM Sans Bold"/>
                <a:ea typeface="DM Sans Bold"/>
                <a:cs typeface="DM Sans Bold"/>
                <a:sym typeface="DM Sans Bold"/>
              </a:rPr>
              <a:t>INTERSECTION OF GAMERS AND WEB3</a:t>
            </a:r>
          </a:p>
        </p:txBody>
      </p:sp>
      <p:sp>
        <p:nvSpPr>
          <p:cNvPr name="TextBox 12" id="12"/>
          <p:cNvSpPr txBox="true"/>
          <p:nvPr/>
        </p:nvSpPr>
        <p:spPr>
          <a:xfrm rot="0">
            <a:off x="4905375"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MARKET OPPORTUNITY</a:t>
            </a:r>
          </a:p>
        </p:txBody>
      </p:sp>
      <p:sp>
        <p:nvSpPr>
          <p:cNvPr name="TextBox 13" id="13"/>
          <p:cNvSpPr txBox="true"/>
          <p:nvPr/>
        </p:nvSpPr>
        <p:spPr>
          <a:xfrm rot="0">
            <a:off x="571500"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WORD SCRAMBLE — GAMIFIED</a:t>
            </a:r>
          </a:p>
        </p:txBody>
      </p:sp>
      <p:grpSp>
        <p:nvGrpSpPr>
          <p:cNvPr name="Group 14" id="14"/>
          <p:cNvGrpSpPr/>
          <p:nvPr/>
        </p:nvGrpSpPr>
        <p:grpSpPr>
          <a:xfrm rot="0">
            <a:off x="10429875" y="3266249"/>
            <a:ext cx="2607127" cy="1027860"/>
            <a:chOff x="0" y="0"/>
            <a:chExt cx="3476169" cy="1370480"/>
          </a:xfrm>
        </p:grpSpPr>
        <p:grpSp>
          <p:nvGrpSpPr>
            <p:cNvPr name="Group 15" id="15"/>
            <p:cNvGrpSpPr/>
            <p:nvPr/>
          </p:nvGrpSpPr>
          <p:grpSpPr>
            <a:xfrm rot="0">
              <a:off x="0" y="115402"/>
              <a:ext cx="2997536" cy="803206"/>
              <a:chOff x="0" y="0"/>
              <a:chExt cx="677333" cy="181495"/>
            </a:xfrm>
          </p:grpSpPr>
          <p:sp>
            <p:nvSpPr>
              <p:cNvPr name="Freeform 16" id="16"/>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6366F1"/>
              </a:solidFill>
            </p:spPr>
            <p:txBody>
              <a:bodyPr/>
              <a:p/>
            </p:txBody>
          </p:sp>
          <p:sp>
            <p:nvSpPr>
              <p:cNvPr name="TextBox 17" id="17"/>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18" id="18"/>
            <p:cNvSpPr/>
            <p:nvPr/>
          </p:nvSpPr>
          <p:spPr>
            <a:xfrm flipH="false" flipV="false" rot="2617942">
              <a:off x="2906599" y="794667"/>
              <a:ext cx="468474" cy="480551"/>
            </a:xfrm>
            <a:custGeom>
              <a:avLst/>
              <a:gdLst/>
              <a:ahLst/>
              <a:cxnLst/>
              <a:rect r="r" b="b" t="t" l="l"/>
              <a:pathLst>
                <a:path h="480551" w="468474">
                  <a:moveTo>
                    <a:pt x="0" y="0"/>
                  </a:moveTo>
                  <a:lnTo>
                    <a:pt x="468474" y="0"/>
                  </a:lnTo>
                  <a:lnTo>
                    <a:pt x="468474" y="480551"/>
                  </a:lnTo>
                  <a:lnTo>
                    <a:pt x="0" y="48055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9" id="19"/>
            <p:cNvSpPr txBox="true"/>
            <p:nvPr/>
          </p:nvSpPr>
          <p:spPr>
            <a:xfrm rot="0">
              <a:off x="197602" y="0"/>
              <a:ext cx="2602332" cy="990600"/>
            </a:xfrm>
            <a:prstGeom prst="rect">
              <a:avLst/>
            </a:prstGeom>
          </p:spPr>
          <p:txBody>
            <a:bodyPr anchor="t" rtlCol="false" tIns="0" lIns="0" bIns="0" rIns="0">
              <a:spAutoFit/>
            </a:bodyPr>
            <a:lstStyle/>
            <a:p>
              <a:pPr algn="ctr" marL="0" indent="0" lvl="0">
                <a:lnSpc>
                  <a:spcPts val="2999"/>
                </a:lnSpc>
                <a:spcBef>
                  <a:spcPct val="0"/>
                </a:spcBef>
              </a:pPr>
              <a:r>
                <a:rPr lang="en-US" sz="2499">
                  <a:solidFill>
                    <a:srgbClr val="F9FAFB"/>
                  </a:solidFill>
                  <a:latin typeface="DM Sans"/>
                  <a:ea typeface="DM Sans"/>
                  <a:cs typeface="DM Sans"/>
                  <a:sym typeface="DM Sans"/>
                </a:rPr>
                <a:t>Johnrick Rabara</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392234" y="3688784"/>
            <a:ext cx="7996359" cy="7470520"/>
            <a:chOff x="0" y="0"/>
            <a:chExt cx="1238845" cy="1157379"/>
          </a:xfrm>
        </p:grpSpPr>
        <p:sp>
          <p:nvSpPr>
            <p:cNvPr name="Freeform 3" id="3"/>
            <p:cNvSpPr/>
            <p:nvPr/>
          </p:nvSpPr>
          <p:spPr>
            <a:xfrm flipH="false" flipV="false" rot="0">
              <a:off x="0" y="0"/>
              <a:ext cx="1238845" cy="1157379"/>
            </a:xfrm>
            <a:custGeom>
              <a:avLst/>
              <a:gdLst/>
              <a:ahLst/>
              <a:cxnLst/>
              <a:rect r="r" b="b" t="t" l="l"/>
              <a:pathLst>
                <a:path h="1157379" w="1238845">
                  <a:moveTo>
                    <a:pt x="29045" y="0"/>
                  </a:moveTo>
                  <a:lnTo>
                    <a:pt x="1209800" y="0"/>
                  </a:lnTo>
                  <a:cubicBezTo>
                    <a:pt x="1225841" y="0"/>
                    <a:pt x="1238845" y="13004"/>
                    <a:pt x="1238845" y="29045"/>
                  </a:cubicBezTo>
                  <a:lnTo>
                    <a:pt x="1238845" y="1128334"/>
                  </a:lnTo>
                  <a:cubicBezTo>
                    <a:pt x="1238845" y="1136037"/>
                    <a:pt x="1235785" y="1143425"/>
                    <a:pt x="1230338" y="1148872"/>
                  </a:cubicBezTo>
                  <a:cubicBezTo>
                    <a:pt x="1224891" y="1154319"/>
                    <a:pt x="1217503" y="1157379"/>
                    <a:pt x="1209800" y="1157379"/>
                  </a:cubicBezTo>
                  <a:lnTo>
                    <a:pt x="29045" y="1157379"/>
                  </a:lnTo>
                  <a:cubicBezTo>
                    <a:pt x="13004" y="1157379"/>
                    <a:pt x="0" y="1144375"/>
                    <a:pt x="0" y="1128334"/>
                  </a:cubicBezTo>
                  <a:lnTo>
                    <a:pt x="0" y="29045"/>
                  </a:lnTo>
                  <a:cubicBezTo>
                    <a:pt x="0" y="13004"/>
                    <a:pt x="13004" y="0"/>
                    <a:pt x="29045" y="0"/>
                  </a:cubicBezTo>
                  <a:close/>
                </a:path>
              </a:pathLst>
            </a:custGeom>
            <a:blipFill>
              <a:blip r:embed="rId2"/>
              <a:stretch>
                <a:fillRect l="0" t="-40" r="0" b="-40"/>
              </a:stretch>
            </a:blipFill>
          </p:spPr>
          <p:txBody>
            <a:bodyPr/>
            <a:p/>
          </p:txBody>
        </p:sp>
      </p:grpSp>
      <p:sp>
        <p:nvSpPr>
          <p:cNvPr name="TextBox 4" id="4"/>
          <p:cNvSpPr txBox="true"/>
          <p:nvPr/>
        </p:nvSpPr>
        <p:spPr>
          <a:xfrm rot="0">
            <a:off x="571500" y="1422081"/>
            <a:ext cx="17145000" cy="1209675"/>
          </a:xfrm>
          <a:prstGeom prst="rect">
            <a:avLst/>
          </a:prstGeom>
        </p:spPr>
        <p:txBody>
          <a:bodyPr anchor="t" rtlCol="false" tIns="0" lIns="0" bIns="0" rIns="0">
            <a:spAutoFit/>
          </a:bodyPr>
          <a:lstStyle/>
          <a:p>
            <a:pPr algn="l" marL="0" indent="0" lvl="0">
              <a:lnSpc>
                <a:spcPts val="9000"/>
              </a:lnSpc>
            </a:pPr>
            <a:r>
              <a:rPr lang="en-US" sz="9000" spc="-270">
                <a:solidFill>
                  <a:srgbClr val="F9FAFB"/>
                </a:solidFill>
                <a:latin typeface="DM Sans"/>
                <a:ea typeface="DM Sans"/>
                <a:cs typeface="DM Sans"/>
                <a:sym typeface="DM Sans"/>
              </a:rPr>
              <a:t>Fully Client-Side Application</a:t>
            </a:r>
          </a:p>
        </p:txBody>
      </p:sp>
      <p:grpSp>
        <p:nvGrpSpPr>
          <p:cNvPr name="Group 5" id="5"/>
          <p:cNvGrpSpPr/>
          <p:nvPr/>
        </p:nvGrpSpPr>
        <p:grpSpPr>
          <a:xfrm rot="0">
            <a:off x="9239250" y="3688784"/>
            <a:ext cx="3723401" cy="2260875"/>
            <a:chOff x="0" y="0"/>
            <a:chExt cx="4964535" cy="3014501"/>
          </a:xfrm>
        </p:grpSpPr>
        <p:sp>
          <p:nvSpPr>
            <p:cNvPr name="TextBox 6" id="6"/>
            <p:cNvSpPr txBox="true"/>
            <p:nvPr/>
          </p:nvSpPr>
          <p:spPr>
            <a:xfrm rot="0">
              <a:off x="0" y="652301"/>
              <a:ext cx="4964535" cy="2362200"/>
            </a:xfrm>
            <a:prstGeom prst="rect">
              <a:avLst/>
            </a:prstGeom>
          </p:spPr>
          <p:txBody>
            <a:bodyPr anchor="t" rtlCol="false" tIns="0" lIns="0" bIns="0" rIns="0">
              <a:spAutoFit/>
            </a:bodyPr>
            <a:lstStyle/>
            <a:p>
              <a:pPr algn="l" marL="0" indent="0" lvl="0">
                <a:lnSpc>
                  <a:spcPts val="2399"/>
                </a:lnSpc>
              </a:pPr>
              <a:r>
                <a:rPr lang="en-US" sz="1999">
                  <a:solidFill>
                    <a:srgbClr val="F9FAFB">
                      <a:alpha val="97647"/>
                    </a:srgbClr>
                  </a:solidFill>
                  <a:latin typeface="DM Sans"/>
                  <a:ea typeface="DM Sans"/>
                  <a:cs typeface="DM Sans"/>
                  <a:sym typeface="DM Sans"/>
                </a:rPr>
                <a:t>This application is designed to be fully client-side, using vanilla HTML, CSS, and JavaScript, ensuring </a:t>
              </a:r>
              <a:r>
                <a:rPr lang="en-US" b="true" sz="1999">
                  <a:solidFill>
                    <a:srgbClr val="F9FAFB">
                      <a:alpha val="97647"/>
                    </a:srgbClr>
                  </a:solidFill>
                  <a:latin typeface="DM Sans Bold"/>
                  <a:ea typeface="DM Sans Bold"/>
                  <a:cs typeface="DM Sans Bold"/>
                  <a:sym typeface="DM Sans Bold"/>
                </a:rPr>
                <a:t>seamless user experiences</a:t>
              </a:r>
              <a:r>
                <a:rPr lang="en-US" sz="1999">
                  <a:solidFill>
                    <a:srgbClr val="F9FAFB">
                      <a:alpha val="97647"/>
                    </a:srgbClr>
                  </a:solidFill>
                  <a:latin typeface="DM Sans"/>
                  <a:ea typeface="DM Sans"/>
                  <a:cs typeface="DM Sans"/>
                  <a:sym typeface="DM Sans"/>
                </a:rPr>
                <a:t> without backend dependencies.</a:t>
              </a:r>
            </a:p>
          </p:txBody>
        </p:sp>
        <p:sp>
          <p:nvSpPr>
            <p:cNvPr name="TextBox 7" id="7"/>
            <p:cNvSpPr txBox="true"/>
            <p:nvPr/>
          </p:nvSpPr>
          <p:spPr>
            <a:xfrm rot="0">
              <a:off x="0" y="-9525"/>
              <a:ext cx="4964535" cy="327025"/>
            </a:xfrm>
            <a:prstGeom prst="rect">
              <a:avLst/>
            </a:prstGeom>
          </p:spPr>
          <p:txBody>
            <a:bodyPr anchor="t" rtlCol="false" tIns="0" lIns="0" bIns="0" rIns="0">
              <a:spAutoFit/>
            </a:bodyPr>
            <a:lstStyle/>
            <a:p>
              <a:pPr algn="l" marL="0" indent="0" lvl="0">
                <a:lnSpc>
                  <a:spcPts val="1926"/>
                </a:lnSpc>
              </a:pPr>
              <a:r>
                <a:rPr lang="en-US" b="true" sz="1605">
                  <a:solidFill>
                    <a:srgbClr val="F9FAFB"/>
                  </a:solidFill>
                  <a:latin typeface="DM Sans Bold"/>
                  <a:ea typeface="DM Sans Bold"/>
                  <a:cs typeface="DM Sans Bold"/>
                  <a:sym typeface="DM Sans Bold"/>
                </a:rPr>
                <a:t>Overview</a:t>
              </a:r>
            </a:p>
          </p:txBody>
        </p:sp>
      </p:grpSp>
      <p:grpSp>
        <p:nvGrpSpPr>
          <p:cNvPr name="Group 8" id="8"/>
          <p:cNvGrpSpPr/>
          <p:nvPr/>
        </p:nvGrpSpPr>
        <p:grpSpPr>
          <a:xfrm rot="0">
            <a:off x="13573125" y="3688784"/>
            <a:ext cx="3708475" cy="2851425"/>
            <a:chOff x="0" y="0"/>
            <a:chExt cx="4944633" cy="3801901"/>
          </a:xfrm>
        </p:grpSpPr>
        <p:sp>
          <p:nvSpPr>
            <p:cNvPr name="TextBox 9" id="9"/>
            <p:cNvSpPr txBox="true"/>
            <p:nvPr/>
          </p:nvSpPr>
          <p:spPr>
            <a:xfrm rot="0">
              <a:off x="0" y="652301"/>
              <a:ext cx="4944633" cy="3149600"/>
            </a:xfrm>
            <a:prstGeom prst="rect">
              <a:avLst/>
            </a:prstGeom>
          </p:spPr>
          <p:txBody>
            <a:bodyPr anchor="t" rtlCol="false" tIns="0" lIns="0" bIns="0" rIns="0">
              <a:spAutoFit/>
            </a:bodyPr>
            <a:lstStyle/>
            <a:p>
              <a:pPr algn="l" marL="0" indent="0" lvl="0">
                <a:lnSpc>
                  <a:spcPts val="2399"/>
                </a:lnSpc>
              </a:pPr>
              <a:r>
                <a:rPr lang="en-US" sz="1999">
                  <a:solidFill>
                    <a:srgbClr val="F9FAFB">
                      <a:alpha val="97647"/>
                    </a:srgbClr>
                  </a:solidFill>
                  <a:latin typeface="DM Sans"/>
                  <a:ea typeface="DM Sans"/>
                  <a:cs typeface="DM Sans"/>
                  <a:sym typeface="DM Sans"/>
                </a:rPr>
                <a:t>The architecture leverages stellar.js to connect the UI with Soroban contracts, while event polling facilitates real-time updates. Continuous integration and analytics enhance performance tracking without user disruption.</a:t>
              </a:r>
            </a:p>
          </p:txBody>
        </p:sp>
        <p:sp>
          <p:nvSpPr>
            <p:cNvPr name="TextBox 10" id="10"/>
            <p:cNvSpPr txBox="true"/>
            <p:nvPr/>
          </p:nvSpPr>
          <p:spPr>
            <a:xfrm rot="0">
              <a:off x="0" y="-9525"/>
              <a:ext cx="4944633" cy="327025"/>
            </a:xfrm>
            <a:prstGeom prst="rect">
              <a:avLst/>
            </a:prstGeom>
          </p:spPr>
          <p:txBody>
            <a:bodyPr anchor="t" rtlCol="false" tIns="0" lIns="0" bIns="0" rIns="0">
              <a:spAutoFit/>
            </a:bodyPr>
            <a:lstStyle/>
            <a:p>
              <a:pPr algn="l" marL="0" indent="0" lvl="0">
                <a:lnSpc>
                  <a:spcPts val="1926"/>
                </a:lnSpc>
              </a:pPr>
              <a:r>
                <a:rPr lang="en-US" b="true" sz="1605">
                  <a:solidFill>
                    <a:srgbClr val="F9FAFB"/>
                  </a:solidFill>
                  <a:latin typeface="DM Sans Bold"/>
                  <a:ea typeface="DM Sans Bold"/>
                  <a:cs typeface="DM Sans Bold"/>
                  <a:sym typeface="DM Sans Bold"/>
                </a:rPr>
                <a:t>Technical Details</a:t>
              </a:r>
            </a:p>
          </p:txBody>
        </p:sp>
      </p:grpSp>
      <p:sp>
        <p:nvSpPr>
          <p:cNvPr name="TextBox 11" id="11"/>
          <p:cNvSpPr txBox="true"/>
          <p:nvPr/>
        </p:nvSpPr>
        <p:spPr>
          <a:xfrm rot="0">
            <a:off x="14605000" y="520998"/>
            <a:ext cx="3111500" cy="219710"/>
          </a:xfrm>
          <a:prstGeom prst="rect">
            <a:avLst/>
          </a:prstGeom>
        </p:spPr>
        <p:txBody>
          <a:bodyPr anchor="t" rtlCol="false" tIns="0" lIns="0" bIns="0" rIns="0">
            <a:spAutoFit/>
          </a:bodyPr>
          <a:lstStyle/>
          <a:p>
            <a:pPr algn="r" marL="0" indent="0" lvl="0">
              <a:lnSpc>
                <a:spcPts val="1750"/>
              </a:lnSpc>
            </a:pPr>
            <a:r>
              <a:rPr lang="en-US" b="true" sz="1400" spc="-21">
                <a:solidFill>
                  <a:srgbClr val="F9FAFB"/>
                </a:solidFill>
                <a:latin typeface="DM Sans Bold"/>
                <a:ea typeface="DM Sans Bold"/>
                <a:cs typeface="DM Sans Bold"/>
                <a:sym typeface="DM Sans Bold"/>
              </a:rPr>
              <a:t>TECHNICAL FLOW</a:t>
            </a:r>
          </a:p>
        </p:txBody>
      </p:sp>
      <p:sp>
        <p:nvSpPr>
          <p:cNvPr name="TextBox 12" id="12"/>
          <p:cNvSpPr txBox="true"/>
          <p:nvPr/>
        </p:nvSpPr>
        <p:spPr>
          <a:xfrm rot="0">
            <a:off x="4905375"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ARCHITECTURE OVERVIEW</a:t>
            </a:r>
          </a:p>
        </p:txBody>
      </p:sp>
      <p:sp>
        <p:nvSpPr>
          <p:cNvPr name="TextBox 13" id="13"/>
          <p:cNvSpPr txBox="true"/>
          <p:nvPr/>
        </p:nvSpPr>
        <p:spPr>
          <a:xfrm rot="0">
            <a:off x="571500"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WORD SCRAMBLE ONBOARDING</a:t>
            </a:r>
          </a:p>
        </p:txBody>
      </p:sp>
      <p:grpSp>
        <p:nvGrpSpPr>
          <p:cNvPr name="Group 14" id="14"/>
          <p:cNvGrpSpPr/>
          <p:nvPr/>
        </p:nvGrpSpPr>
        <p:grpSpPr>
          <a:xfrm rot="0">
            <a:off x="6648254" y="8724900"/>
            <a:ext cx="2648146" cy="883362"/>
            <a:chOff x="0" y="0"/>
            <a:chExt cx="3530861" cy="1177816"/>
          </a:xfrm>
        </p:grpSpPr>
        <p:grpSp>
          <p:nvGrpSpPr>
            <p:cNvPr name="Group 15" id="15"/>
            <p:cNvGrpSpPr/>
            <p:nvPr/>
          </p:nvGrpSpPr>
          <p:grpSpPr>
            <a:xfrm rot="0">
              <a:off x="533324" y="369813"/>
              <a:ext cx="2997536" cy="803206"/>
              <a:chOff x="0" y="0"/>
              <a:chExt cx="677333" cy="181495"/>
            </a:xfrm>
          </p:grpSpPr>
          <p:sp>
            <p:nvSpPr>
              <p:cNvPr name="Freeform 16" id="16"/>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6366F1"/>
              </a:solidFill>
            </p:spPr>
            <p:txBody>
              <a:bodyPr/>
              <a:p/>
            </p:txBody>
          </p:sp>
          <p:sp>
            <p:nvSpPr>
              <p:cNvPr name="TextBox 17" id="17"/>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18" id="18"/>
            <p:cNvSpPr/>
            <p:nvPr/>
          </p:nvSpPr>
          <p:spPr>
            <a:xfrm flipH="false" flipV="false" rot="-8675750">
              <a:off x="95888" y="91272"/>
              <a:ext cx="468474" cy="480551"/>
            </a:xfrm>
            <a:custGeom>
              <a:avLst/>
              <a:gdLst/>
              <a:ahLst/>
              <a:cxnLst/>
              <a:rect r="r" b="b" t="t" l="l"/>
              <a:pathLst>
                <a:path h="480551" w="468474">
                  <a:moveTo>
                    <a:pt x="0" y="0"/>
                  </a:moveTo>
                  <a:lnTo>
                    <a:pt x="468473" y="0"/>
                  </a:lnTo>
                  <a:lnTo>
                    <a:pt x="468473" y="480551"/>
                  </a:lnTo>
                  <a:lnTo>
                    <a:pt x="0" y="48055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9" id="19"/>
            <p:cNvSpPr txBox="true"/>
            <p:nvPr/>
          </p:nvSpPr>
          <p:spPr>
            <a:xfrm rot="0">
              <a:off x="723824" y="355491"/>
              <a:ext cx="2602332" cy="822325"/>
            </a:xfrm>
            <a:prstGeom prst="rect">
              <a:avLst/>
            </a:prstGeom>
          </p:spPr>
          <p:txBody>
            <a:bodyPr anchor="t" rtlCol="false" tIns="0" lIns="0" bIns="0" rIns="0">
              <a:spAutoFit/>
            </a:bodyPr>
            <a:lstStyle/>
            <a:p>
              <a:pPr algn="ctr" marL="0" indent="0" lvl="0">
                <a:lnSpc>
                  <a:spcPts val="2407"/>
                </a:lnSpc>
                <a:spcBef>
                  <a:spcPct val="0"/>
                </a:spcBef>
              </a:pPr>
              <a:r>
                <a:rPr lang="en-US" sz="2006">
                  <a:solidFill>
                    <a:srgbClr val="F9FAFB"/>
                  </a:solidFill>
                  <a:latin typeface="DM Sans"/>
                  <a:ea typeface="DM Sans"/>
                  <a:cs typeface="DM Sans"/>
                  <a:sym typeface="DM Sans"/>
                </a:rPr>
                <a:t>Johnrick Rabara</a:t>
              </a:r>
            </a:p>
          </p:txBody>
        </p:sp>
      </p:grpSp>
    </p:spTree>
  </p:cSld>
  <p:clrMapOvr>
    <a:masterClrMapping/>
  </p:clrMapOvr>
</p:sld>
</file>

<file path=ppt/slides/slide6.xml><?xml version="1.0" encoding="utf-8"?>
<p:sld xmlns:p="http://schemas.openxmlformats.org/presentationml/2006/main" xmlns:a="http://schemas.openxmlformats.org/drawingml/2006/main">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571500" y="7277067"/>
            <a:ext cx="8429625" cy="2438433"/>
            <a:chOff x="0" y="0"/>
            <a:chExt cx="2112884" cy="611193"/>
          </a:xfrm>
        </p:grpSpPr>
        <p:sp>
          <p:nvSpPr>
            <p:cNvPr name="Freeform 3" id="3">
              <a:extLst>
                <a:ext uri="{C183D7F6-B498-43B3-948B-1728B52AA6E4}">
                  <adec:decorative xmlns:adec="http://schemas.microsoft.com/office/drawing/2017/decorative" val="1"/>
                </a:ext>
              </a:extLst>
            </p:cNvPr>
            <p:cNvSpPr/>
            <p:nvPr/>
          </p:nvSpPr>
          <p:spPr>
            <a:xfrm flipH="false" flipV="false" rot="0">
              <a:off x="0" y="0"/>
              <a:ext cx="2112884" cy="611193"/>
            </a:xfrm>
            <a:custGeom>
              <a:avLst/>
              <a:gdLst/>
              <a:ahLst/>
              <a:cxnLst/>
              <a:rect r="r" b="b" t="t" l="l"/>
              <a:pathLst>
                <a:path h="611193" w="2112884">
                  <a:moveTo>
                    <a:pt x="18368" y="0"/>
                  </a:moveTo>
                  <a:lnTo>
                    <a:pt x="2094515" y="0"/>
                  </a:lnTo>
                  <a:cubicBezTo>
                    <a:pt x="2099387" y="0"/>
                    <a:pt x="2104059" y="1935"/>
                    <a:pt x="2107504" y="5380"/>
                  </a:cubicBezTo>
                  <a:cubicBezTo>
                    <a:pt x="2110948" y="8825"/>
                    <a:pt x="2112884" y="13497"/>
                    <a:pt x="2112884" y="18368"/>
                  </a:cubicBezTo>
                  <a:lnTo>
                    <a:pt x="2112884" y="592824"/>
                  </a:lnTo>
                  <a:cubicBezTo>
                    <a:pt x="2112884" y="597696"/>
                    <a:pt x="2110948" y="602368"/>
                    <a:pt x="2107504" y="605813"/>
                  </a:cubicBezTo>
                  <a:cubicBezTo>
                    <a:pt x="2104059" y="609257"/>
                    <a:pt x="2099387" y="611193"/>
                    <a:pt x="2094515" y="611193"/>
                  </a:cubicBezTo>
                  <a:lnTo>
                    <a:pt x="18368" y="611193"/>
                  </a:lnTo>
                  <a:cubicBezTo>
                    <a:pt x="13497" y="611193"/>
                    <a:pt x="8825" y="609257"/>
                    <a:pt x="5380" y="605813"/>
                  </a:cubicBezTo>
                  <a:cubicBezTo>
                    <a:pt x="1935" y="602368"/>
                    <a:pt x="0" y="597696"/>
                    <a:pt x="0" y="592824"/>
                  </a:cubicBezTo>
                  <a:lnTo>
                    <a:pt x="0" y="18368"/>
                  </a:lnTo>
                  <a:cubicBezTo>
                    <a:pt x="0" y="13497"/>
                    <a:pt x="1935" y="8825"/>
                    <a:pt x="5380" y="5380"/>
                  </a:cubicBezTo>
                  <a:cubicBezTo>
                    <a:pt x="8825" y="1935"/>
                    <a:pt x="13497" y="0"/>
                    <a:pt x="18368" y="0"/>
                  </a:cubicBezTo>
                  <a:close/>
                </a:path>
              </a:pathLst>
            </a:custGeom>
            <a:solidFill>
              <a:srgbClr val="6366F1"/>
            </a:solidFill>
          </p:spPr>
          <p:txBody>
            <a:bodyPr/>
            <a:p/>
          </p:txBody>
        </p:sp>
        <p:sp>
          <p:nvSpPr>
            <p:cNvPr name="TextBox 4" id="4"/>
            <p:cNvSpPr txBox="true"/>
            <p:nvPr/>
          </p:nvSpPr>
          <p:spPr>
            <a:xfrm>
              <a:off x="0" y="47625"/>
              <a:ext cx="2112884" cy="563568"/>
            </a:xfrm>
            <a:prstGeom prst="rect">
              <a:avLst/>
            </a:prstGeom>
          </p:spPr>
          <p:txBody>
            <a:bodyPr anchor="ctr" rtlCol="false" tIns="50800" lIns="50800" bIns="50800" rIns="50800"/>
            <a:lstStyle/>
            <a:p>
              <a:pPr algn="ctr">
                <a:lnSpc>
                  <a:spcPts val="3000"/>
                </a:lnSpc>
              </a:pPr>
            </a:p>
          </p:txBody>
        </p:sp>
      </p:grpSp>
      <p:grpSp>
        <p:nvGrpSpPr>
          <p:cNvPr name="Group 5" id="5"/>
          <p:cNvGrpSpPr/>
          <p:nvPr/>
        </p:nvGrpSpPr>
        <p:grpSpPr>
          <a:xfrm rot="0">
            <a:off x="571500" y="4556646"/>
            <a:ext cx="8429625" cy="2438433"/>
            <a:chOff x="0" y="0"/>
            <a:chExt cx="2112884" cy="611193"/>
          </a:xfrm>
        </p:grpSpPr>
        <p:sp>
          <p:nvSpPr>
            <p:cNvPr name="Freeform 6" id="6">
              <a:extLst>
                <a:ext uri="{C183D7F6-B498-43B3-948B-1728B52AA6E4}">
                  <adec:decorative xmlns:adec="http://schemas.microsoft.com/office/drawing/2017/decorative" val="1"/>
                </a:ext>
              </a:extLst>
            </p:cNvPr>
            <p:cNvSpPr/>
            <p:nvPr/>
          </p:nvSpPr>
          <p:spPr>
            <a:xfrm flipH="false" flipV="false" rot="0">
              <a:off x="0" y="0"/>
              <a:ext cx="2112884" cy="611193"/>
            </a:xfrm>
            <a:custGeom>
              <a:avLst/>
              <a:gdLst/>
              <a:ahLst/>
              <a:cxnLst/>
              <a:rect r="r" b="b" t="t" l="l"/>
              <a:pathLst>
                <a:path h="611193" w="2112884">
                  <a:moveTo>
                    <a:pt x="18368" y="0"/>
                  </a:moveTo>
                  <a:lnTo>
                    <a:pt x="2094515" y="0"/>
                  </a:lnTo>
                  <a:cubicBezTo>
                    <a:pt x="2099387" y="0"/>
                    <a:pt x="2104059" y="1935"/>
                    <a:pt x="2107504" y="5380"/>
                  </a:cubicBezTo>
                  <a:cubicBezTo>
                    <a:pt x="2110948" y="8825"/>
                    <a:pt x="2112884" y="13497"/>
                    <a:pt x="2112884" y="18368"/>
                  </a:cubicBezTo>
                  <a:lnTo>
                    <a:pt x="2112884" y="592824"/>
                  </a:lnTo>
                  <a:cubicBezTo>
                    <a:pt x="2112884" y="597696"/>
                    <a:pt x="2110948" y="602368"/>
                    <a:pt x="2107504" y="605813"/>
                  </a:cubicBezTo>
                  <a:cubicBezTo>
                    <a:pt x="2104059" y="609257"/>
                    <a:pt x="2099387" y="611193"/>
                    <a:pt x="2094515" y="611193"/>
                  </a:cubicBezTo>
                  <a:lnTo>
                    <a:pt x="18368" y="611193"/>
                  </a:lnTo>
                  <a:cubicBezTo>
                    <a:pt x="13497" y="611193"/>
                    <a:pt x="8825" y="609257"/>
                    <a:pt x="5380" y="605813"/>
                  </a:cubicBezTo>
                  <a:cubicBezTo>
                    <a:pt x="1935" y="602368"/>
                    <a:pt x="0" y="597696"/>
                    <a:pt x="0" y="592824"/>
                  </a:cubicBezTo>
                  <a:lnTo>
                    <a:pt x="0" y="18368"/>
                  </a:lnTo>
                  <a:cubicBezTo>
                    <a:pt x="0" y="13497"/>
                    <a:pt x="1935" y="8825"/>
                    <a:pt x="5380" y="5380"/>
                  </a:cubicBezTo>
                  <a:cubicBezTo>
                    <a:pt x="8825" y="1935"/>
                    <a:pt x="13497" y="0"/>
                    <a:pt x="18368" y="0"/>
                  </a:cubicBezTo>
                  <a:close/>
                </a:path>
              </a:pathLst>
            </a:custGeom>
            <a:solidFill>
              <a:srgbClr val="6366F1"/>
            </a:solidFill>
          </p:spPr>
          <p:txBody>
            <a:bodyPr/>
            <a:p/>
          </p:txBody>
        </p:sp>
        <p:sp>
          <p:nvSpPr>
            <p:cNvPr name="TextBox 7" id="7"/>
            <p:cNvSpPr txBox="true"/>
            <p:nvPr/>
          </p:nvSpPr>
          <p:spPr>
            <a:xfrm>
              <a:off x="0" y="47625"/>
              <a:ext cx="2112884" cy="563568"/>
            </a:xfrm>
            <a:prstGeom prst="rect">
              <a:avLst/>
            </a:prstGeom>
          </p:spPr>
          <p:txBody>
            <a:bodyPr anchor="ctr" rtlCol="false" tIns="50800" lIns="50800" bIns="50800" rIns="50800"/>
            <a:lstStyle/>
            <a:p>
              <a:pPr algn="ctr">
                <a:lnSpc>
                  <a:spcPts val="3000"/>
                </a:lnSpc>
              </a:pPr>
            </a:p>
          </p:txBody>
        </p:sp>
      </p:grpSp>
      <p:grpSp>
        <p:nvGrpSpPr>
          <p:cNvPr name="Group 8" id="8"/>
          <p:cNvGrpSpPr/>
          <p:nvPr/>
        </p:nvGrpSpPr>
        <p:grpSpPr>
          <a:xfrm rot="0">
            <a:off x="931606" y="4852343"/>
            <a:ext cx="6621719" cy="1506098"/>
            <a:chOff x="0" y="0"/>
            <a:chExt cx="8828958" cy="2008130"/>
          </a:xfrm>
        </p:grpSpPr>
        <p:sp>
          <p:nvSpPr>
            <p:cNvPr name="TextBox 9" id="9"/>
            <p:cNvSpPr txBox="true"/>
            <p:nvPr/>
          </p:nvSpPr>
          <p:spPr>
            <a:xfrm rot="0">
              <a:off x="0" y="76200"/>
              <a:ext cx="8828958" cy="8382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Recruitment Loop</a:t>
              </a:r>
            </a:p>
          </p:txBody>
        </p:sp>
        <p:sp>
          <p:nvSpPr>
            <p:cNvPr name="TextBox 10" id="10"/>
            <p:cNvSpPr txBox="true"/>
            <p:nvPr/>
          </p:nvSpPr>
          <p:spPr>
            <a:xfrm rot="0">
              <a:off x="0" y="1185805"/>
              <a:ext cx="8828958" cy="822325"/>
            </a:xfrm>
            <a:prstGeom prst="rect">
              <a:avLst/>
            </a:prstGeom>
          </p:spPr>
          <p:txBody>
            <a:bodyPr anchor="t" rtlCol="false" tIns="0" lIns="0" bIns="0" rIns="0">
              <a:spAutoFit/>
            </a:bodyPr>
            <a:lstStyle/>
            <a:p>
              <a:pPr algn="l" marL="0" indent="0" lvl="0">
                <a:lnSpc>
                  <a:spcPts val="2400"/>
                </a:lnSpc>
              </a:pPr>
              <a:r>
                <a:rPr lang="en-US" sz="2000" strike="noStrike" u="none">
                  <a:solidFill>
                    <a:srgbClr val="F9FAFB"/>
                  </a:solidFill>
                  <a:latin typeface="DM Sans"/>
                  <a:ea typeface="DM Sans"/>
                  <a:cs typeface="DM Sans"/>
                  <a:sym typeface="DM Sans"/>
                </a:rPr>
                <a:t>A proven loop from wallet connect to on-chain submit — scaled 10 → 51 verified users, 182 on-chain transactions, 100% independently verified.</a:t>
              </a:r>
            </a:p>
          </p:txBody>
        </p:sp>
      </p:grpSp>
      <p:grpSp>
        <p:nvGrpSpPr>
          <p:cNvPr name="Group 11" id="11"/>
          <p:cNvGrpSpPr/>
          <p:nvPr/>
        </p:nvGrpSpPr>
        <p:grpSpPr>
          <a:xfrm rot="0">
            <a:off x="931606" y="7572763"/>
            <a:ext cx="6621719" cy="1810898"/>
            <a:chOff x="0" y="0"/>
            <a:chExt cx="8828958" cy="2414530"/>
          </a:xfrm>
        </p:grpSpPr>
        <p:sp>
          <p:nvSpPr>
            <p:cNvPr name="TextBox 12" id="12"/>
            <p:cNvSpPr txBox="true"/>
            <p:nvPr/>
          </p:nvSpPr>
          <p:spPr>
            <a:xfrm rot="0">
              <a:off x="0" y="76200"/>
              <a:ext cx="8828958" cy="8382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Retention Mechanics</a:t>
              </a:r>
            </a:p>
          </p:txBody>
        </p:sp>
        <p:sp>
          <p:nvSpPr>
            <p:cNvPr name="TextBox 13" id="13"/>
            <p:cNvSpPr txBox="true"/>
            <p:nvPr/>
          </p:nvSpPr>
          <p:spPr>
            <a:xfrm rot="0">
              <a:off x="0" y="1185805"/>
              <a:ext cx="8828958" cy="1228725"/>
            </a:xfrm>
            <a:prstGeom prst="rect">
              <a:avLst/>
            </a:prstGeom>
          </p:spPr>
          <p:txBody>
            <a:bodyPr anchor="t" rtlCol="false" tIns="0" lIns="0" bIns="0" rIns="0">
              <a:spAutoFit/>
            </a:bodyPr>
            <a:lstStyle/>
            <a:p>
              <a:pPr algn="l" marL="0" indent="0" lvl="0">
                <a:lnSpc>
                  <a:spcPts val="2400"/>
                </a:lnSpc>
              </a:pPr>
              <a:r>
                <a:rPr lang="en-US" sz="2000" strike="noStrike" u="none">
                  <a:solidFill>
                    <a:srgbClr val="F9FAFB"/>
                  </a:solidFill>
                  <a:latin typeface="DM Sans"/>
                  <a:ea typeface="DM Sans"/>
                  <a:cs typeface="DM Sans"/>
                  <a:sym typeface="DM Sans"/>
                </a:rPr>
                <a:t>Speedrun and Weekly Arena modes cater to diverse player interests, driving repeat engagement and competition.</a:t>
              </a:r>
            </a:p>
          </p:txBody>
        </p:sp>
      </p:grpSp>
      <p:grpSp>
        <p:nvGrpSpPr>
          <p:cNvPr name="Group 14" id="14"/>
          <p:cNvGrpSpPr/>
          <p:nvPr/>
        </p:nvGrpSpPr>
        <p:grpSpPr>
          <a:xfrm rot="0">
            <a:off x="9286875" y="7277067"/>
            <a:ext cx="8429625" cy="2438433"/>
            <a:chOff x="0" y="0"/>
            <a:chExt cx="2112884" cy="611193"/>
          </a:xfrm>
        </p:grpSpPr>
        <p:sp>
          <p:nvSpPr>
            <p:cNvPr name="Freeform 15" id="15">
              <a:extLst>
                <a:ext uri="{C183D7F6-B498-43B3-948B-1728B52AA6E4}">
                  <adec:decorative xmlns:adec="http://schemas.microsoft.com/office/drawing/2017/decorative" val="1"/>
                </a:ext>
              </a:extLst>
            </p:cNvPr>
            <p:cNvSpPr/>
            <p:nvPr/>
          </p:nvSpPr>
          <p:spPr>
            <a:xfrm flipH="false" flipV="false" rot="0">
              <a:off x="0" y="0"/>
              <a:ext cx="2112884" cy="611193"/>
            </a:xfrm>
            <a:custGeom>
              <a:avLst/>
              <a:gdLst/>
              <a:ahLst/>
              <a:cxnLst/>
              <a:rect r="r" b="b" t="t" l="l"/>
              <a:pathLst>
                <a:path h="611193" w="2112884">
                  <a:moveTo>
                    <a:pt x="18368" y="0"/>
                  </a:moveTo>
                  <a:lnTo>
                    <a:pt x="2094515" y="0"/>
                  </a:lnTo>
                  <a:cubicBezTo>
                    <a:pt x="2099387" y="0"/>
                    <a:pt x="2104059" y="1935"/>
                    <a:pt x="2107504" y="5380"/>
                  </a:cubicBezTo>
                  <a:cubicBezTo>
                    <a:pt x="2110948" y="8825"/>
                    <a:pt x="2112884" y="13497"/>
                    <a:pt x="2112884" y="18368"/>
                  </a:cubicBezTo>
                  <a:lnTo>
                    <a:pt x="2112884" y="592824"/>
                  </a:lnTo>
                  <a:cubicBezTo>
                    <a:pt x="2112884" y="597696"/>
                    <a:pt x="2110948" y="602368"/>
                    <a:pt x="2107504" y="605813"/>
                  </a:cubicBezTo>
                  <a:cubicBezTo>
                    <a:pt x="2104059" y="609257"/>
                    <a:pt x="2099387" y="611193"/>
                    <a:pt x="2094515" y="611193"/>
                  </a:cubicBezTo>
                  <a:lnTo>
                    <a:pt x="18368" y="611193"/>
                  </a:lnTo>
                  <a:cubicBezTo>
                    <a:pt x="13497" y="611193"/>
                    <a:pt x="8825" y="609257"/>
                    <a:pt x="5380" y="605813"/>
                  </a:cubicBezTo>
                  <a:cubicBezTo>
                    <a:pt x="1935" y="602368"/>
                    <a:pt x="0" y="597696"/>
                    <a:pt x="0" y="592824"/>
                  </a:cubicBezTo>
                  <a:lnTo>
                    <a:pt x="0" y="18368"/>
                  </a:lnTo>
                  <a:cubicBezTo>
                    <a:pt x="0" y="13497"/>
                    <a:pt x="1935" y="8825"/>
                    <a:pt x="5380" y="5380"/>
                  </a:cubicBezTo>
                  <a:cubicBezTo>
                    <a:pt x="8825" y="1935"/>
                    <a:pt x="13497" y="0"/>
                    <a:pt x="18368" y="0"/>
                  </a:cubicBezTo>
                  <a:close/>
                </a:path>
              </a:pathLst>
            </a:custGeom>
            <a:solidFill>
              <a:srgbClr val="6366F1"/>
            </a:solidFill>
          </p:spPr>
          <p:txBody>
            <a:bodyPr/>
            <a:p/>
          </p:txBody>
        </p:sp>
        <p:sp>
          <p:nvSpPr>
            <p:cNvPr name="TextBox 16" id="16"/>
            <p:cNvSpPr txBox="true"/>
            <p:nvPr/>
          </p:nvSpPr>
          <p:spPr>
            <a:xfrm>
              <a:off x="0" y="47625"/>
              <a:ext cx="2112884" cy="563568"/>
            </a:xfrm>
            <a:prstGeom prst="rect">
              <a:avLst/>
            </a:prstGeom>
          </p:spPr>
          <p:txBody>
            <a:bodyPr anchor="ctr" rtlCol="false" tIns="50800" lIns="50800" bIns="50800" rIns="50800"/>
            <a:lstStyle/>
            <a:p>
              <a:pPr algn="ctr">
                <a:lnSpc>
                  <a:spcPts val="3000"/>
                </a:lnSpc>
              </a:pPr>
            </a:p>
          </p:txBody>
        </p:sp>
      </p:grpSp>
      <p:grpSp>
        <p:nvGrpSpPr>
          <p:cNvPr name="Group 17" id="17"/>
          <p:cNvGrpSpPr/>
          <p:nvPr/>
        </p:nvGrpSpPr>
        <p:grpSpPr>
          <a:xfrm rot="0">
            <a:off x="9286875" y="4556646"/>
            <a:ext cx="8429625" cy="2438433"/>
            <a:chOff x="0" y="0"/>
            <a:chExt cx="2112884" cy="611193"/>
          </a:xfrm>
        </p:grpSpPr>
        <p:sp>
          <p:nvSpPr>
            <p:cNvPr name="Freeform 18" id="18">
              <a:extLst>
                <a:ext uri="{C183D7F6-B498-43B3-948B-1728B52AA6E4}">
                  <adec:decorative xmlns:adec="http://schemas.microsoft.com/office/drawing/2017/decorative" val="1"/>
                </a:ext>
              </a:extLst>
            </p:cNvPr>
            <p:cNvSpPr/>
            <p:nvPr/>
          </p:nvSpPr>
          <p:spPr>
            <a:xfrm flipH="false" flipV="false" rot="0">
              <a:off x="0" y="0"/>
              <a:ext cx="2112884" cy="611193"/>
            </a:xfrm>
            <a:custGeom>
              <a:avLst/>
              <a:gdLst/>
              <a:ahLst/>
              <a:cxnLst/>
              <a:rect r="r" b="b" t="t" l="l"/>
              <a:pathLst>
                <a:path h="611193" w="2112884">
                  <a:moveTo>
                    <a:pt x="18368" y="0"/>
                  </a:moveTo>
                  <a:lnTo>
                    <a:pt x="2094515" y="0"/>
                  </a:lnTo>
                  <a:cubicBezTo>
                    <a:pt x="2099387" y="0"/>
                    <a:pt x="2104059" y="1935"/>
                    <a:pt x="2107504" y="5380"/>
                  </a:cubicBezTo>
                  <a:cubicBezTo>
                    <a:pt x="2110948" y="8825"/>
                    <a:pt x="2112884" y="13497"/>
                    <a:pt x="2112884" y="18368"/>
                  </a:cubicBezTo>
                  <a:lnTo>
                    <a:pt x="2112884" y="592824"/>
                  </a:lnTo>
                  <a:cubicBezTo>
                    <a:pt x="2112884" y="597696"/>
                    <a:pt x="2110948" y="602368"/>
                    <a:pt x="2107504" y="605813"/>
                  </a:cubicBezTo>
                  <a:cubicBezTo>
                    <a:pt x="2104059" y="609257"/>
                    <a:pt x="2099387" y="611193"/>
                    <a:pt x="2094515" y="611193"/>
                  </a:cubicBezTo>
                  <a:lnTo>
                    <a:pt x="18368" y="611193"/>
                  </a:lnTo>
                  <a:cubicBezTo>
                    <a:pt x="13497" y="611193"/>
                    <a:pt x="8825" y="609257"/>
                    <a:pt x="5380" y="605813"/>
                  </a:cubicBezTo>
                  <a:cubicBezTo>
                    <a:pt x="1935" y="602368"/>
                    <a:pt x="0" y="597696"/>
                    <a:pt x="0" y="592824"/>
                  </a:cubicBezTo>
                  <a:lnTo>
                    <a:pt x="0" y="18368"/>
                  </a:lnTo>
                  <a:cubicBezTo>
                    <a:pt x="0" y="13497"/>
                    <a:pt x="1935" y="8825"/>
                    <a:pt x="5380" y="5380"/>
                  </a:cubicBezTo>
                  <a:cubicBezTo>
                    <a:pt x="8825" y="1935"/>
                    <a:pt x="13497" y="0"/>
                    <a:pt x="18368" y="0"/>
                  </a:cubicBezTo>
                  <a:close/>
                </a:path>
              </a:pathLst>
            </a:custGeom>
            <a:solidFill>
              <a:srgbClr val="6366F1"/>
            </a:solidFill>
          </p:spPr>
          <p:txBody>
            <a:bodyPr/>
            <a:p/>
          </p:txBody>
        </p:sp>
        <p:sp>
          <p:nvSpPr>
            <p:cNvPr name="TextBox 19" id="19"/>
            <p:cNvSpPr txBox="true"/>
            <p:nvPr/>
          </p:nvSpPr>
          <p:spPr>
            <a:xfrm>
              <a:off x="0" y="47625"/>
              <a:ext cx="2112884" cy="563568"/>
            </a:xfrm>
            <a:prstGeom prst="rect">
              <a:avLst/>
            </a:prstGeom>
          </p:spPr>
          <p:txBody>
            <a:bodyPr anchor="ctr" rtlCol="false" tIns="50800" lIns="50800" bIns="50800" rIns="50800"/>
            <a:lstStyle/>
            <a:p>
              <a:pPr algn="ctr">
                <a:lnSpc>
                  <a:spcPts val="3000"/>
                </a:lnSpc>
              </a:pPr>
            </a:p>
          </p:txBody>
        </p:sp>
      </p:grpSp>
      <p:grpSp>
        <p:nvGrpSpPr>
          <p:cNvPr name="Group 20" id="20"/>
          <p:cNvGrpSpPr/>
          <p:nvPr/>
        </p:nvGrpSpPr>
        <p:grpSpPr>
          <a:xfrm rot="0">
            <a:off x="9763883" y="4852343"/>
            <a:ext cx="6419092" cy="1810898"/>
            <a:chOff x="0" y="0"/>
            <a:chExt cx="8558790" cy="2414530"/>
          </a:xfrm>
        </p:grpSpPr>
        <p:sp>
          <p:nvSpPr>
            <p:cNvPr name="TextBox 21" id="21"/>
            <p:cNvSpPr txBox="true"/>
            <p:nvPr/>
          </p:nvSpPr>
          <p:spPr>
            <a:xfrm rot="0">
              <a:off x="0" y="76200"/>
              <a:ext cx="8558790" cy="8382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Built-in Feedback</a:t>
              </a:r>
            </a:p>
          </p:txBody>
        </p:sp>
        <p:sp>
          <p:nvSpPr>
            <p:cNvPr name="TextBox 22" id="22"/>
            <p:cNvSpPr txBox="true"/>
            <p:nvPr/>
          </p:nvSpPr>
          <p:spPr>
            <a:xfrm rot="0">
              <a:off x="0" y="1185805"/>
              <a:ext cx="8558790" cy="1228725"/>
            </a:xfrm>
            <a:prstGeom prst="rect">
              <a:avLst/>
            </a:prstGeom>
          </p:spPr>
          <p:txBody>
            <a:bodyPr anchor="t" rtlCol="false" tIns="0" lIns="0" bIns="0" rIns="0">
              <a:spAutoFit/>
            </a:bodyPr>
            <a:lstStyle/>
            <a:p>
              <a:pPr algn="l" marL="0" indent="0" lvl="0">
                <a:lnSpc>
                  <a:spcPts val="2400"/>
                </a:lnSpc>
              </a:pPr>
              <a:r>
                <a:rPr lang="en-US" sz="2000" strike="noStrike" u="none">
                  <a:solidFill>
                    <a:srgbClr val="F9FAFB"/>
                  </a:solidFill>
                  <a:latin typeface="DM Sans"/>
                  <a:ea typeface="DM Sans"/>
                  <a:cs typeface="DM Sans"/>
                  <a:sym typeface="DM Sans"/>
                </a:rPr>
                <a:t>Continuous improvement encouraged through auto-prompts and persistent feedback options after user interactions.</a:t>
              </a:r>
            </a:p>
          </p:txBody>
        </p:sp>
      </p:grpSp>
      <p:grpSp>
        <p:nvGrpSpPr>
          <p:cNvPr name="Group 23" id="23"/>
          <p:cNvGrpSpPr/>
          <p:nvPr/>
        </p:nvGrpSpPr>
        <p:grpSpPr>
          <a:xfrm rot="0">
            <a:off x="9763883" y="7572763"/>
            <a:ext cx="6419092" cy="1810898"/>
            <a:chOff x="0" y="0"/>
            <a:chExt cx="8558790" cy="2414530"/>
          </a:xfrm>
        </p:grpSpPr>
        <p:sp>
          <p:nvSpPr>
            <p:cNvPr name="TextBox 24" id="24"/>
            <p:cNvSpPr txBox="true"/>
            <p:nvPr/>
          </p:nvSpPr>
          <p:spPr>
            <a:xfrm rot="0">
              <a:off x="0" y="76200"/>
              <a:ext cx="8558790" cy="8382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Long-Horizon Growth</a:t>
              </a:r>
            </a:p>
          </p:txBody>
        </p:sp>
        <p:sp>
          <p:nvSpPr>
            <p:cNvPr name="TextBox 25" id="25"/>
            <p:cNvSpPr txBox="true"/>
            <p:nvPr/>
          </p:nvSpPr>
          <p:spPr>
            <a:xfrm rot="0">
              <a:off x="0" y="1185805"/>
              <a:ext cx="8558790" cy="1228725"/>
            </a:xfrm>
            <a:prstGeom prst="rect">
              <a:avLst/>
            </a:prstGeom>
          </p:spPr>
          <p:txBody>
            <a:bodyPr anchor="t" rtlCol="false" tIns="0" lIns="0" bIns="0" rIns="0">
              <a:spAutoFit/>
            </a:bodyPr>
            <a:lstStyle/>
            <a:p>
              <a:pPr algn="l" marL="0" indent="0" lvl="0">
                <a:lnSpc>
                  <a:spcPts val="2400"/>
                </a:lnSpc>
              </a:pPr>
              <a:r>
                <a:rPr lang="en-US" sz="2000" strike="noStrike" u="none">
                  <a:solidFill>
                    <a:srgbClr val="F9FAFB"/>
                  </a:solidFill>
                  <a:latin typeface="DM Sans"/>
                  <a:ea typeface="DM Sans"/>
                  <a:cs typeface="DM Sans"/>
                  <a:sym typeface="DM Sans"/>
                </a:rPr>
                <a:t>On-chain badges as verified skill proof open avenues for school tournaments and community engagement initiatives.</a:t>
              </a:r>
            </a:p>
          </p:txBody>
        </p:sp>
      </p:grpSp>
      <p:sp>
        <p:nvSpPr>
          <p:cNvPr name="TextBox 26" id="26"/>
          <p:cNvSpPr txBox="true"/>
          <p:nvPr/>
        </p:nvSpPr>
        <p:spPr>
          <a:xfrm rot="0">
            <a:off x="571500" y="486553"/>
            <a:ext cx="17145000" cy="2352675"/>
          </a:xfrm>
          <a:prstGeom prst="rect">
            <a:avLst/>
          </a:prstGeom>
        </p:spPr>
        <p:txBody>
          <a:bodyPr anchor="t" rtlCol="false" tIns="0" lIns="0" bIns="0" rIns="0">
            <a:spAutoFit/>
          </a:bodyPr>
          <a:lstStyle/>
          <a:p>
            <a:pPr algn="l" marL="0" indent="0" lvl="0">
              <a:lnSpc>
                <a:spcPts val="9000"/>
              </a:lnSpc>
            </a:pPr>
            <a:r>
              <a:rPr lang="en-US" sz="9000" spc="-270">
                <a:solidFill>
                  <a:srgbClr val="F9FAFB"/>
                </a:solidFill>
                <a:latin typeface="DM Sans"/>
                <a:ea typeface="DM Sans"/>
                <a:cs typeface="DM Sans"/>
                <a:sym typeface="DM Sans"/>
              </a:rPr>
              <a:t>User Acquisition and Retention Strategies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7858125" y="19050"/>
            <a:ext cx="10429875" cy="10267950"/>
            <a:chOff x="0" y="0"/>
            <a:chExt cx="2746963" cy="2704316"/>
          </a:xfrm>
        </p:grpSpPr>
        <p:sp>
          <p:nvSpPr>
            <p:cNvPr name="Freeform 3" id="3"/>
            <p:cNvSpPr/>
            <p:nvPr/>
          </p:nvSpPr>
          <p:spPr>
            <a:xfrm flipH="false" flipV="false" rot="0">
              <a:off x="0" y="0"/>
              <a:ext cx="2746963" cy="2704316"/>
            </a:xfrm>
            <a:custGeom>
              <a:avLst/>
              <a:gdLst/>
              <a:ahLst/>
              <a:cxnLst/>
              <a:rect r="r" b="b" t="t" l="l"/>
              <a:pathLst>
                <a:path h="2704316" w="2746963">
                  <a:moveTo>
                    <a:pt x="0" y="0"/>
                  </a:moveTo>
                  <a:lnTo>
                    <a:pt x="2746963" y="0"/>
                  </a:lnTo>
                  <a:lnTo>
                    <a:pt x="2746963" y="2704316"/>
                  </a:lnTo>
                  <a:lnTo>
                    <a:pt x="0" y="2704316"/>
                  </a:lnTo>
                  <a:close/>
                </a:path>
              </a:pathLst>
            </a:custGeom>
            <a:solidFill>
              <a:srgbClr val="6366F1"/>
            </a:solidFill>
          </p:spPr>
          <p:txBody>
            <a:bodyPr/>
            <a:p/>
          </p:txBody>
        </p:sp>
        <p:sp>
          <p:nvSpPr>
            <p:cNvPr name="TextBox 4" id="4"/>
            <p:cNvSpPr txBox="true"/>
            <p:nvPr/>
          </p:nvSpPr>
          <p:spPr>
            <a:xfrm>
              <a:off x="0" y="-9525"/>
              <a:ext cx="2746963" cy="2713841"/>
            </a:xfrm>
            <a:prstGeom prst="rect">
              <a:avLst/>
            </a:prstGeom>
          </p:spPr>
          <p:txBody>
            <a:bodyPr anchor="ctr" rtlCol="false" tIns="50800" lIns="50800" bIns="50800" rIns="50800"/>
            <a:lstStyle/>
            <a:p>
              <a:pPr algn="ctr">
                <a:lnSpc>
                  <a:spcPts val="1750"/>
                </a:lnSpc>
              </a:pPr>
            </a:p>
          </p:txBody>
        </p:sp>
      </p:grpSp>
      <p:grpSp>
        <p:nvGrpSpPr>
          <p:cNvPr name="Group 5" id="5"/>
          <p:cNvGrpSpPr>
            <a:grpSpLocks noChangeAspect="true"/>
          </p:cNvGrpSpPr>
          <p:nvPr/>
        </p:nvGrpSpPr>
        <p:grpSpPr>
          <a:xfrm rot="0">
            <a:off x="11223255" y="1403415"/>
            <a:ext cx="3699615" cy="7499221"/>
            <a:chOff x="0" y="0"/>
            <a:chExt cx="9398000" cy="19050000"/>
          </a:xfrm>
        </p:grpSpPr>
        <p:sp>
          <p:nvSpPr>
            <p:cNvPr name="Freeform 6" id="6"/>
            <p:cNvSpPr/>
            <p:nvPr/>
          </p:nvSpPr>
          <p:spPr>
            <a:xfrm flipH="false" flipV="false" rot="0">
              <a:off x="401955" y="301498"/>
              <a:ext cx="8566912" cy="18446877"/>
            </a:xfrm>
            <a:custGeom>
              <a:avLst/>
              <a:gdLst/>
              <a:ahLst/>
              <a:cxnLst/>
              <a:rect r="r" b="b" t="t" l="l"/>
              <a:pathLst>
                <a:path h="18446877" w="8566912">
                  <a:moveTo>
                    <a:pt x="7456551" y="18446877"/>
                  </a:moveTo>
                  <a:lnTo>
                    <a:pt x="1125220" y="18446877"/>
                  </a:lnTo>
                  <a:cubicBezTo>
                    <a:pt x="503809" y="18446877"/>
                    <a:pt x="0" y="17943067"/>
                    <a:pt x="0" y="17321657"/>
                  </a:cubicBezTo>
                  <a:lnTo>
                    <a:pt x="0" y="1085342"/>
                  </a:lnTo>
                  <a:cubicBezTo>
                    <a:pt x="0" y="485902"/>
                    <a:pt x="485902" y="0"/>
                    <a:pt x="1085342" y="0"/>
                  </a:cubicBezTo>
                  <a:lnTo>
                    <a:pt x="7504811" y="0"/>
                  </a:lnTo>
                  <a:cubicBezTo>
                    <a:pt x="8091424" y="0"/>
                    <a:pt x="8566912" y="475488"/>
                    <a:pt x="8566912" y="1062101"/>
                  </a:cubicBezTo>
                  <a:lnTo>
                    <a:pt x="8566912" y="17336515"/>
                  </a:lnTo>
                  <a:cubicBezTo>
                    <a:pt x="8566912" y="17949672"/>
                    <a:pt x="8069707" y="18446877"/>
                    <a:pt x="7456551" y="18446877"/>
                  </a:cubicBezTo>
                  <a:close/>
                </a:path>
              </a:pathLst>
            </a:custGeom>
            <a:blipFill>
              <a:blip r:embed="rId2"/>
              <a:stretch>
                <a:fillRect l="-2889" t="0" r="-2889" b="0"/>
              </a:stretch>
            </a:blipFill>
          </p:spPr>
          <p:txBody>
            <a:bodyPr/>
            <a:p/>
          </p:txBody>
        </p:sp>
        <p:sp>
          <p:nvSpPr>
            <p:cNvPr name="Freeform 7" id="7"/>
            <p:cNvSpPr/>
            <p:nvPr/>
          </p:nvSpPr>
          <p:spPr>
            <a:xfrm flipH="false" flipV="false" rot="0">
              <a:off x="0" y="0"/>
              <a:ext cx="9398000" cy="19050000"/>
            </a:xfrm>
            <a:custGeom>
              <a:avLst/>
              <a:gdLst/>
              <a:ahLst/>
              <a:cxnLst/>
              <a:rect r="r" b="b" t="t" l="l"/>
              <a:pathLst>
                <a:path h="19050000" w="9398000">
                  <a:moveTo>
                    <a:pt x="9398000" y="19050000"/>
                  </a:moveTo>
                  <a:lnTo>
                    <a:pt x="0" y="19050000"/>
                  </a:lnTo>
                  <a:lnTo>
                    <a:pt x="0" y="0"/>
                  </a:lnTo>
                  <a:lnTo>
                    <a:pt x="9398000" y="0"/>
                  </a:lnTo>
                  <a:lnTo>
                    <a:pt x="9398000" y="19050000"/>
                  </a:lnTo>
                  <a:close/>
                </a:path>
              </a:pathLst>
            </a:custGeom>
            <a:blipFill>
              <a:blip r:embed="rId3"/>
              <a:stretch>
                <a:fillRect l="-42" t="0" r="-42" b="0"/>
              </a:stretch>
            </a:blipFill>
          </p:spPr>
          <p:txBody>
            <a:bodyPr/>
            <a:p/>
          </p:txBody>
        </p:sp>
      </p:grpSp>
      <p:grpSp>
        <p:nvGrpSpPr>
          <p:cNvPr name="Group 8" id="8"/>
          <p:cNvGrpSpPr/>
          <p:nvPr/>
        </p:nvGrpSpPr>
        <p:grpSpPr>
          <a:xfrm rot="0">
            <a:off x="581025" y="2311522"/>
            <a:ext cx="6972300" cy="5895697"/>
            <a:chOff x="0" y="0"/>
            <a:chExt cx="9296400" cy="7860929"/>
          </a:xfrm>
        </p:grpSpPr>
        <p:sp>
          <p:nvSpPr>
            <p:cNvPr name="TextBox 9" id="9"/>
            <p:cNvSpPr txBox="true"/>
            <p:nvPr/>
          </p:nvSpPr>
          <p:spPr>
            <a:xfrm rot="0">
              <a:off x="0" y="872754"/>
              <a:ext cx="9296400" cy="4714875"/>
            </a:xfrm>
            <a:prstGeom prst="rect">
              <a:avLst/>
            </a:prstGeom>
          </p:spPr>
          <p:txBody>
            <a:bodyPr anchor="t" rtlCol="false" tIns="0" lIns="0" bIns="0" rIns="0">
              <a:spAutoFit/>
            </a:bodyPr>
            <a:lstStyle/>
            <a:p>
              <a:pPr algn="l" marL="0" indent="0" lvl="0">
                <a:lnSpc>
                  <a:spcPts val="9000"/>
                </a:lnSpc>
              </a:pPr>
              <a:r>
                <a:rPr lang="en-US" sz="9000" spc="-270">
                  <a:solidFill>
                    <a:srgbClr val="F9FAFB"/>
                  </a:solidFill>
                  <a:latin typeface="DM Sans"/>
                  <a:ea typeface="DM Sans"/>
                  <a:cs typeface="DM Sans"/>
                  <a:sym typeface="DM Sans"/>
                </a:rPr>
                <a:t>Feedback → Future Roadmap</a:t>
              </a:r>
            </a:p>
          </p:txBody>
        </p:sp>
        <p:sp>
          <p:nvSpPr>
            <p:cNvPr name="TextBox 10" id="10"/>
            <p:cNvSpPr txBox="true"/>
            <p:nvPr/>
          </p:nvSpPr>
          <p:spPr>
            <a:xfrm rot="0">
              <a:off x="0" y="5892429"/>
              <a:ext cx="7366000" cy="1968500"/>
            </a:xfrm>
            <a:prstGeom prst="rect">
              <a:avLst/>
            </a:prstGeom>
          </p:spPr>
          <p:txBody>
            <a:bodyPr anchor="t" rtlCol="false" tIns="0" lIns="0" bIns="0" rIns="0">
              <a:spAutoFit/>
            </a:bodyPr>
            <a:lstStyle/>
            <a:p>
              <a:pPr algn="l" marL="0" indent="0" lvl="0">
                <a:lnSpc>
                  <a:spcPts val="2399"/>
                </a:lnSpc>
              </a:pPr>
              <a:r>
                <a:rPr lang="en-US" sz="1999" strike="noStrike" u="none">
                  <a:solidFill>
                    <a:srgbClr val="F9FAFB">
                      <a:alpha val="97647"/>
                    </a:srgbClr>
                  </a:solidFill>
                  <a:latin typeface="DM Sans"/>
                  <a:ea typeface="DM Sans"/>
                  <a:cs typeface="DM Sans"/>
                  <a:sym typeface="DM Sans"/>
                </a:rPr>
                <a:t>Shipped straight from player feedback: a clearer Definition button, plus Scramble Board v2.0.0 — the 2–4 player 15×15 board users asked for. Next on the roadmap: an on-chain daily leaderboard with streaks and commit-reveal fairness, seasons and player profiles, a timed Speedrun mode, and long-term, verifiable on-chain vocabulary credentials for schools.</a:t>
              </a:r>
            </a:p>
          </p:txBody>
        </p:sp>
        <p:sp>
          <p:nvSpPr>
            <p:cNvPr name="TextBox 11" id="11"/>
            <p:cNvSpPr txBox="true"/>
            <p:nvPr/>
          </p:nvSpPr>
          <p:spPr>
            <a:xfrm rot="0">
              <a:off x="0" y="-47625"/>
              <a:ext cx="9296400" cy="449792"/>
            </a:xfrm>
            <a:prstGeom prst="rect">
              <a:avLst/>
            </a:prstGeom>
          </p:spPr>
          <p:txBody>
            <a:bodyPr anchor="t" rtlCol="false" tIns="0" lIns="0" bIns="0" rIns="0">
              <a:spAutoFit/>
            </a:bodyPr>
            <a:lstStyle/>
            <a:p>
              <a:pPr algn="l" marL="0" indent="0" lvl="0">
                <a:lnSpc>
                  <a:spcPts val="2800"/>
                </a:lnSpc>
                <a:spcBef>
                  <a:spcPct val="0"/>
                </a:spcBef>
              </a:pPr>
              <a:r>
                <a:rPr lang="en-US" sz="2000" spc="16" strike="noStrike" u="none">
                  <a:solidFill>
                    <a:srgbClr val="F9FAFB"/>
                  </a:solidFill>
                  <a:latin typeface="DM Sans"/>
                  <a:ea typeface="DM Sans"/>
                  <a:cs typeface="DM Sans"/>
                  <a:sym typeface="DM Sans"/>
                </a:rPr>
                <a:t>FEEDBACK → ROADMAP</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9878325" y="114300"/>
            <a:ext cx="8287383" cy="10058400"/>
          </a:xfrm>
          <a:prstGeom prst="rect">
            <a:avLst/>
          </a:prstGeom>
        </p:spPr>
      </p:pic>
      <p:grpSp>
        <p:nvGrpSpPr>
          <p:cNvPr name="Group 3" id="3"/>
          <p:cNvGrpSpPr/>
          <p:nvPr/>
        </p:nvGrpSpPr>
        <p:grpSpPr>
          <a:xfrm rot="0">
            <a:off x="571500" y="7663954"/>
            <a:ext cx="8420100" cy="1926642"/>
            <a:chOff x="0" y="0"/>
            <a:chExt cx="6825830" cy="1561850"/>
          </a:xfrm>
        </p:grpSpPr>
        <p:sp>
          <p:nvSpPr>
            <p:cNvPr name="Freeform 4" id="4">
              <a:extLst>
                <a:ext uri="{C183D7F6-B498-43B3-948B-1728B52AA6E4}">
                  <adec:decorative xmlns:adec="http://schemas.microsoft.com/office/drawing/2017/decorative" val="1"/>
                </a:ext>
              </a:extLst>
            </p:cNvPr>
            <p:cNvSpPr/>
            <p:nvPr/>
          </p:nvSpPr>
          <p:spPr>
            <a:xfrm flipH="false" flipV="false" rot="0">
              <a:off x="0" y="0"/>
              <a:ext cx="6825830" cy="1561850"/>
            </a:xfrm>
            <a:custGeom>
              <a:avLst/>
              <a:gdLst/>
              <a:ahLst/>
              <a:cxnLst/>
              <a:rect r="r" b="b" t="t" l="l"/>
              <a:pathLst>
                <a:path h="1561850" w="6825830">
                  <a:moveTo>
                    <a:pt x="6701370" y="1561850"/>
                  </a:moveTo>
                  <a:lnTo>
                    <a:pt x="124460" y="1561850"/>
                  </a:lnTo>
                  <a:cubicBezTo>
                    <a:pt x="55880" y="1561850"/>
                    <a:pt x="0" y="1505970"/>
                    <a:pt x="0" y="1437390"/>
                  </a:cubicBezTo>
                  <a:lnTo>
                    <a:pt x="0" y="124460"/>
                  </a:lnTo>
                  <a:cubicBezTo>
                    <a:pt x="0" y="55880"/>
                    <a:pt x="55880" y="0"/>
                    <a:pt x="124460" y="0"/>
                  </a:cubicBezTo>
                  <a:lnTo>
                    <a:pt x="6701370" y="0"/>
                  </a:lnTo>
                  <a:cubicBezTo>
                    <a:pt x="6769950" y="0"/>
                    <a:pt x="6825830" y="55880"/>
                    <a:pt x="6825830" y="124460"/>
                  </a:cubicBezTo>
                  <a:lnTo>
                    <a:pt x="6825830" y="1437390"/>
                  </a:lnTo>
                  <a:cubicBezTo>
                    <a:pt x="6825830" y="1505970"/>
                    <a:pt x="6769950" y="1561850"/>
                    <a:pt x="6701370" y="1561850"/>
                  </a:cubicBezTo>
                  <a:close/>
                </a:path>
              </a:pathLst>
            </a:custGeom>
            <a:solidFill>
              <a:srgbClr val="6366F1"/>
            </a:solidFill>
          </p:spPr>
          <p:txBody>
            <a:bodyPr/>
            <a:p/>
          </p:txBody>
        </p:sp>
      </p:grpSp>
      <p:sp>
        <p:nvSpPr>
          <p:cNvPr name="TextBox 5" id="5"/>
          <p:cNvSpPr txBox="true"/>
          <p:nvPr/>
        </p:nvSpPr>
        <p:spPr>
          <a:xfrm rot="0">
            <a:off x="831954" y="8141976"/>
            <a:ext cx="3844821" cy="1178242"/>
          </a:xfrm>
          <a:prstGeom prst="rect">
            <a:avLst/>
          </a:prstGeom>
        </p:spPr>
        <p:txBody>
          <a:bodyPr anchor="t" rtlCol="false" tIns="0" lIns="0" bIns="0" rIns="0">
            <a:spAutoFit/>
          </a:bodyPr>
          <a:lstStyle/>
          <a:p>
            <a:pPr algn="l" marL="0" indent="0" lvl="0">
              <a:lnSpc>
                <a:spcPts val="8887"/>
              </a:lnSpc>
              <a:spcBef>
                <a:spcPct val="0"/>
              </a:spcBef>
            </a:pPr>
            <a:r>
              <a:rPr lang="en-US" sz="8887" spc="-266" strike="noStrike" u="none">
                <a:solidFill>
                  <a:srgbClr val="F9FAFB"/>
                </a:solidFill>
                <a:latin typeface="DM Sans"/>
                <a:ea typeface="DM Sans"/>
                <a:cs typeface="DM Sans"/>
                <a:sym typeface="DM Sans"/>
              </a:rPr>
              <a:t>4.8/5</a:t>
            </a:r>
          </a:p>
        </p:txBody>
      </p:sp>
      <p:sp>
        <p:nvSpPr>
          <p:cNvPr name="TextBox 6" id="6"/>
          <p:cNvSpPr txBox="true"/>
          <p:nvPr/>
        </p:nvSpPr>
        <p:spPr>
          <a:xfrm rot="0">
            <a:off x="4981575" y="8331047"/>
            <a:ext cx="2876550" cy="619125"/>
          </a:xfrm>
          <a:prstGeom prst="rect">
            <a:avLst/>
          </a:prstGeom>
        </p:spPr>
        <p:txBody>
          <a:bodyPr anchor="t" rtlCol="false" tIns="0" lIns="0" bIns="0" rIns="0">
            <a:spAutoFit/>
          </a:bodyPr>
          <a:lstStyle/>
          <a:p>
            <a:pPr algn="l" marL="0" indent="0" lvl="0">
              <a:lnSpc>
                <a:spcPts val="2400"/>
              </a:lnSpc>
            </a:pPr>
            <a:r>
              <a:rPr lang="en-US" sz="2000">
                <a:solidFill>
                  <a:srgbClr val="F9FAFB"/>
                </a:solidFill>
                <a:latin typeface="DM Sans"/>
                <a:ea typeface="DM Sans"/>
                <a:cs typeface="DM Sans"/>
                <a:sym typeface="DM Sans"/>
              </a:rPr>
              <a:t>Average player rating (52 responses)</a:t>
            </a:r>
          </a:p>
        </p:txBody>
      </p:sp>
      <p:grpSp>
        <p:nvGrpSpPr>
          <p:cNvPr name="Group 7" id="7"/>
          <p:cNvGrpSpPr/>
          <p:nvPr/>
        </p:nvGrpSpPr>
        <p:grpSpPr>
          <a:xfrm rot="0">
            <a:off x="571500" y="3850957"/>
            <a:ext cx="9858375" cy="1959984"/>
            <a:chOff x="0" y="0"/>
            <a:chExt cx="13144500" cy="2613313"/>
          </a:xfrm>
        </p:grpSpPr>
        <p:sp>
          <p:nvSpPr>
            <p:cNvPr name="TextBox 8" id="8"/>
            <p:cNvSpPr txBox="true"/>
            <p:nvPr/>
          </p:nvSpPr>
          <p:spPr>
            <a:xfrm rot="0">
              <a:off x="0" y="985173"/>
              <a:ext cx="13144500" cy="1628140"/>
            </a:xfrm>
            <a:prstGeom prst="rect">
              <a:avLst/>
            </a:prstGeom>
          </p:spPr>
          <p:txBody>
            <a:bodyPr anchor="t" rtlCol="false" tIns="0" lIns="0" bIns="0" rIns="0">
              <a:spAutoFit/>
            </a:bodyPr>
            <a:lstStyle/>
            <a:p>
              <a:pPr algn="l" marL="0" indent="0" lvl="0">
                <a:lnSpc>
                  <a:spcPts val="8887"/>
                </a:lnSpc>
              </a:pPr>
              <a:r>
                <a:rPr lang="en-US" sz="8887" spc="-266">
                  <a:solidFill>
                    <a:srgbClr val="F9FAFB"/>
                  </a:solidFill>
                  <a:latin typeface="DM Sans"/>
                  <a:ea typeface="DM Sans"/>
                  <a:cs typeface="DM Sans"/>
                  <a:sym typeface="DM Sans"/>
                </a:rPr>
                <a:t>51 verified users · 182 on-chain txns</a:t>
              </a:r>
            </a:p>
          </p:txBody>
        </p:sp>
        <p:sp>
          <p:nvSpPr>
            <p:cNvPr name="TextBox 9" id="9"/>
            <p:cNvSpPr txBox="true"/>
            <p:nvPr/>
          </p:nvSpPr>
          <p:spPr>
            <a:xfrm rot="0">
              <a:off x="0" y="0"/>
              <a:ext cx="11226800" cy="558800"/>
            </a:xfrm>
            <a:prstGeom prst="rect">
              <a:avLst/>
            </a:prstGeom>
          </p:spPr>
          <p:txBody>
            <a:bodyPr anchor="t" rtlCol="false" tIns="0" lIns="0" bIns="0" rIns="0">
              <a:spAutoFit/>
            </a:bodyPr>
            <a:lstStyle/>
            <a:p>
              <a:pPr algn="l" marL="0" indent="0" lvl="0">
                <a:lnSpc>
                  <a:spcPts val="3359"/>
                </a:lnSpc>
              </a:pPr>
              <a:r>
                <a:rPr lang="en-US" sz="2799">
                  <a:solidFill>
                    <a:srgbClr val="F9FAFB"/>
                  </a:solidFill>
                  <a:latin typeface="DM Sans"/>
                  <a:ea typeface="DM Sans"/>
                  <a:cs typeface="DM Sans"/>
                  <a:sym typeface="DM Sans"/>
                </a:rPr>
                <a:t>User Engagement Metrics</a:t>
              </a:r>
            </a:p>
          </p:txBody>
        </p:sp>
      </p:grpSp>
    </p:spTree>
  </p:cSld>
  <p:clrMapOvr>
    <a:masterClrMapping/>
  </p:clrMapOvr>
</p:sld>
</file>

<file path=ppt/slides/slide9.xml><?xml version="1.0" encoding="utf-8"?>
<p:sld xmlns:p="http://schemas.openxmlformats.org/presentationml/2006/main" xmlns:a="http://schemas.openxmlformats.org/drawingml/2006/main">
  <p:cSld>
    <p:bg>
      <p:bgPr>
        <a:solidFill>
          <a:srgbClr val="1F2937"/>
        </a:solidFill>
      </p:bgPr>
    </p:bg>
    <p:spTree>
      <p:nvGrpSpPr>
        <p:cNvPr id="1" name=""/>
        <p:cNvGrpSpPr/>
        <p:nvPr/>
      </p:nvGrpSpPr>
      <p:grpSpPr>
        <a:xfrm>
          <a:off x="0" y="0"/>
          <a:ext cx="0" cy="0"/>
          <a:chOff x="0" y="0"/>
          <a:chExt cx="0" cy="0"/>
        </a:xfrm>
      </p:grpSpPr>
      <p:sp>
        <p:nvSpPr>
          <p:cNvPr name="TextBox 2" id="2"/>
          <p:cNvSpPr txBox="true"/>
          <p:nvPr/>
        </p:nvSpPr>
        <p:spPr>
          <a:xfrm rot="0">
            <a:off x="666750" y="4194532"/>
            <a:ext cx="16954500" cy="1730374"/>
          </a:xfrm>
          <a:prstGeom prst="rect">
            <a:avLst/>
          </a:prstGeom>
        </p:spPr>
        <p:txBody>
          <a:bodyPr anchor="t" rtlCol="false" tIns="0" lIns="0" bIns="0" rIns="0">
            <a:spAutoFit/>
          </a:bodyPr>
          <a:lstStyle/>
          <a:p>
            <a:pPr algn="ctr" marL="0" indent="0" lvl="0">
              <a:lnSpc>
                <a:spcPts val="12999"/>
              </a:lnSpc>
            </a:pPr>
            <a:r>
              <a:rPr lang="en-US" sz="12999" spc="-389">
                <a:solidFill>
                  <a:srgbClr val="F9FAFB"/>
                </a:solidFill>
                <a:latin typeface="DM Sans"/>
                <a:ea typeface="DM Sans"/>
                <a:cs typeface="DM Sans"/>
                <a:sym typeface="DM Sans"/>
              </a:rPr>
              <a:t>Thank you!</a:t>
            </a:r>
          </a:p>
        </p:txBody>
      </p:sp>
      <p:sp>
        <p:nvSpPr>
          <p:cNvPr name="TextBox 3" id="3"/>
          <p:cNvSpPr txBox="true"/>
          <p:nvPr/>
        </p:nvSpPr>
        <p:spPr>
          <a:xfrm rot="0">
            <a:off x="3543300" y="9135293"/>
            <a:ext cx="11201400" cy="269875"/>
          </a:xfrm>
          <a:prstGeom prst="rect">
            <a:avLst/>
          </a:prstGeom>
        </p:spPr>
        <p:txBody>
          <a:bodyPr anchor="t" rtlCol="false" tIns="0" lIns="0" bIns="0" rIns="0">
            <a:spAutoFit/>
          </a:bodyPr>
          <a:lstStyle/>
          <a:p>
            <a:pPr algn="ctr" marL="0" indent="0" lvl="0">
              <a:lnSpc>
                <a:spcPts val="2000"/>
              </a:lnSpc>
            </a:pPr>
            <a:r>
              <a:rPr lang="en-US" sz="2000" spc="-60">
                <a:solidFill>
                  <a:srgbClr val="F9FAFB"/>
                </a:solidFill>
                <a:latin typeface="DM Sans"/>
                <a:ea typeface="DM Sans"/>
                <a:cs typeface="DM Sans"/>
                <a:sym typeface="DM Sans"/>
              </a:rPr>
              <a:t>word-scramble-v1.surge.sh   ·   github.com/Jrabara101/Stellar-Paradigm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Presentation - Gamified Web3 Onboarding</dc:description>
  <dc:identifier>DAHQaQdPLxk</dc:identifier>
  <dcterms:modified xsi:type="dcterms:W3CDTF">2011-08-01T06:04:30Z</dcterms:modified>
  <cp:revision>1</cp:revision>
  <dc:title>Presentation - Gamified Web3 Onboarding</dc:title>
</cp:coreProperties>
</file>