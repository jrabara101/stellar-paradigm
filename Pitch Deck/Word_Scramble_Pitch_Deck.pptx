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ial Rounded MT Bold" panose="020F0704030504030204" pitchFamily="34" charset="0"/>
      <p:regular r:id="rId12"/>
    </p:embeddedFont>
    <p:embeddedFont>
      <p:font typeface="Broadway" panose="04040905080B02020502" pitchFamily="82" charset="0"/>
      <p:regular r:id="rId13"/>
    </p:embeddedFont>
    <p:embeddedFont>
      <p:font typeface="Brush Script MT" panose="03060802040406070304" pitchFamily="66" charset="0"/>
      <p:italic r:id="rId14"/>
    </p:embeddedFont>
    <p:embeddedFont>
      <p:font typeface="DM Sans" pitchFamily="2" charset="0"/>
      <p:regular r:id="rId15"/>
    </p:embeddedFont>
    <p:embeddedFont>
      <p:font typeface="DM Sans Bold"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954" y="6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s>
</file>

<file path=ppt/diagrams/_rels/drawing1.xml.rels><?xml version="1.0" encoding="UTF-8" standalone="yes"?>
<Relationships xmlns="http://schemas.openxmlformats.org/package/2006/relationships"><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6E9AB1-A788-4DED-850F-3BDCD674F315}" type="doc">
      <dgm:prSet loTypeId="urn:microsoft.com/office/officeart/2009/3/layout/SnapshotPictureList" loCatId="picture" qsTypeId="urn:microsoft.com/office/officeart/2005/8/quickstyle/simple1" qsCatId="simple" csTypeId="urn:microsoft.com/office/officeart/2005/8/colors/accent1_2" csCatId="accent1" phldr="1"/>
      <dgm:spPr/>
      <dgm:t>
        <a:bodyPr/>
        <a:lstStyle/>
        <a:p>
          <a:endParaRPr lang="en-PH"/>
        </a:p>
      </dgm:t>
    </dgm:pt>
    <dgm:pt modelId="{3277882D-3A76-4457-BF91-1E856EAA3D19}">
      <dgm:prSet phldrT="[Text]" phldr="0" custT="1"/>
      <dgm:spPr/>
      <dgm:t>
        <a:bodyPr/>
        <a:lstStyle/>
        <a:p>
          <a:pPr>
            <a:lnSpc>
              <a:spcPct val="200000"/>
            </a:lnSpc>
          </a:pPr>
          <a:endParaRPr lang="en-PH" sz="3200" dirty="0"/>
        </a:p>
      </dgm:t>
    </dgm:pt>
    <dgm:pt modelId="{C463589B-BE43-43DD-8709-D1DF1DEE46A8}" type="parTrans" cxnId="{BFAFE961-3E92-491A-A02A-2E84780D2C02}">
      <dgm:prSet/>
      <dgm:spPr/>
      <dgm:t>
        <a:bodyPr/>
        <a:lstStyle/>
        <a:p>
          <a:endParaRPr lang="en-PH"/>
        </a:p>
      </dgm:t>
    </dgm:pt>
    <dgm:pt modelId="{E7271828-70AA-4928-9C47-E7656B328E7D}" type="sibTrans" cxnId="{BFAFE961-3E92-491A-A02A-2E84780D2C02}">
      <dgm:prSet/>
      <dgm:spPr/>
      <dgm:t>
        <a:bodyPr/>
        <a:lstStyle/>
        <a:p>
          <a:endParaRPr lang="en-PH"/>
        </a:p>
      </dgm:t>
    </dgm:pt>
    <dgm:pt modelId="{5270C09F-0816-4952-9314-D7ED2406B1D1}" type="pres">
      <dgm:prSet presAssocID="{206E9AB1-A788-4DED-850F-3BDCD674F315}" presName="Name0" presStyleCnt="0">
        <dgm:presLayoutVars>
          <dgm:chMax/>
          <dgm:chPref/>
          <dgm:dir/>
          <dgm:animLvl val="lvl"/>
        </dgm:presLayoutVars>
      </dgm:prSet>
      <dgm:spPr/>
    </dgm:pt>
    <dgm:pt modelId="{BF7D3F89-BEF2-4007-87A0-D47400043CC7}" type="pres">
      <dgm:prSet presAssocID="{3277882D-3A76-4457-BF91-1E856EAA3D19}" presName="composite" presStyleCnt="0"/>
      <dgm:spPr/>
    </dgm:pt>
    <dgm:pt modelId="{7734D74F-13E6-4481-B055-882B6616F7A7}" type="pres">
      <dgm:prSet presAssocID="{3277882D-3A76-4457-BF91-1E856EAA3D19}" presName="ParentAccentShape" presStyleLbl="trBgShp" presStyleIdx="0" presStyleCnt="1"/>
      <dgm:spPr/>
    </dgm:pt>
    <dgm:pt modelId="{D6C13FB3-035B-4AC8-B99E-AB130FDA996C}" type="pres">
      <dgm:prSet presAssocID="{3277882D-3A76-4457-BF91-1E856EAA3D19}" presName="ParentText" presStyleLbl="revTx" presStyleIdx="0" presStyleCnt="2">
        <dgm:presLayoutVars>
          <dgm:chMax val="1"/>
          <dgm:chPref val="1"/>
          <dgm:bulletEnabled val="1"/>
        </dgm:presLayoutVars>
      </dgm:prSet>
      <dgm:spPr/>
    </dgm:pt>
    <dgm:pt modelId="{89CFBCC3-B74E-4632-834B-F20000258394}" type="pres">
      <dgm:prSet presAssocID="{3277882D-3A76-4457-BF91-1E856EAA3D19}" presName="ChildText" presStyleLbl="revTx" presStyleIdx="1" presStyleCnt="2">
        <dgm:presLayoutVars>
          <dgm:chMax val="0"/>
          <dgm:chPref val="0"/>
        </dgm:presLayoutVars>
      </dgm:prSet>
      <dgm:spPr/>
    </dgm:pt>
    <dgm:pt modelId="{4837C91E-5C10-415F-9F58-E9F9302B2FC0}" type="pres">
      <dgm:prSet presAssocID="{3277882D-3A76-4457-BF91-1E856EAA3D19}" presName="ChildAccentShape" presStyleLbl="trBgShp" presStyleIdx="0" presStyleCnt="1"/>
      <dgm:spPr/>
    </dgm:pt>
    <dgm:pt modelId="{89645F4B-A600-4E76-AEC4-E846D0871452}" type="pres">
      <dgm:prSet presAssocID="{3277882D-3A76-4457-BF91-1E856EAA3D19}" presName="Image" presStyleLbl="alignImgPlace1" presStyleIdx="0" presStyleCnt="1"/>
      <dgm:spPr>
        <a:blipFill>
          <a:blip xmlns:r="http://schemas.openxmlformats.org/officeDocument/2006/relationships" r:embed="rId1"/>
          <a:srcRect/>
          <a:stretch>
            <a:fillRect t="-21000" b="-21000"/>
          </a:stretch>
        </a:blipFill>
      </dgm:spPr>
    </dgm:pt>
  </dgm:ptLst>
  <dgm:cxnLst>
    <dgm:cxn modelId="{CF04CC22-F64E-4D34-86D0-AFA140D66B2C}" type="presOf" srcId="{206E9AB1-A788-4DED-850F-3BDCD674F315}" destId="{5270C09F-0816-4952-9314-D7ED2406B1D1}" srcOrd="0" destOrd="0" presId="urn:microsoft.com/office/officeart/2009/3/layout/SnapshotPictureList"/>
    <dgm:cxn modelId="{BFAFE961-3E92-491A-A02A-2E84780D2C02}" srcId="{206E9AB1-A788-4DED-850F-3BDCD674F315}" destId="{3277882D-3A76-4457-BF91-1E856EAA3D19}" srcOrd="0" destOrd="0" parTransId="{C463589B-BE43-43DD-8709-D1DF1DEE46A8}" sibTransId="{E7271828-70AA-4928-9C47-E7656B328E7D}"/>
    <dgm:cxn modelId="{AB377893-2AEA-4308-B90C-35E9CED92122}" type="presOf" srcId="{3277882D-3A76-4457-BF91-1E856EAA3D19}" destId="{D6C13FB3-035B-4AC8-B99E-AB130FDA996C}" srcOrd="0" destOrd="0" presId="urn:microsoft.com/office/officeart/2009/3/layout/SnapshotPictureList"/>
    <dgm:cxn modelId="{16DB6CFD-6AA3-42AC-8D62-24C66F09E4A7}" type="presParOf" srcId="{5270C09F-0816-4952-9314-D7ED2406B1D1}" destId="{BF7D3F89-BEF2-4007-87A0-D47400043CC7}" srcOrd="0" destOrd="0" presId="urn:microsoft.com/office/officeart/2009/3/layout/SnapshotPictureList"/>
    <dgm:cxn modelId="{BD696BEC-E24E-463A-966B-64839736328E}" type="presParOf" srcId="{BF7D3F89-BEF2-4007-87A0-D47400043CC7}" destId="{7734D74F-13E6-4481-B055-882B6616F7A7}" srcOrd="0" destOrd="0" presId="urn:microsoft.com/office/officeart/2009/3/layout/SnapshotPictureList"/>
    <dgm:cxn modelId="{B9851D69-8A16-4B0C-AEF7-FEA4257689A9}" type="presParOf" srcId="{BF7D3F89-BEF2-4007-87A0-D47400043CC7}" destId="{D6C13FB3-035B-4AC8-B99E-AB130FDA996C}" srcOrd="1" destOrd="0" presId="urn:microsoft.com/office/officeart/2009/3/layout/SnapshotPictureList"/>
    <dgm:cxn modelId="{0653D962-9571-4780-BA22-F0F877C31BFB}" type="presParOf" srcId="{BF7D3F89-BEF2-4007-87A0-D47400043CC7}" destId="{89CFBCC3-B74E-4632-834B-F20000258394}" srcOrd="2" destOrd="0" presId="urn:microsoft.com/office/officeart/2009/3/layout/SnapshotPictureList"/>
    <dgm:cxn modelId="{BB7E184A-4BED-4C7C-9AB1-22B21B73EB77}" type="presParOf" srcId="{BF7D3F89-BEF2-4007-87A0-D47400043CC7}" destId="{4837C91E-5C10-415F-9F58-E9F9302B2FC0}" srcOrd="3" destOrd="0" presId="urn:microsoft.com/office/officeart/2009/3/layout/SnapshotPictureList"/>
    <dgm:cxn modelId="{F3CCD09D-6385-49AE-BFD9-A5799ACED232}" type="presParOf" srcId="{BF7D3F89-BEF2-4007-87A0-D47400043CC7}" destId="{89645F4B-A600-4E76-AEC4-E846D0871452}" srcOrd="4" destOrd="0" presId="urn:microsoft.com/office/officeart/2009/3/layout/SnapshotPictur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C9B568-CB17-4911-86EC-BE3A54123D7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PH"/>
        </a:p>
      </dgm:t>
    </dgm:pt>
    <dgm:pt modelId="{9532D8D5-13BD-4D53-AFA8-C0F84FFFBE6D}">
      <dgm:prSet phldrT="[Text]"/>
      <dgm:spPr/>
      <dgm:t>
        <a:bodyPr/>
        <a:lstStyle/>
        <a:p>
          <a:r>
            <a:rPr lang="en-PH" dirty="0">
              <a:solidFill>
                <a:schemeClr val="bg1"/>
              </a:solidFill>
            </a:rPr>
            <a:t>Getting a normal person onto a blockchain is hard — wallets, seed phrases, gas fees, test net faucets. Every one of those is a place people quit. And the way we usually teach Web3 is passive.</a:t>
          </a:r>
          <a:endParaRPr lang="en-PH" dirty="0"/>
        </a:p>
      </dgm:t>
    </dgm:pt>
    <dgm:pt modelId="{46F88CCA-599F-45B5-8126-624BAB5F5377}" type="parTrans" cxnId="{F5E4BEA4-0B33-46ED-917F-E186597762EA}">
      <dgm:prSet/>
      <dgm:spPr/>
      <dgm:t>
        <a:bodyPr/>
        <a:lstStyle/>
        <a:p>
          <a:endParaRPr lang="en-PH"/>
        </a:p>
      </dgm:t>
    </dgm:pt>
    <dgm:pt modelId="{392DA6E2-4ADE-445D-977A-FFEC6DAAF7A0}" type="sibTrans" cxnId="{F5E4BEA4-0B33-46ED-917F-E186597762EA}">
      <dgm:prSet/>
      <dgm:spPr/>
      <dgm:t>
        <a:bodyPr/>
        <a:lstStyle/>
        <a:p>
          <a:endParaRPr lang="en-PH"/>
        </a:p>
      </dgm:t>
    </dgm:pt>
    <dgm:pt modelId="{BDDF9395-BA14-4DA8-B72C-8CCD44843806}">
      <dgm:prSet phldrT="[Text]"/>
      <dgm:spPr/>
      <dgm:t>
        <a:bodyPr/>
        <a:lstStyle/>
        <a:p>
          <a:r>
            <a:rPr lang="en-PH" dirty="0">
              <a:solidFill>
                <a:schemeClr val="bg1"/>
              </a:solidFill>
            </a:rPr>
            <a:t>Meanwhile, casual word games — think Wordle — have proven that hundreds of millions of people will happily open a word puzzle every single day. Nobody has combined that habit with a real on-chain action. So onboarding funnels leak, and massive gaming audiences never even get exposed to blockchain.</a:t>
          </a:r>
          <a:endParaRPr lang="en-PH" dirty="0"/>
        </a:p>
      </dgm:t>
    </dgm:pt>
    <dgm:pt modelId="{26100797-DF09-49C1-AB7B-3B668FF40E79}" type="parTrans" cxnId="{2622F7A3-6A61-46FB-ACA1-3830321FEFE3}">
      <dgm:prSet/>
      <dgm:spPr/>
      <dgm:t>
        <a:bodyPr/>
        <a:lstStyle/>
        <a:p>
          <a:endParaRPr lang="en-PH"/>
        </a:p>
      </dgm:t>
    </dgm:pt>
    <dgm:pt modelId="{5C87DEF8-911D-48A7-93CD-C6AAC452995C}" type="sibTrans" cxnId="{2622F7A3-6A61-46FB-ACA1-3830321FEFE3}">
      <dgm:prSet/>
      <dgm:spPr/>
      <dgm:t>
        <a:bodyPr/>
        <a:lstStyle/>
        <a:p>
          <a:endParaRPr lang="en-PH"/>
        </a:p>
      </dgm:t>
    </dgm:pt>
    <dgm:pt modelId="{991A82E2-8CD9-40A6-A09A-346D3AF8C4FC}">
      <dgm:prSet phldrT="[Text]"/>
      <dgm:spPr/>
      <dgm:t>
        <a:bodyPr/>
        <a:lstStyle/>
        <a:p>
          <a:r>
            <a:rPr lang="en-US" dirty="0">
              <a:solidFill>
                <a:srgbClr val="F9FAFB">
                  <a:alpha val="97647"/>
                </a:srgbClr>
              </a:solidFill>
              <a:latin typeface="DM Sans"/>
              <a:ea typeface="DM Sans"/>
              <a:cs typeface="DM Sans"/>
              <a:sym typeface="DM Sans"/>
            </a:rPr>
            <a:t>Many potential users feel overwhelmed by wallets, seed phrases, and other unfamiliar terms . We </a:t>
          </a:r>
          <a:r>
            <a:rPr lang="en-PH" dirty="0">
              <a:solidFill>
                <a:schemeClr val="bg1"/>
              </a:solidFill>
            </a:rPr>
            <a:t>hand people documentation and videos, but we never actually put a wallet in their hand and let them make a safe, low-stakes first transaction. </a:t>
          </a:r>
          <a:endParaRPr lang="en-PH" dirty="0"/>
        </a:p>
      </dgm:t>
    </dgm:pt>
    <dgm:pt modelId="{D32EBCBB-DBA7-44F6-8CC8-81987DEBE8C6}" type="parTrans" cxnId="{C0D1E035-0AB4-4999-8B83-1B44C6A6FED1}">
      <dgm:prSet/>
      <dgm:spPr/>
      <dgm:t>
        <a:bodyPr/>
        <a:lstStyle/>
        <a:p>
          <a:endParaRPr lang="en-PH"/>
        </a:p>
      </dgm:t>
    </dgm:pt>
    <dgm:pt modelId="{37C2270D-9FE6-4450-80E9-E072FDE874F1}" type="sibTrans" cxnId="{C0D1E035-0AB4-4999-8B83-1B44C6A6FED1}">
      <dgm:prSet/>
      <dgm:spPr/>
      <dgm:t>
        <a:bodyPr/>
        <a:lstStyle/>
        <a:p>
          <a:endParaRPr lang="en-PH"/>
        </a:p>
      </dgm:t>
    </dgm:pt>
    <dgm:pt modelId="{1F0462F9-CBF2-4D97-954C-05D5F1983500}">
      <dgm:prSet phldrT="[Text]"/>
      <dgm:spPr/>
      <dgm:t>
        <a:bodyPr/>
        <a:lstStyle/>
        <a:p>
          <a:r>
            <a:rPr lang="en-US" dirty="0">
              <a:solidFill>
                <a:srgbClr val="F9FAFB">
                  <a:alpha val="97647"/>
                </a:srgbClr>
              </a:solidFill>
              <a:latin typeface="DM Sans"/>
              <a:ea typeface="DM Sans"/>
              <a:cs typeface="DM Sans"/>
              <a:sym typeface="DM Sans"/>
            </a:rPr>
            <a:t>Existing education content lacks engagement, making it difficult for users to experience blockchain interactions and leading to high drop-off rates in onboarding funnels.</a:t>
          </a:r>
          <a:endParaRPr lang="en-PH" dirty="0"/>
        </a:p>
      </dgm:t>
    </dgm:pt>
    <dgm:pt modelId="{84B62266-BB4A-4480-89FC-4B5F5108662B}" type="parTrans" cxnId="{F653F4C2-5311-4F6A-AB18-5203CAD7A38C}">
      <dgm:prSet/>
      <dgm:spPr/>
      <dgm:t>
        <a:bodyPr/>
        <a:lstStyle/>
        <a:p>
          <a:endParaRPr lang="en-PH"/>
        </a:p>
      </dgm:t>
    </dgm:pt>
    <dgm:pt modelId="{E91627BA-0847-4920-920A-ECB509C835B1}" type="sibTrans" cxnId="{F653F4C2-5311-4F6A-AB18-5203CAD7A38C}">
      <dgm:prSet/>
      <dgm:spPr/>
      <dgm:t>
        <a:bodyPr/>
        <a:lstStyle/>
        <a:p>
          <a:endParaRPr lang="en-PH"/>
        </a:p>
      </dgm:t>
    </dgm:pt>
    <dgm:pt modelId="{21EF014E-5481-4F93-BEB9-2659C48BD2BA}" type="pres">
      <dgm:prSet presAssocID="{81C9B568-CB17-4911-86EC-BE3A54123D7A}" presName="diagram" presStyleCnt="0">
        <dgm:presLayoutVars>
          <dgm:dir/>
          <dgm:resizeHandles val="exact"/>
        </dgm:presLayoutVars>
      </dgm:prSet>
      <dgm:spPr/>
    </dgm:pt>
    <dgm:pt modelId="{2FBB6184-296C-464C-97F9-8AA09166FF62}" type="pres">
      <dgm:prSet presAssocID="{9532D8D5-13BD-4D53-AFA8-C0F84FFFBE6D}" presName="node" presStyleLbl="node1" presStyleIdx="0" presStyleCnt="4">
        <dgm:presLayoutVars>
          <dgm:bulletEnabled val="1"/>
        </dgm:presLayoutVars>
      </dgm:prSet>
      <dgm:spPr/>
    </dgm:pt>
    <dgm:pt modelId="{19AF33B1-C630-4DD7-90EB-FAB17B2B914C}" type="pres">
      <dgm:prSet presAssocID="{392DA6E2-4ADE-445D-977A-FFEC6DAAF7A0}" presName="sibTrans" presStyleCnt="0"/>
      <dgm:spPr/>
    </dgm:pt>
    <dgm:pt modelId="{EBC60A75-07D4-4F02-8A3E-3BB531EB5D8E}" type="pres">
      <dgm:prSet presAssocID="{BDDF9395-BA14-4DA8-B72C-8CCD44843806}" presName="node" presStyleLbl="node1" presStyleIdx="1" presStyleCnt="4">
        <dgm:presLayoutVars>
          <dgm:bulletEnabled val="1"/>
        </dgm:presLayoutVars>
      </dgm:prSet>
      <dgm:spPr/>
    </dgm:pt>
    <dgm:pt modelId="{12200F97-DFB5-49C5-9164-CEABD5FBA8A5}" type="pres">
      <dgm:prSet presAssocID="{5C87DEF8-911D-48A7-93CD-C6AAC452995C}" presName="sibTrans" presStyleCnt="0"/>
      <dgm:spPr/>
    </dgm:pt>
    <dgm:pt modelId="{E4CF0B5D-1B3D-4B30-B77E-3EF4FE5EEDB4}" type="pres">
      <dgm:prSet presAssocID="{991A82E2-8CD9-40A6-A09A-346D3AF8C4FC}" presName="node" presStyleLbl="node1" presStyleIdx="2" presStyleCnt="4">
        <dgm:presLayoutVars>
          <dgm:bulletEnabled val="1"/>
        </dgm:presLayoutVars>
      </dgm:prSet>
      <dgm:spPr/>
    </dgm:pt>
    <dgm:pt modelId="{C95B341E-64CA-40EE-856E-B9A4A176FE8F}" type="pres">
      <dgm:prSet presAssocID="{37C2270D-9FE6-4450-80E9-E072FDE874F1}" presName="sibTrans" presStyleCnt="0"/>
      <dgm:spPr/>
    </dgm:pt>
    <dgm:pt modelId="{DFC58EE1-6D3F-45FE-BFA9-3F46EAC211A1}" type="pres">
      <dgm:prSet presAssocID="{1F0462F9-CBF2-4D97-954C-05D5F1983500}" presName="node" presStyleLbl="node1" presStyleIdx="3" presStyleCnt="4">
        <dgm:presLayoutVars>
          <dgm:bulletEnabled val="1"/>
        </dgm:presLayoutVars>
      </dgm:prSet>
      <dgm:spPr/>
    </dgm:pt>
  </dgm:ptLst>
  <dgm:cxnLst>
    <dgm:cxn modelId="{C0D1E035-0AB4-4999-8B83-1B44C6A6FED1}" srcId="{81C9B568-CB17-4911-86EC-BE3A54123D7A}" destId="{991A82E2-8CD9-40A6-A09A-346D3AF8C4FC}" srcOrd="2" destOrd="0" parTransId="{D32EBCBB-DBA7-44F6-8CC8-81987DEBE8C6}" sibTransId="{37C2270D-9FE6-4450-80E9-E072FDE874F1}"/>
    <dgm:cxn modelId="{08C7F05A-344C-4F74-B475-706B38E086DF}" type="presOf" srcId="{991A82E2-8CD9-40A6-A09A-346D3AF8C4FC}" destId="{E4CF0B5D-1B3D-4B30-B77E-3EF4FE5EEDB4}" srcOrd="0" destOrd="0" presId="urn:microsoft.com/office/officeart/2005/8/layout/default"/>
    <dgm:cxn modelId="{62C4AC84-DFB7-4F94-95EE-21D7CC309397}" type="presOf" srcId="{81C9B568-CB17-4911-86EC-BE3A54123D7A}" destId="{21EF014E-5481-4F93-BEB9-2659C48BD2BA}" srcOrd="0" destOrd="0" presId="urn:microsoft.com/office/officeart/2005/8/layout/default"/>
    <dgm:cxn modelId="{5C200796-F3E6-4B51-8A8D-EABD87C88069}" type="presOf" srcId="{BDDF9395-BA14-4DA8-B72C-8CCD44843806}" destId="{EBC60A75-07D4-4F02-8A3E-3BB531EB5D8E}" srcOrd="0" destOrd="0" presId="urn:microsoft.com/office/officeart/2005/8/layout/default"/>
    <dgm:cxn modelId="{2622F7A3-6A61-46FB-ACA1-3830321FEFE3}" srcId="{81C9B568-CB17-4911-86EC-BE3A54123D7A}" destId="{BDDF9395-BA14-4DA8-B72C-8CCD44843806}" srcOrd="1" destOrd="0" parTransId="{26100797-DF09-49C1-AB7B-3B668FF40E79}" sibTransId="{5C87DEF8-911D-48A7-93CD-C6AAC452995C}"/>
    <dgm:cxn modelId="{F5E4BEA4-0B33-46ED-917F-E186597762EA}" srcId="{81C9B568-CB17-4911-86EC-BE3A54123D7A}" destId="{9532D8D5-13BD-4D53-AFA8-C0F84FFFBE6D}" srcOrd="0" destOrd="0" parTransId="{46F88CCA-599F-45B5-8126-624BAB5F5377}" sibTransId="{392DA6E2-4ADE-445D-977A-FFEC6DAAF7A0}"/>
    <dgm:cxn modelId="{C4A602AC-B29D-43A5-A4E8-25A0A1BEBE41}" type="presOf" srcId="{1F0462F9-CBF2-4D97-954C-05D5F1983500}" destId="{DFC58EE1-6D3F-45FE-BFA9-3F46EAC211A1}" srcOrd="0" destOrd="0" presId="urn:microsoft.com/office/officeart/2005/8/layout/default"/>
    <dgm:cxn modelId="{B7534CB3-899C-40E1-A919-0A838FB20DF5}" type="presOf" srcId="{9532D8D5-13BD-4D53-AFA8-C0F84FFFBE6D}" destId="{2FBB6184-296C-464C-97F9-8AA09166FF62}" srcOrd="0" destOrd="0" presId="urn:microsoft.com/office/officeart/2005/8/layout/default"/>
    <dgm:cxn modelId="{F653F4C2-5311-4F6A-AB18-5203CAD7A38C}" srcId="{81C9B568-CB17-4911-86EC-BE3A54123D7A}" destId="{1F0462F9-CBF2-4D97-954C-05D5F1983500}" srcOrd="3" destOrd="0" parTransId="{84B62266-BB4A-4480-89FC-4B5F5108662B}" sibTransId="{E91627BA-0847-4920-920A-ECB509C835B1}"/>
    <dgm:cxn modelId="{3A5C8DEE-6019-48CC-9C50-730A9CBA9DEB}" type="presParOf" srcId="{21EF014E-5481-4F93-BEB9-2659C48BD2BA}" destId="{2FBB6184-296C-464C-97F9-8AA09166FF62}" srcOrd="0" destOrd="0" presId="urn:microsoft.com/office/officeart/2005/8/layout/default"/>
    <dgm:cxn modelId="{029163EC-7911-4841-826D-1B5437408288}" type="presParOf" srcId="{21EF014E-5481-4F93-BEB9-2659C48BD2BA}" destId="{19AF33B1-C630-4DD7-90EB-FAB17B2B914C}" srcOrd="1" destOrd="0" presId="urn:microsoft.com/office/officeart/2005/8/layout/default"/>
    <dgm:cxn modelId="{0ECC0D60-FB9D-43F9-A141-2C80E8D69102}" type="presParOf" srcId="{21EF014E-5481-4F93-BEB9-2659C48BD2BA}" destId="{EBC60A75-07D4-4F02-8A3E-3BB531EB5D8E}" srcOrd="2" destOrd="0" presId="urn:microsoft.com/office/officeart/2005/8/layout/default"/>
    <dgm:cxn modelId="{10489280-DBB3-4912-B9FC-43AAEE3B0BFA}" type="presParOf" srcId="{21EF014E-5481-4F93-BEB9-2659C48BD2BA}" destId="{12200F97-DFB5-49C5-9164-CEABD5FBA8A5}" srcOrd="3" destOrd="0" presId="urn:microsoft.com/office/officeart/2005/8/layout/default"/>
    <dgm:cxn modelId="{F0ECFE5D-7193-4732-8333-F190B4CB74D4}" type="presParOf" srcId="{21EF014E-5481-4F93-BEB9-2659C48BD2BA}" destId="{E4CF0B5D-1B3D-4B30-B77E-3EF4FE5EEDB4}" srcOrd="4" destOrd="0" presId="urn:microsoft.com/office/officeart/2005/8/layout/default"/>
    <dgm:cxn modelId="{58875F56-6B6D-49DA-B151-4E2B131E6E4B}" type="presParOf" srcId="{21EF014E-5481-4F93-BEB9-2659C48BD2BA}" destId="{C95B341E-64CA-40EE-856E-B9A4A176FE8F}" srcOrd="5" destOrd="0" presId="urn:microsoft.com/office/officeart/2005/8/layout/default"/>
    <dgm:cxn modelId="{8BDB2369-F1A7-4037-A8C2-3758C7471AAA}" type="presParOf" srcId="{21EF014E-5481-4F93-BEB9-2659C48BD2BA}" destId="{DFC58EE1-6D3F-45FE-BFA9-3F46EAC211A1}"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77FD22-4791-4A16-B412-61C65B245B2B}" type="doc">
      <dgm:prSet loTypeId="urn:microsoft.com/office/officeart/2024/layout/BulletTimeline" loCatId="timeline" qsTypeId="urn:microsoft.com/office/officeart/2005/8/quickstyle/simple1" qsCatId="simple" csTypeId="urn:microsoft.com/office/officeart/2005/8/colors/accent1_2" csCatId="accent1" phldr="1"/>
      <dgm:spPr/>
      <dgm:t>
        <a:bodyPr/>
        <a:lstStyle/>
        <a:p>
          <a:endParaRPr lang="en-PH"/>
        </a:p>
      </dgm:t>
    </dgm:pt>
    <dgm:pt modelId="{4330C616-9AD9-40C0-894E-0B9EEA133E5D}">
      <dgm:prSet phldrT="Add an event" custT="1">
        <dgm:extLst>
          <a:ext uri="{C7F2D5A4-9E3B-4C8F-A7D2-1F8E9B6C4A30}">
            <msodIdLoc:phldrLoc xmlns:msodIdLoc="http://schemas.microsoft.com/office/drawing/2026/04/diagram/placeholderloc" id="msoidsIgxTimelineAddEvent"/>
          </a:ext>
        </dgm:extLst>
      </dgm:prSet>
      <dgm:spPr/>
      <dgm:t>
        <a:bodyPr/>
        <a:lstStyle/>
        <a:p>
          <a:pPr>
            <a:defRPr b="1"/>
          </a:pPr>
          <a:r>
            <a:rPr lang="en-PH" sz="2800" b="1" i="0" dirty="0">
              <a:solidFill>
                <a:schemeClr val="bg1"/>
              </a:solidFill>
            </a:rPr>
            <a:t>Just shipped</a:t>
          </a:r>
          <a:endParaRPr lang="en-PH" sz="2800" dirty="0">
            <a:solidFill>
              <a:schemeClr val="bg1"/>
            </a:solidFill>
          </a:endParaRPr>
        </a:p>
      </dgm:t>
    </dgm:pt>
    <dgm:pt modelId="{FE330B26-C371-490B-A909-8A28786D8979}" type="parTrans" cxnId="{803C2463-75C1-4E77-B9E2-132933B8C90E}">
      <dgm:prSet/>
      <dgm:spPr/>
      <dgm:t>
        <a:bodyPr/>
        <a:lstStyle/>
        <a:p>
          <a:endParaRPr lang="en-PH"/>
        </a:p>
      </dgm:t>
    </dgm:pt>
    <dgm:pt modelId="{09E976FB-B817-4C03-9C95-261588F9DF59}" type="sibTrans" cxnId="{803C2463-75C1-4E77-B9E2-132933B8C90E}">
      <dgm:prSet/>
      <dgm:spPr/>
      <dgm:t>
        <a:bodyPr/>
        <a:lstStyle/>
        <a:p>
          <a:endParaRPr lang="en-PH"/>
        </a:p>
      </dgm:t>
    </dgm:pt>
    <dgm:pt modelId="{93433341-E875-4412-B7B7-1F536ACCB92A}">
      <dgm:prSet phldrT="Write a description of the significance of this event" custT="1">
        <dgm:extLst>
          <a:ext uri="{C7F2D5A4-9E3B-4C8F-A7D2-1F8E9B6C4A30}">
            <msodIdLoc:phldrLoc xmlns:msodIdLoc="http://schemas.microsoft.com/office/drawing/2026/04/diagram/placeholderloc" id="msoidsIgxTimelineEventDescription"/>
          </a:ext>
        </dgm:extLst>
      </dgm:prSet>
      <dgm:spPr/>
      <dgm:t>
        <a:bodyPr/>
        <a:lstStyle/>
        <a:p>
          <a:r>
            <a:rPr lang="en-PH" sz="2400" b="1" i="0" dirty="0">
              <a:solidFill>
                <a:schemeClr val="bg1"/>
              </a:solidFill>
            </a:rPr>
            <a:t>- Scramble Board v2.0.0  </a:t>
          </a:r>
          <a:r>
            <a:rPr lang="en-PH" sz="2400" b="0" i="0" dirty="0">
              <a:solidFill>
                <a:schemeClr val="bg1"/>
              </a:solidFill>
            </a:rPr>
            <a:t> </a:t>
          </a:r>
        </a:p>
        <a:p>
          <a:r>
            <a:rPr lang="en-PH" sz="2400" dirty="0">
              <a:solidFill>
                <a:schemeClr val="bg1"/>
              </a:solidFill>
            </a:rPr>
            <a:t>- </a:t>
          </a:r>
          <a:r>
            <a:rPr lang="en-PH" sz="2400" b="1" i="0" dirty="0">
              <a:solidFill>
                <a:schemeClr val="bg1"/>
              </a:solidFill>
            </a:rPr>
            <a:t>Feedback-driven UX fixes</a:t>
          </a:r>
          <a:endParaRPr lang="en-PH" sz="2400" dirty="0">
            <a:solidFill>
              <a:schemeClr val="bg1"/>
            </a:solidFill>
          </a:endParaRPr>
        </a:p>
      </dgm:t>
    </dgm:pt>
    <dgm:pt modelId="{4455EF4F-D3E7-4837-9331-03248B32D525}" type="parTrans" cxnId="{897A896F-94BC-49AF-B4C5-BA3F26DF9177}">
      <dgm:prSet/>
      <dgm:spPr/>
      <dgm:t>
        <a:bodyPr/>
        <a:lstStyle/>
        <a:p>
          <a:endParaRPr lang="en-PH"/>
        </a:p>
      </dgm:t>
    </dgm:pt>
    <dgm:pt modelId="{93F81791-9334-4C8E-927A-C45CC6785D08}" type="sibTrans" cxnId="{897A896F-94BC-49AF-B4C5-BA3F26DF9177}">
      <dgm:prSet/>
      <dgm:spPr/>
      <dgm:t>
        <a:bodyPr/>
        <a:lstStyle/>
        <a:p>
          <a:endParaRPr lang="en-PH"/>
        </a:p>
      </dgm:t>
    </dgm:pt>
    <dgm:pt modelId="{2D6978E2-3F07-4B19-A36B-E7E8566CC03A}">
      <dgm:prSet phldrT="Add an event" custT="1">
        <dgm:extLst>
          <a:ext uri="{C7F2D5A4-9E3B-4C8F-A7D2-1F8E9B6C4A30}">
            <msodIdLoc:phldrLoc xmlns:msodIdLoc="http://schemas.microsoft.com/office/drawing/2026/04/diagram/placeholderloc" id="msoidsIgxTimelineAddEvent"/>
          </a:ext>
        </dgm:extLst>
      </dgm:prSet>
      <dgm:spPr/>
      <dgm:t>
        <a:bodyPr/>
        <a:lstStyle/>
        <a:p>
          <a:pPr>
            <a:defRPr b="1"/>
          </a:pPr>
          <a:r>
            <a:rPr lang="en-PH" sz="2800" b="1" i="0" dirty="0">
              <a:solidFill>
                <a:schemeClr val="bg1"/>
              </a:solidFill>
            </a:rPr>
            <a:t>Long-term</a:t>
          </a:r>
          <a:endParaRPr lang="en-PH" sz="2000" dirty="0">
            <a:solidFill>
              <a:schemeClr val="bg1"/>
            </a:solidFill>
          </a:endParaRPr>
        </a:p>
      </dgm:t>
    </dgm:pt>
    <dgm:pt modelId="{7D70EB5B-EA89-4DB5-9EA4-1F46169F2A9B}" type="parTrans" cxnId="{F3173254-79E4-4690-917D-949EE2C71F79}">
      <dgm:prSet/>
      <dgm:spPr/>
      <dgm:t>
        <a:bodyPr/>
        <a:lstStyle/>
        <a:p>
          <a:endParaRPr lang="en-PH"/>
        </a:p>
      </dgm:t>
    </dgm:pt>
    <dgm:pt modelId="{3CE8CCB2-3280-4C29-B96C-0853FFAEF588}" type="sibTrans" cxnId="{F3173254-79E4-4690-917D-949EE2C71F79}">
      <dgm:prSet/>
      <dgm:spPr/>
      <dgm:t>
        <a:bodyPr/>
        <a:lstStyle/>
        <a:p>
          <a:endParaRPr lang="en-PH"/>
        </a:p>
      </dgm:t>
    </dgm:pt>
    <dgm:pt modelId="{2C6FE8D0-E308-4EEF-AEE6-9F3EF16C3111}">
      <dgm:prSet phldrT="Write a description of the significance of this event" phldr="0" custT="1">
        <dgm:extLst>
          <a:ext uri="{C7F2D5A4-9E3B-4C8F-A7D2-1F8E9B6C4A30}">
            <msodIdLoc:phldrLoc xmlns:msodIdLoc="http://schemas.microsoft.com/office/drawing/2026/04/diagram/placeholderloc" id="msoidsIgxTimelineEventDescription"/>
          </a:ext>
        </dgm:extLst>
      </dgm:prSet>
      <dgm:spPr/>
      <dgm:t>
        <a:bodyPr/>
        <a:lstStyle/>
        <a:p>
          <a:r>
            <a:rPr lang="en-PH" sz="2400" b="1" i="0" dirty="0">
              <a:solidFill>
                <a:schemeClr val="bg1"/>
              </a:solidFill>
            </a:rPr>
            <a:t>- On-chain vocabulary credentials</a:t>
          </a:r>
          <a:endParaRPr lang="en-PH" sz="2400" dirty="0">
            <a:solidFill>
              <a:schemeClr val="bg1"/>
            </a:solidFill>
          </a:endParaRPr>
        </a:p>
      </dgm:t>
    </dgm:pt>
    <dgm:pt modelId="{870CA6F7-7F9C-4A24-B62C-82051BA0A5D5}" type="parTrans" cxnId="{EB9CE95E-00DC-4F04-B07F-EC4F9FC89828}">
      <dgm:prSet/>
      <dgm:spPr/>
      <dgm:t>
        <a:bodyPr/>
        <a:lstStyle/>
        <a:p>
          <a:endParaRPr lang="en-PH"/>
        </a:p>
      </dgm:t>
    </dgm:pt>
    <dgm:pt modelId="{2438FB74-4135-49E3-AACF-96657215132A}" type="sibTrans" cxnId="{EB9CE95E-00DC-4F04-B07F-EC4F9FC89828}">
      <dgm:prSet/>
      <dgm:spPr/>
      <dgm:t>
        <a:bodyPr/>
        <a:lstStyle/>
        <a:p>
          <a:endParaRPr lang="en-PH"/>
        </a:p>
      </dgm:t>
    </dgm:pt>
    <dgm:pt modelId="{C3EC8914-5574-4DA9-970D-97BF63AD048C}">
      <dgm:prSet phldrT="Add an event" custT="1">
        <dgm:extLst>
          <a:ext uri="{C7F2D5A4-9E3B-4C8F-A7D2-1F8E9B6C4A30}">
            <msodIdLoc:phldrLoc xmlns:msodIdLoc="http://schemas.microsoft.com/office/drawing/2026/04/diagram/placeholderloc" id="msoidsIgxTimelineAddEvent"/>
          </a:ext>
        </dgm:extLst>
      </dgm:prSet>
      <dgm:spPr/>
      <dgm:t>
        <a:bodyPr/>
        <a:lstStyle/>
        <a:p>
          <a:pPr>
            <a:defRPr b="1"/>
          </a:pPr>
          <a:r>
            <a:rPr lang="en-PH" sz="2800" b="1" i="0" dirty="0">
              <a:solidFill>
                <a:schemeClr val="bg1"/>
              </a:solidFill>
            </a:rPr>
            <a:t>Near-term</a:t>
          </a:r>
          <a:endParaRPr lang="en-PH" sz="2800" dirty="0">
            <a:solidFill>
              <a:schemeClr val="bg1"/>
            </a:solidFill>
          </a:endParaRPr>
        </a:p>
      </dgm:t>
    </dgm:pt>
    <dgm:pt modelId="{B021248D-6314-4293-A5F2-B37E5FB61EEE}" type="parTrans" cxnId="{52E358B1-8910-45B5-9EFD-B480EA98B075}">
      <dgm:prSet/>
      <dgm:spPr/>
      <dgm:t>
        <a:bodyPr/>
        <a:lstStyle/>
        <a:p>
          <a:endParaRPr lang="en-PH"/>
        </a:p>
      </dgm:t>
    </dgm:pt>
    <dgm:pt modelId="{6FECF6E9-793B-4944-8EF2-8ED74B48353F}" type="sibTrans" cxnId="{52E358B1-8910-45B5-9EFD-B480EA98B075}">
      <dgm:prSet/>
      <dgm:spPr/>
      <dgm:t>
        <a:bodyPr/>
        <a:lstStyle/>
        <a:p>
          <a:endParaRPr lang="en-PH"/>
        </a:p>
      </dgm:t>
    </dgm:pt>
    <dgm:pt modelId="{C227E28B-E53F-463C-A0C8-27ED98DC2FF5}">
      <dgm:prSet phldrT="Write a description of the significance of this event" phldr="0" custT="1">
        <dgm:extLst>
          <a:ext uri="{C7F2D5A4-9E3B-4C8F-A7D2-1F8E9B6C4A30}">
            <msodIdLoc:phldrLoc xmlns:msodIdLoc="http://schemas.microsoft.com/office/drawing/2026/04/diagram/placeholderloc" id="msoidsIgxTimelineEventDescription"/>
          </a:ext>
        </dgm:extLst>
      </dgm:prSet>
      <dgm:spPr/>
      <dgm:t>
        <a:bodyPr/>
        <a:lstStyle/>
        <a:p>
          <a:r>
            <a:rPr lang="en-US" sz="2400" dirty="0">
              <a:solidFill>
                <a:schemeClr val="bg1"/>
              </a:solidFill>
            </a:rPr>
            <a:t>- </a:t>
          </a:r>
          <a:r>
            <a:rPr lang="en-PH" sz="2400" b="1" i="0" dirty="0">
              <a:solidFill>
                <a:schemeClr val="bg1"/>
              </a:solidFill>
            </a:rPr>
            <a:t>Real multiplayer</a:t>
          </a:r>
        </a:p>
        <a:p>
          <a:r>
            <a:rPr lang="en-US" sz="2400" dirty="0">
              <a:solidFill>
                <a:schemeClr val="bg1"/>
              </a:solidFill>
            </a:rPr>
            <a:t>- </a:t>
          </a:r>
          <a:r>
            <a:rPr lang="en-PH" sz="2400" b="1" i="0" dirty="0">
              <a:solidFill>
                <a:schemeClr val="bg1"/>
              </a:solidFill>
            </a:rPr>
            <a:t>Speedrun mode</a:t>
          </a:r>
        </a:p>
        <a:p>
          <a:r>
            <a:rPr lang="en-US" sz="2400" dirty="0">
              <a:solidFill>
                <a:schemeClr val="bg1"/>
              </a:solidFill>
            </a:rPr>
            <a:t>- </a:t>
          </a:r>
          <a:r>
            <a:rPr lang="en-PH" sz="2400" b="1" i="0" dirty="0">
              <a:solidFill>
                <a:schemeClr val="bg1"/>
              </a:solidFill>
            </a:rPr>
            <a:t>Difficulty Scaling</a:t>
          </a:r>
          <a:endParaRPr lang="en-PH" sz="2400" dirty="0">
            <a:solidFill>
              <a:schemeClr val="bg1"/>
            </a:solidFill>
          </a:endParaRPr>
        </a:p>
      </dgm:t>
    </dgm:pt>
    <dgm:pt modelId="{B6836E18-209A-4371-93D9-F252ABB09DDE}" type="parTrans" cxnId="{0259ABBE-B2D2-48C5-9E46-8C631124AD99}">
      <dgm:prSet/>
      <dgm:spPr/>
      <dgm:t>
        <a:bodyPr/>
        <a:lstStyle/>
        <a:p>
          <a:endParaRPr lang="en-PH"/>
        </a:p>
      </dgm:t>
    </dgm:pt>
    <dgm:pt modelId="{AF7D743E-198D-49F4-A4F9-307D81DA91F0}" type="sibTrans" cxnId="{0259ABBE-B2D2-48C5-9E46-8C631124AD99}">
      <dgm:prSet/>
      <dgm:spPr/>
      <dgm:t>
        <a:bodyPr/>
        <a:lstStyle/>
        <a:p>
          <a:endParaRPr lang="en-PH"/>
        </a:p>
      </dgm:t>
    </dgm:pt>
    <dgm:pt modelId="{1991E1BE-FD7F-42D6-98FA-E17955A30619}">
      <dgm:prSet phldrT="Add an event" custT="1">
        <dgm:extLst>
          <a:ext uri="{C7F2D5A4-9E3B-4C8F-A7D2-1F8E9B6C4A30}">
            <msodIdLoc:phldrLoc xmlns:msodIdLoc="http://schemas.microsoft.com/office/drawing/2026/04/diagram/placeholderloc" id="msoidsIgxTimelineAddEvent"/>
          </a:ext>
        </dgm:extLst>
      </dgm:prSet>
      <dgm:spPr/>
      <dgm:t>
        <a:bodyPr/>
        <a:lstStyle/>
        <a:p>
          <a:pPr>
            <a:defRPr b="1"/>
          </a:pPr>
          <a:r>
            <a:rPr lang="en-PH" sz="2800" b="1" i="0" dirty="0">
              <a:solidFill>
                <a:schemeClr val="bg1"/>
              </a:solidFill>
            </a:rPr>
            <a:t>Mid-term</a:t>
          </a:r>
          <a:endParaRPr lang="en-PH" sz="2800" dirty="0">
            <a:solidFill>
              <a:schemeClr val="bg1"/>
            </a:solidFill>
          </a:endParaRPr>
        </a:p>
      </dgm:t>
    </dgm:pt>
    <dgm:pt modelId="{40E38F9C-4230-41F5-990A-BEB942942C3D}" type="parTrans" cxnId="{8283937C-1A0F-4DAE-A5CF-7F0FEED6842B}">
      <dgm:prSet/>
      <dgm:spPr/>
      <dgm:t>
        <a:bodyPr/>
        <a:lstStyle/>
        <a:p>
          <a:endParaRPr lang="en-PH"/>
        </a:p>
      </dgm:t>
    </dgm:pt>
    <dgm:pt modelId="{B3E2515A-C76B-4360-830C-53760CA33FD1}" type="sibTrans" cxnId="{8283937C-1A0F-4DAE-A5CF-7F0FEED6842B}">
      <dgm:prSet/>
      <dgm:spPr/>
      <dgm:t>
        <a:bodyPr/>
        <a:lstStyle/>
        <a:p>
          <a:endParaRPr lang="en-PH"/>
        </a:p>
      </dgm:t>
    </dgm:pt>
    <dgm:pt modelId="{B92E03F9-E37B-4B52-846C-34DA15A83246}">
      <dgm:prSet phldrT="Write a description of the significance of this event" phldr="0" custT="1">
        <dgm:extLst>
          <a:ext uri="{C7F2D5A4-9E3B-4C8F-A7D2-1F8E9B6C4A30}">
            <msodIdLoc:phldrLoc xmlns:msodIdLoc="http://schemas.microsoft.com/office/drawing/2026/04/diagram/placeholderloc" id="msoidsIgxTimelineEventDescription"/>
          </a:ext>
        </dgm:extLst>
      </dgm:prSet>
      <dgm:spPr/>
      <dgm:t>
        <a:bodyPr/>
        <a:lstStyle/>
        <a:p>
          <a:r>
            <a:rPr lang="en-PH" sz="2400" b="1" i="0" dirty="0">
              <a:solidFill>
                <a:schemeClr val="bg1"/>
              </a:solidFill>
            </a:rPr>
            <a:t>- Weekly Arena</a:t>
          </a:r>
        </a:p>
        <a:p>
          <a:r>
            <a:rPr lang="en-PH" sz="2400" b="1" i="0" dirty="0">
              <a:solidFill>
                <a:schemeClr val="bg1"/>
              </a:solidFill>
            </a:rPr>
            <a:t>- Category Rush</a:t>
          </a:r>
        </a:p>
        <a:p>
          <a:r>
            <a:rPr lang="en-PH" sz="2400" b="1" i="0" dirty="0">
              <a:solidFill>
                <a:schemeClr val="bg1"/>
              </a:solidFill>
            </a:rPr>
            <a:t>- Streak Freeze</a:t>
          </a:r>
          <a:endParaRPr lang="en-PH" sz="2400" dirty="0">
            <a:solidFill>
              <a:schemeClr val="bg1"/>
            </a:solidFill>
          </a:endParaRPr>
        </a:p>
      </dgm:t>
    </dgm:pt>
    <dgm:pt modelId="{360B67C5-1643-445D-9640-500874E6AF81}" type="parTrans" cxnId="{9584CE89-AE59-4657-9E6F-5FE647D2BB7F}">
      <dgm:prSet/>
      <dgm:spPr/>
      <dgm:t>
        <a:bodyPr/>
        <a:lstStyle/>
        <a:p>
          <a:endParaRPr lang="en-PH"/>
        </a:p>
      </dgm:t>
    </dgm:pt>
    <dgm:pt modelId="{A5D6AA24-104B-40B3-9C04-98DDBB84727D}" type="sibTrans" cxnId="{9584CE89-AE59-4657-9E6F-5FE647D2BB7F}">
      <dgm:prSet/>
      <dgm:spPr/>
      <dgm:t>
        <a:bodyPr/>
        <a:lstStyle/>
        <a:p>
          <a:endParaRPr lang="en-PH"/>
        </a:p>
      </dgm:t>
    </dgm:pt>
    <dgm:pt modelId="{A1AD7A2F-D96D-4812-ABF8-1B17B497C3E6}" type="pres">
      <dgm:prSet presAssocID="{3F77FD22-4791-4A16-B412-61C65B245B2B}" presName="root" presStyleCnt="0">
        <dgm:presLayoutVars>
          <dgm:dir/>
          <dgm:animLvl val="lvl"/>
        </dgm:presLayoutVars>
      </dgm:prSet>
      <dgm:spPr/>
    </dgm:pt>
    <dgm:pt modelId="{CE82C4B6-B125-4877-8194-B70CED51A0E8}" type="pres">
      <dgm:prSet presAssocID="{3F77FD22-4791-4A16-B412-61C65B245B2B}" presName="divider" presStyleCnt="0"/>
      <dgm:spPr/>
    </dgm:pt>
    <dgm:pt modelId="{023EF039-C452-43B7-9A6D-DDD122FF0312}" type="pres">
      <dgm:prSet presAssocID="{3F77FD22-4791-4A16-B412-61C65B245B2B}" presName="rectBar" presStyleLbl="dkBgShp" presStyleIdx="0" presStyleCnt="6"/>
      <dgm:spPr>
        <a:gradFill rotWithShape="0">
          <a:gsLst>
            <a:gs pos="0">
              <a:schemeClr val="accent1">
                <a:tint val="76000"/>
              </a:schemeClr>
            </a:gs>
            <a:gs pos="100000">
              <a:schemeClr val="accent1">
                <a:tint val="76000"/>
              </a:schemeClr>
            </a:gs>
          </a:gsLst>
          <a:lin ang="0" scaled="0"/>
        </a:gradFill>
        <a:ln>
          <a:noFill/>
        </a:ln>
        <a:effectLst/>
      </dgm:spPr>
    </dgm:pt>
    <dgm:pt modelId="{2AAACFFF-20B1-4302-AB36-F79DE37ADA55}" type="pres">
      <dgm:prSet presAssocID="{3F77FD22-4791-4A16-B412-61C65B245B2B}" presName="chevronArrow" presStyleLbl="dkBgShp" presStyleIdx="1" presStyleCnt="6"/>
      <dgm:spPr>
        <a:gradFill rotWithShape="0">
          <a:gsLst>
            <a:gs pos="0">
              <a:schemeClr val="accent1">
                <a:tint val="76000"/>
              </a:schemeClr>
            </a:gs>
            <a:gs pos="100000">
              <a:schemeClr val="accent1">
                <a:tint val="76000"/>
              </a:schemeClr>
            </a:gs>
          </a:gsLst>
          <a:lin ang="0" scaled="0"/>
        </a:gradFill>
        <a:ln>
          <a:noFill/>
        </a:ln>
        <a:effectLst/>
      </dgm:spPr>
    </dgm:pt>
    <dgm:pt modelId="{D31D8B76-6871-4118-9FF8-D53A25ACAA3B}" type="pres">
      <dgm:prSet presAssocID="{3F77FD22-4791-4A16-B412-61C65B245B2B}" presName="nodes" presStyleCnt="0">
        <dgm:presLayoutVars>
          <dgm:chMax/>
          <dgm:chPref/>
          <dgm:animLvl val="lvl"/>
        </dgm:presLayoutVars>
      </dgm:prSet>
      <dgm:spPr/>
    </dgm:pt>
    <dgm:pt modelId="{85DB558D-5DB3-4749-BB80-488054EFF691}" type="pres">
      <dgm:prSet presAssocID="{4330C616-9AD9-40C0-894E-0B9EEA133E5D}" presName="composite" presStyleCnt="0"/>
      <dgm:spPr/>
    </dgm:pt>
    <dgm:pt modelId="{F4140B16-85C1-4A32-9FA9-637685B1ABB9}" type="pres">
      <dgm:prSet presAssocID="{4330C616-9AD9-40C0-894E-0B9EEA133E5D}" presName="DropPinPlaceHolder" presStyleCnt="0"/>
      <dgm:spPr/>
    </dgm:pt>
    <dgm:pt modelId="{420C67FC-6BF4-40EB-A0F9-48B76796A40F}" type="pres">
      <dgm:prSet presAssocID="{4330C616-9AD9-40C0-894E-0B9EEA133E5D}" presName="DropPin" presStyleLbl="alignNode1" presStyleIdx="0" presStyleCnt="4"/>
      <dgm:spPr/>
    </dgm:pt>
    <dgm:pt modelId="{0243C258-8587-49E1-A4BD-F171A5BF6D79}" type="pres">
      <dgm:prSet presAssocID="{4330C616-9AD9-40C0-894E-0B9EEA133E5D}" presName="Ellipse" presStyleLbl="fgAcc1" presStyleIdx="0" presStyleCnt="4"/>
      <dgm:spPr/>
    </dgm:pt>
    <dgm:pt modelId="{3C3A26B5-5EDA-497A-9469-037BC103D1CD}" type="pres">
      <dgm:prSet presAssocID="{4330C616-9AD9-40C0-894E-0B9EEA133E5D}" presName="L2TextContainer" presStyleLbl="revTx" presStyleIdx="0" presStyleCnt="8">
        <dgm:presLayoutVars>
          <dgm:bulletEnabled val="1"/>
        </dgm:presLayoutVars>
      </dgm:prSet>
      <dgm:spPr/>
    </dgm:pt>
    <dgm:pt modelId="{5323F872-B02E-4409-B3E2-829061873FCF}" type="pres">
      <dgm:prSet presAssocID="{4330C616-9AD9-40C0-894E-0B9EEA133E5D}" presName="L1TextContainer" presStyleLbl="revTx" presStyleIdx="1" presStyleCnt="8">
        <dgm:presLayoutVars>
          <dgm:chMax val="1"/>
          <dgm:chPref val="1"/>
          <dgm:bulletEnabled val="1"/>
        </dgm:presLayoutVars>
      </dgm:prSet>
      <dgm:spPr/>
    </dgm:pt>
    <dgm:pt modelId="{1284ACAB-7C4D-4696-A161-EA79D644F8F6}" type="pres">
      <dgm:prSet presAssocID="{4330C616-9AD9-40C0-894E-0B9EEA133E5D}" presName="ConnectLine" presStyleLbl="dkBgShp" presStyleIdx="2" presStyleCnt="6"/>
      <dgm:spPr/>
    </dgm:pt>
    <dgm:pt modelId="{B3C15432-A06E-4078-B76A-E6F1AB0D12C6}" type="pres">
      <dgm:prSet presAssocID="{4330C616-9AD9-40C0-894E-0B9EEA133E5D}" presName="ConnectorPoint" presStyleCnt="0"/>
      <dgm:spPr/>
    </dgm:pt>
    <dgm:pt modelId="{AA94AC72-53CA-4B79-9E6B-95C3B09F2BF7}" type="pres">
      <dgm:prSet presAssocID="{4330C616-9AD9-40C0-894E-0B9EEA133E5D}" presName="Bullet" presStyleLbl="lnNode1" presStyleIdx="0" presStyleCnt="4"/>
      <dgm:spPr/>
    </dgm:pt>
    <dgm:pt modelId="{2FAC6054-84F3-4FEE-9FA3-F1A4923A7486}" type="pres">
      <dgm:prSet presAssocID="{4330C616-9AD9-40C0-894E-0B9EEA133E5D}" presName="EmptyPlaceHolder" presStyleCnt="0"/>
      <dgm:spPr/>
    </dgm:pt>
    <dgm:pt modelId="{69A8855A-2505-445D-BEE6-5CD53D0C0DCD}" type="pres">
      <dgm:prSet presAssocID="{09E976FB-B817-4C03-9C95-261588F9DF59}" presName="spaceBetweenRectangles" presStyleCnt="0"/>
      <dgm:spPr/>
    </dgm:pt>
    <dgm:pt modelId="{94C2487A-D5E1-4C9B-929F-30B688E95496}" type="pres">
      <dgm:prSet presAssocID="{2D6978E2-3F07-4B19-A36B-E7E8566CC03A}" presName="composite" presStyleCnt="0"/>
      <dgm:spPr/>
    </dgm:pt>
    <dgm:pt modelId="{3C819C1F-998E-49DF-B614-4267A976FE8B}" type="pres">
      <dgm:prSet presAssocID="{2D6978E2-3F07-4B19-A36B-E7E8566CC03A}" presName="DropPinPlaceHolder" presStyleCnt="0"/>
      <dgm:spPr/>
    </dgm:pt>
    <dgm:pt modelId="{2C7BF0E3-9250-4C2B-8B31-DDED835AE247}" type="pres">
      <dgm:prSet presAssocID="{2D6978E2-3F07-4B19-A36B-E7E8566CC03A}" presName="DropPin" presStyleLbl="alignNode1" presStyleIdx="1" presStyleCnt="4"/>
      <dgm:spPr/>
    </dgm:pt>
    <dgm:pt modelId="{2569B0B2-EB27-459E-BB73-2CBC61DF8762}" type="pres">
      <dgm:prSet presAssocID="{2D6978E2-3F07-4B19-A36B-E7E8566CC03A}" presName="Ellipse" presStyleLbl="fgAcc1" presStyleIdx="1" presStyleCnt="4"/>
      <dgm:spPr/>
    </dgm:pt>
    <dgm:pt modelId="{E4752BB2-D0B7-4AA4-AB56-CCAFD47CCCF2}" type="pres">
      <dgm:prSet presAssocID="{2D6978E2-3F07-4B19-A36B-E7E8566CC03A}" presName="L2TextContainer" presStyleLbl="revTx" presStyleIdx="2" presStyleCnt="8">
        <dgm:presLayoutVars>
          <dgm:bulletEnabled val="1"/>
        </dgm:presLayoutVars>
      </dgm:prSet>
      <dgm:spPr/>
    </dgm:pt>
    <dgm:pt modelId="{1D340139-3BA7-4B4E-ACA5-E416F3C61656}" type="pres">
      <dgm:prSet presAssocID="{2D6978E2-3F07-4B19-A36B-E7E8566CC03A}" presName="L1TextContainer" presStyleLbl="revTx" presStyleIdx="3" presStyleCnt="8" custLinFactX="22939" custLinFactNeighborX="100000" custLinFactNeighborY="-178">
        <dgm:presLayoutVars>
          <dgm:chMax val="1"/>
          <dgm:chPref val="1"/>
          <dgm:bulletEnabled val="1"/>
        </dgm:presLayoutVars>
      </dgm:prSet>
      <dgm:spPr/>
    </dgm:pt>
    <dgm:pt modelId="{11F02311-18D9-4349-AEDF-8C5D8DEE623C}" type="pres">
      <dgm:prSet presAssocID="{2D6978E2-3F07-4B19-A36B-E7E8566CC03A}" presName="ConnectLine" presStyleLbl="dkBgShp" presStyleIdx="3" presStyleCnt="6"/>
      <dgm:spPr/>
    </dgm:pt>
    <dgm:pt modelId="{C28713F8-38B3-4526-A0FC-7CFEA09DED21}" type="pres">
      <dgm:prSet presAssocID="{2D6978E2-3F07-4B19-A36B-E7E8566CC03A}" presName="ConnectorPoint" presStyleCnt="0"/>
      <dgm:spPr/>
    </dgm:pt>
    <dgm:pt modelId="{5AF360F6-7E54-4BBF-B5D6-EFF620A308F9}" type="pres">
      <dgm:prSet presAssocID="{2D6978E2-3F07-4B19-A36B-E7E8566CC03A}" presName="Bullet" presStyleLbl="lnNode1" presStyleIdx="1" presStyleCnt="4"/>
      <dgm:spPr/>
    </dgm:pt>
    <dgm:pt modelId="{5A0B1F00-D5C5-404D-B2A7-9A84500E581F}" type="pres">
      <dgm:prSet presAssocID="{2D6978E2-3F07-4B19-A36B-E7E8566CC03A}" presName="EmptyPlaceHolder" presStyleCnt="0"/>
      <dgm:spPr/>
    </dgm:pt>
    <dgm:pt modelId="{F0D82ACB-6A79-4AD6-978D-D4CAC481873E}" type="pres">
      <dgm:prSet presAssocID="{3CE8CCB2-3280-4C29-B96C-0853FFAEF588}" presName="spaceBetweenRectangles" presStyleCnt="0"/>
      <dgm:spPr/>
    </dgm:pt>
    <dgm:pt modelId="{2699DA22-8492-4178-9843-61227D6454C6}" type="pres">
      <dgm:prSet presAssocID="{C3EC8914-5574-4DA9-970D-97BF63AD048C}" presName="composite" presStyleCnt="0"/>
      <dgm:spPr/>
    </dgm:pt>
    <dgm:pt modelId="{8D76D1F2-575A-4CEE-948C-65A3C39A3380}" type="pres">
      <dgm:prSet presAssocID="{C3EC8914-5574-4DA9-970D-97BF63AD048C}" presName="DropPinPlaceHolder" presStyleCnt="0"/>
      <dgm:spPr/>
    </dgm:pt>
    <dgm:pt modelId="{5A981298-662A-4955-8664-107AE937B850}" type="pres">
      <dgm:prSet presAssocID="{C3EC8914-5574-4DA9-970D-97BF63AD048C}" presName="DropPin" presStyleLbl="alignNode1" presStyleIdx="2" presStyleCnt="4"/>
      <dgm:spPr/>
    </dgm:pt>
    <dgm:pt modelId="{15591AD9-E6A5-4043-BF37-D6784308C672}" type="pres">
      <dgm:prSet presAssocID="{C3EC8914-5574-4DA9-970D-97BF63AD048C}" presName="Ellipse" presStyleLbl="fgAcc1" presStyleIdx="2" presStyleCnt="4"/>
      <dgm:spPr/>
    </dgm:pt>
    <dgm:pt modelId="{C92D679D-6F81-4DBB-BA78-E45FD09B3499}" type="pres">
      <dgm:prSet presAssocID="{C3EC8914-5574-4DA9-970D-97BF63AD048C}" presName="L2TextContainer" presStyleLbl="revTx" presStyleIdx="4" presStyleCnt="8">
        <dgm:presLayoutVars>
          <dgm:bulletEnabled val="1"/>
        </dgm:presLayoutVars>
      </dgm:prSet>
      <dgm:spPr/>
    </dgm:pt>
    <dgm:pt modelId="{95E3B1E8-0275-4959-A4D3-5436FA8E9502}" type="pres">
      <dgm:prSet presAssocID="{C3EC8914-5574-4DA9-970D-97BF63AD048C}" presName="L1TextContainer" presStyleLbl="revTx" presStyleIdx="5" presStyleCnt="8">
        <dgm:presLayoutVars>
          <dgm:chMax val="1"/>
          <dgm:chPref val="1"/>
          <dgm:bulletEnabled val="1"/>
        </dgm:presLayoutVars>
      </dgm:prSet>
      <dgm:spPr/>
    </dgm:pt>
    <dgm:pt modelId="{D608592C-70D9-46A9-B058-62ECC7A0BEEF}" type="pres">
      <dgm:prSet presAssocID="{C3EC8914-5574-4DA9-970D-97BF63AD048C}" presName="ConnectLine" presStyleLbl="dkBgShp" presStyleIdx="4" presStyleCnt="6"/>
      <dgm:spPr/>
    </dgm:pt>
    <dgm:pt modelId="{CE635A9B-8381-4ADA-AC59-716C12A41013}" type="pres">
      <dgm:prSet presAssocID="{C3EC8914-5574-4DA9-970D-97BF63AD048C}" presName="ConnectorPoint" presStyleCnt="0"/>
      <dgm:spPr/>
    </dgm:pt>
    <dgm:pt modelId="{E2A04EAF-FD07-460F-BEF7-CB5DE7F5A484}" type="pres">
      <dgm:prSet presAssocID="{C3EC8914-5574-4DA9-970D-97BF63AD048C}" presName="Bullet" presStyleLbl="lnNode1" presStyleIdx="2" presStyleCnt="4"/>
      <dgm:spPr/>
    </dgm:pt>
    <dgm:pt modelId="{3B77F63B-E309-4648-A7D1-D371D0DDC2E9}" type="pres">
      <dgm:prSet presAssocID="{C3EC8914-5574-4DA9-970D-97BF63AD048C}" presName="EmptyPlaceHolder" presStyleCnt="0"/>
      <dgm:spPr/>
    </dgm:pt>
    <dgm:pt modelId="{79DE27E7-70A4-4AE1-B7A3-F52C27FBD790}" type="pres">
      <dgm:prSet presAssocID="{6FECF6E9-793B-4944-8EF2-8ED74B48353F}" presName="spaceBetweenRectangles" presStyleCnt="0"/>
      <dgm:spPr/>
    </dgm:pt>
    <dgm:pt modelId="{D233A03D-D69D-45F6-AAC4-647E6F33968E}" type="pres">
      <dgm:prSet presAssocID="{1991E1BE-FD7F-42D6-98FA-E17955A30619}" presName="composite" presStyleCnt="0"/>
      <dgm:spPr/>
    </dgm:pt>
    <dgm:pt modelId="{AE0C9CE0-8F29-475B-B4AE-102F5E4192BA}" type="pres">
      <dgm:prSet presAssocID="{1991E1BE-FD7F-42D6-98FA-E17955A30619}" presName="DropPinPlaceHolder" presStyleCnt="0"/>
      <dgm:spPr/>
    </dgm:pt>
    <dgm:pt modelId="{2E052D20-4F34-4A28-9792-14C20787E6E7}" type="pres">
      <dgm:prSet presAssocID="{1991E1BE-FD7F-42D6-98FA-E17955A30619}" presName="DropPin" presStyleLbl="alignNode1" presStyleIdx="3" presStyleCnt="4"/>
      <dgm:spPr/>
    </dgm:pt>
    <dgm:pt modelId="{38C18F33-1952-4E54-9863-FA1963D788E4}" type="pres">
      <dgm:prSet presAssocID="{1991E1BE-FD7F-42D6-98FA-E17955A30619}" presName="Ellipse" presStyleLbl="fgAcc1" presStyleIdx="3" presStyleCnt="4"/>
      <dgm:spPr/>
    </dgm:pt>
    <dgm:pt modelId="{45E8C2EC-E174-42CD-9AB3-680B969EF33A}" type="pres">
      <dgm:prSet presAssocID="{1991E1BE-FD7F-42D6-98FA-E17955A30619}" presName="L2TextContainer" presStyleLbl="revTx" presStyleIdx="6" presStyleCnt="8">
        <dgm:presLayoutVars>
          <dgm:bulletEnabled val="1"/>
        </dgm:presLayoutVars>
      </dgm:prSet>
      <dgm:spPr/>
    </dgm:pt>
    <dgm:pt modelId="{000394F4-379D-44D3-83E0-4550EE550426}" type="pres">
      <dgm:prSet presAssocID="{1991E1BE-FD7F-42D6-98FA-E17955A30619}" presName="L1TextContainer" presStyleLbl="revTx" presStyleIdx="7" presStyleCnt="8" custLinFactX="-31984" custLinFactNeighborX="-100000" custLinFactNeighborY="1950">
        <dgm:presLayoutVars>
          <dgm:chMax val="1"/>
          <dgm:chPref val="1"/>
          <dgm:bulletEnabled val="1"/>
        </dgm:presLayoutVars>
      </dgm:prSet>
      <dgm:spPr/>
    </dgm:pt>
    <dgm:pt modelId="{D081C9F7-F457-46D3-99C7-8C074532ACD3}" type="pres">
      <dgm:prSet presAssocID="{1991E1BE-FD7F-42D6-98FA-E17955A30619}" presName="ConnectLine" presStyleLbl="dkBgShp" presStyleIdx="5" presStyleCnt="6"/>
      <dgm:spPr/>
    </dgm:pt>
    <dgm:pt modelId="{B030DD75-8552-4B77-8E24-BEDB28E3C80F}" type="pres">
      <dgm:prSet presAssocID="{1991E1BE-FD7F-42D6-98FA-E17955A30619}" presName="ConnectorPoint" presStyleCnt="0"/>
      <dgm:spPr/>
    </dgm:pt>
    <dgm:pt modelId="{B1CC72C1-4C88-40A4-9028-0280BFEF4572}" type="pres">
      <dgm:prSet presAssocID="{1991E1BE-FD7F-42D6-98FA-E17955A30619}" presName="Bullet" presStyleLbl="lnNode1" presStyleIdx="3" presStyleCnt="4"/>
      <dgm:spPr/>
    </dgm:pt>
    <dgm:pt modelId="{DF049698-ABFD-429B-B886-0CF3EB47A6C8}" type="pres">
      <dgm:prSet presAssocID="{1991E1BE-FD7F-42D6-98FA-E17955A30619}" presName="EmptyPlaceHolder" presStyleCnt="0"/>
      <dgm:spPr/>
    </dgm:pt>
  </dgm:ptLst>
  <dgm:cxnLst>
    <dgm:cxn modelId="{07CB9321-D523-448C-BF95-48DF19375337}" type="presOf" srcId="{2C6FE8D0-E308-4EEF-AEE6-9F3EF16C3111}" destId="{E4752BB2-D0B7-4AA4-AB56-CCAFD47CCCF2}" srcOrd="0" destOrd="0" presId="urn:microsoft.com/office/officeart/2024/layout/BulletTimeline"/>
    <dgm:cxn modelId="{42736E2B-7C32-4CB8-931E-A97A6DAC8C1B}" type="presOf" srcId="{93433341-E875-4412-B7B7-1F536ACCB92A}" destId="{3C3A26B5-5EDA-497A-9469-037BC103D1CD}" srcOrd="0" destOrd="0" presId="urn:microsoft.com/office/officeart/2024/layout/BulletTimeline"/>
    <dgm:cxn modelId="{9CA9392C-A94E-4865-A546-48C6170DB1A3}" type="presOf" srcId="{1991E1BE-FD7F-42D6-98FA-E17955A30619}" destId="{000394F4-379D-44D3-83E0-4550EE550426}" srcOrd="0" destOrd="0" presId="urn:microsoft.com/office/officeart/2024/layout/BulletTimeline"/>
    <dgm:cxn modelId="{C75FE13D-1DD7-405E-A9F1-5F759F36F2FB}" type="presOf" srcId="{B92E03F9-E37B-4B52-846C-34DA15A83246}" destId="{45E8C2EC-E174-42CD-9AB3-680B969EF33A}" srcOrd="0" destOrd="0" presId="urn:microsoft.com/office/officeart/2024/layout/BulletTimeline"/>
    <dgm:cxn modelId="{0FE2265D-2E06-4CAD-9FE9-DE5C6CC87A97}" type="presOf" srcId="{2D6978E2-3F07-4B19-A36B-E7E8566CC03A}" destId="{1D340139-3BA7-4B4E-ACA5-E416F3C61656}" srcOrd="0" destOrd="0" presId="urn:microsoft.com/office/officeart/2024/layout/BulletTimeline"/>
    <dgm:cxn modelId="{EB9CE95E-00DC-4F04-B07F-EC4F9FC89828}" srcId="{2D6978E2-3F07-4B19-A36B-E7E8566CC03A}" destId="{2C6FE8D0-E308-4EEF-AEE6-9F3EF16C3111}" srcOrd="0" destOrd="0" parTransId="{870CA6F7-7F9C-4A24-B62C-82051BA0A5D5}" sibTransId="{2438FB74-4135-49E3-AACF-96657215132A}"/>
    <dgm:cxn modelId="{803C2463-75C1-4E77-B9E2-132933B8C90E}" srcId="{3F77FD22-4791-4A16-B412-61C65B245B2B}" destId="{4330C616-9AD9-40C0-894E-0B9EEA133E5D}" srcOrd="0" destOrd="0" parTransId="{FE330B26-C371-490B-A909-8A28786D8979}" sibTransId="{09E976FB-B817-4C03-9C95-261588F9DF59}"/>
    <dgm:cxn modelId="{D26C886A-7D37-4CE5-9063-1FF009DA3CFB}" type="presOf" srcId="{C227E28B-E53F-463C-A0C8-27ED98DC2FF5}" destId="{C92D679D-6F81-4DBB-BA78-E45FD09B3499}" srcOrd="0" destOrd="0" presId="urn:microsoft.com/office/officeart/2024/layout/BulletTimeline"/>
    <dgm:cxn modelId="{897A896F-94BC-49AF-B4C5-BA3F26DF9177}" srcId="{4330C616-9AD9-40C0-894E-0B9EEA133E5D}" destId="{93433341-E875-4412-B7B7-1F536ACCB92A}" srcOrd="0" destOrd="0" parTransId="{4455EF4F-D3E7-4837-9331-03248B32D525}" sibTransId="{93F81791-9334-4C8E-927A-C45CC6785D08}"/>
    <dgm:cxn modelId="{F3173254-79E4-4690-917D-949EE2C71F79}" srcId="{3F77FD22-4791-4A16-B412-61C65B245B2B}" destId="{2D6978E2-3F07-4B19-A36B-E7E8566CC03A}" srcOrd="1" destOrd="0" parTransId="{7D70EB5B-EA89-4DB5-9EA4-1F46169F2A9B}" sibTransId="{3CE8CCB2-3280-4C29-B96C-0853FFAEF588}"/>
    <dgm:cxn modelId="{8283937C-1A0F-4DAE-A5CF-7F0FEED6842B}" srcId="{3F77FD22-4791-4A16-B412-61C65B245B2B}" destId="{1991E1BE-FD7F-42D6-98FA-E17955A30619}" srcOrd="3" destOrd="0" parTransId="{40E38F9C-4230-41F5-990A-BEB942942C3D}" sibTransId="{B3E2515A-C76B-4360-830C-53760CA33FD1}"/>
    <dgm:cxn modelId="{9584CE89-AE59-4657-9E6F-5FE647D2BB7F}" srcId="{1991E1BE-FD7F-42D6-98FA-E17955A30619}" destId="{B92E03F9-E37B-4B52-846C-34DA15A83246}" srcOrd="0" destOrd="0" parTransId="{360B67C5-1643-445D-9640-500874E6AF81}" sibTransId="{A5D6AA24-104B-40B3-9C04-98DDBB84727D}"/>
    <dgm:cxn modelId="{52E358B1-8910-45B5-9EFD-B480EA98B075}" srcId="{3F77FD22-4791-4A16-B412-61C65B245B2B}" destId="{C3EC8914-5574-4DA9-970D-97BF63AD048C}" srcOrd="2" destOrd="0" parTransId="{B021248D-6314-4293-A5F2-B37E5FB61EEE}" sibTransId="{6FECF6E9-793B-4944-8EF2-8ED74B48353F}"/>
    <dgm:cxn modelId="{76734BB9-930D-4E6B-8782-59C21EAFCB93}" type="presOf" srcId="{C3EC8914-5574-4DA9-970D-97BF63AD048C}" destId="{95E3B1E8-0275-4959-A4D3-5436FA8E9502}" srcOrd="0" destOrd="0" presId="urn:microsoft.com/office/officeart/2024/layout/BulletTimeline"/>
    <dgm:cxn modelId="{0259ABBE-B2D2-48C5-9E46-8C631124AD99}" srcId="{C3EC8914-5574-4DA9-970D-97BF63AD048C}" destId="{C227E28B-E53F-463C-A0C8-27ED98DC2FF5}" srcOrd="0" destOrd="0" parTransId="{B6836E18-209A-4371-93D9-F252ABB09DDE}" sibTransId="{AF7D743E-198D-49F4-A4F9-307D81DA91F0}"/>
    <dgm:cxn modelId="{2750E8C1-D9CC-4F2D-B39B-D88C181F4484}" type="presOf" srcId="{4330C616-9AD9-40C0-894E-0B9EEA133E5D}" destId="{5323F872-B02E-4409-B3E2-829061873FCF}" srcOrd="0" destOrd="0" presId="urn:microsoft.com/office/officeart/2024/layout/BulletTimeline"/>
    <dgm:cxn modelId="{D325B9CF-78C8-4D34-B9DA-62282CF1EC63}" type="presOf" srcId="{3F77FD22-4791-4A16-B412-61C65B245B2B}" destId="{A1AD7A2F-D96D-4812-ABF8-1B17B497C3E6}" srcOrd="0" destOrd="0" presId="urn:microsoft.com/office/officeart/2024/layout/BulletTimeline"/>
    <dgm:cxn modelId="{58D26C5E-56FA-4056-97D2-6060ACD24E88}" type="presParOf" srcId="{A1AD7A2F-D96D-4812-ABF8-1B17B497C3E6}" destId="{CE82C4B6-B125-4877-8194-B70CED51A0E8}" srcOrd="0" destOrd="0" presId="urn:microsoft.com/office/officeart/2024/layout/BulletTimeline"/>
    <dgm:cxn modelId="{0434F10E-68A1-472B-82C6-3051395D5CC0}" type="presParOf" srcId="{CE82C4B6-B125-4877-8194-B70CED51A0E8}" destId="{023EF039-C452-43B7-9A6D-DDD122FF0312}" srcOrd="0" destOrd="0" presId="urn:microsoft.com/office/officeart/2024/layout/BulletTimeline"/>
    <dgm:cxn modelId="{42C2AD7D-9401-4C84-960A-D61D99725A29}" type="presParOf" srcId="{CE82C4B6-B125-4877-8194-B70CED51A0E8}" destId="{2AAACFFF-20B1-4302-AB36-F79DE37ADA55}" srcOrd="1" destOrd="0" presId="urn:microsoft.com/office/officeart/2024/layout/BulletTimeline"/>
    <dgm:cxn modelId="{49D8F00F-5521-4B12-BEBF-E5175A879353}" type="presParOf" srcId="{A1AD7A2F-D96D-4812-ABF8-1B17B497C3E6}" destId="{D31D8B76-6871-4118-9FF8-D53A25ACAA3B}" srcOrd="1" destOrd="0" presId="urn:microsoft.com/office/officeart/2024/layout/BulletTimeline"/>
    <dgm:cxn modelId="{8D989D22-07C4-43B5-8F3F-19198A06D0F8}" type="presParOf" srcId="{D31D8B76-6871-4118-9FF8-D53A25ACAA3B}" destId="{85DB558D-5DB3-4749-BB80-488054EFF691}" srcOrd="0" destOrd="0" presId="urn:microsoft.com/office/officeart/2024/layout/BulletTimeline"/>
    <dgm:cxn modelId="{FD574A56-0B4C-41DE-AA3C-D61D66BAC70D}" type="presParOf" srcId="{85DB558D-5DB3-4749-BB80-488054EFF691}" destId="{F4140B16-85C1-4A32-9FA9-637685B1ABB9}" srcOrd="0" destOrd="0" presId="urn:microsoft.com/office/officeart/2024/layout/BulletTimeline"/>
    <dgm:cxn modelId="{0FD6AA88-D06C-45D2-915F-C40B1B18AD8D}" type="presParOf" srcId="{F4140B16-85C1-4A32-9FA9-637685B1ABB9}" destId="{420C67FC-6BF4-40EB-A0F9-48B76796A40F}" srcOrd="0" destOrd="0" presId="urn:microsoft.com/office/officeart/2024/layout/BulletTimeline"/>
    <dgm:cxn modelId="{C9ED5888-E865-47EE-BD47-B2E6F2EC0D54}" type="presParOf" srcId="{F4140B16-85C1-4A32-9FA9-637685B1ABB9}" destId="{0243C258-8587-49E1-A4BD-F171A5BF6D79}" srcOrd="1" destOrd="0" presId="urn:microsoft.com/office/officeart/2024/layout/BulletTimeline"/>
    <dgm:cxn modelId="{C380162F-B2B6-4395-AD70-609553343BF1}" type="presParOf" srcId="{85DB558D-5DB3-4749-BB80-488054EFF691}" destId="{3C3A26B5-5EDA-497A-9469-037BC103D1CD}" srcOrd="1" destOrd="0" presId="urn:microsoft.com/office/officeart/2024/layout/BulletTimeline"/>
    <dgm:cxn modelId="{C2C5B3E7-EE5D-41C8-B719-FBB080ACF464}" type="presParOf" srcId="{85DB558D-5DB3-4749-BB80-488054EFF691}" destId="{5323F872-B02E-4409-B3E2-829061873FCF}" srcOrd="2" destOrd="0" presId="urn:microsoft.com/office/officeart/2024/layout/BulletTimeline"/>
    <dgm:cxn modelId="{77CD6101-DEE8-4065-B4EE-4E1A592F5BB7}" type="presParOf" srcId="{85DB558D-5DB3-4749-BB80-488054EFF691}" destId="{1284ACAB-7C4D-4696-A161-EA79D644F8F6}" srcOrd="3" destOrd="0" presId="urn:microsoft.com/office/officeart/2024/layout/BulletTimeline"/>
    <dgm:cxn modelId="{3997DA44-7AD4-4AB6-AE77-2AFBB3F78EC5}" type="presParOf" srcId="{85DB558D-5DB3-4749-BB80-488054EFF691}" destId="{B3C15432-A06E-4078-B76A-E6F1AB0D12C6}" srcOrd="4" destOrd="0" presId="urn:microsoft.com/office/officeart/2024/layout/BulletTimeline"/>
    <dgm:cxn modelId="{A555EC8E-248B-4CDE-8BC4-91D27A04B396}" type="presParOf" srcId="{B3C15432-A06E-4078-B76A-E6F1AB0D12C6}" destId="{AA94AC72-53CA-4B79-9E6B-95C3B09F2BF7}" srcOrd="0" destOrd="0" presId="urn:microsoft.com/office/officeart/2024/layout/BulletTimeline"/>
    <dgm:cxn modelId="{9CB26215-1528-41D1-B36C-A655DFECED94}" type="presParOf" srcId="{85DB558D-5DB3-4749-BB80-488054EFF691}" destId="{2FAC6054-84F3-4FEE-9FA3-F1A4923A7486}" srcOrd="5" destOrd="0" presId="urn:microsoft.com/office/officeart/2024/layout/BulletTimeline"/>
    <dgm:cxn modelId="{D2D3B10F-DEFD-4EAC-BB6A-AC4E82743E1A}" type="presParOf" srcId="{D31D8B76-6871-4118-9FF8-D53A25ACAA3B}" destId="{69A8855A-2505-445D-BEE6-5CD53D0C0DCD}" srcOrd="1" destOrd="0" presId="urn:microsoft.com/office/officeart/2024/layout/BulletTimeline"/>
    <dgm:cxn modelId="{CC22EA40-E6AA-4D66-A932-AD63D056E366}" type="presParOf" srcId="{D31D8B76-6871-4118-9FF8-D53A25ACAA3B}" destId="{94C2487A-D5E1-4C9B-929F-30B688E95496}" srcOrd="2" destOrd="0" presId="urn:microsoft.com/office/officeart/2024/layout/BulletTimeline"/>
    <dgm:cxn modelId="{2D9F9192-AB0B-4D01-91E7-4E43600BA85C}" type="presParOf" srcId="{94C2487A-D5E1-4C9B-929F-30B688E95496}" destId="{3C819C1F-998E-49DF-B614-4267A976FE8B}" srcOrd="0" destOrd="0" presId="urn:microsoft.com/office/officeart/2024/layout/BulletTimeline"/>
    <dgm:cxn modelId="{D90C9A35-E1D0-4E67-87A6-45ACF27809F1}" type="presParOf" srcId="{3C819C1F-998E-49DF-B614-4267A976FE8B}" destId="{2C7BF0E3-9250-4C2B-8B31-DDED835AE247}" srcOrd="0" destOrd="0" presId="urn:microsoft.com/office/officeart/2024/layout/BulletTimeline"/>
    <dgm:cxn modelId="{03DD3E12-361E-4B62-A38B-87A00069E12F}" type="presParOf" srcId="{3C819C1F-998E-49DF-B614-4267A976FE8B}" destId="{2569B0B2-EB27-459E-BB73-2CBC61DF8762}" srcOrd="1" destOrd="0" presId="urn:microsoft.com/office/officeart/2024/layout/BulletTimeline"/>
    <dgm:cxn modelId="{77955C09-09A7-4D4C-AC6D-F667376EA149}" type="presParOf" srcId="{94C2487A-D5E1-4C9B-929F-30B688E95496}" destId="{E4752BB2-D0B7-4AA4-AB56-CCAFD47CCCF2}" srcOrd="1" destOrd="0" presId="urn:microsoft.com/office/officeart/2024/layout/BulletTimeline"/>
    <dgm:cxn modelId="{6A25FEDC-0E9F-4943-9323-63C0768BBD43}" type="presParOf" srcId="{94C2487A-D5E1-4C9B-929F-30B688E95496}" destId="{1D340139-3BA7-4B4E-ACA5-E416F3C61656}" srcOrd="2" destOrd="0" presId="urn:microsoft.com/office/officeart/2024/layout/BulletTimeline"/>
    <dgm:cxn modelId="{D0C921EB-CF10-4C66-8A0D-F1D8FAB9B8F0}" type="presParOf" srcId="{94C2487A-D5E1-4C9B-929F-30B688E95496}" destId="{11F02311-18D9-4349-AEDF-8C5D8DEE623C}" srcOrd="3" destOrd="0" presId="urn:microsoft.com/office/officeart/2024/layout/BulletTimeline"/>
    <dgm:cxn modelId="{950E1C4F-1CCF-4CBC-B1B8-62C22C12F3CD}" type="presParOf" srcId="{94C2487A-D5E1-4C9B-929F-30B688E95496}" destId="{C28713F8-38B3-4526-A0FC-7CFEA09DED21}" srcOrd="4" destOrd="0" presId="urn:microsoft.com/office/officeart/2024/layout/BulletTimeline"/>
    <dgm:cxn modelId="{3F10E4C2-3E0E-4BB9-83DD-D7A53E9E6DDB}" type="presParOf" srcId="{C28713F8-38B3-4526-A0FC-7CFEA09DED21}" destId="{5AF360F6-7E54-4BBF-B5D6-EFF620A308F9}" srcOrd="0" destOrd="0" presId="urn:microsoft.com/office/officeart/2024/layout/BulletTimeline"/>
    <dgm:cxn modelId="{73B33754-FA6C-4591-BD55-FD0432ECEE96}" type="presParOf" srcId="{94C2487A-D5E1-4C9B-929F-30B688E95496}" destId="{5A0B1F00-D5C5-404D-B2A7-9A84500E581F}" srcOrd="5" destOrd="0" presId="urn:microsoft.com/office/officeart/2024/layout/BulletTimeline"/>
    <dgm:cxn modelId="{B511EBE5-39CE-4BE1-A9E9-9F8056D88956}" type="presParOf" srcId="{D31D8B76-6871-4118-9FF8-D53A25ACAA3B}" destId="{F0D82ACB-6A79-4AD6-978D-D4CAC481873E}" srcOrd="3" destOrd="0" presId="urn:microsoft.com/office/officeart/2024/layout/BulletTimeline"/>
    <dgm:cxn modelId="{0B1F3D02-C54A-44EE-BC25-0B87BF036B7D}" type="presParOf" srcId="{D31D8B76-6871-4118-9FF8-D53A25ACAA3B}" destId="{2699DA22-8492-4178-9843-61227D6454C6}" srcOrd="4" destOrd="0" presId="urn:microsoft.com/office/officeart/2024/layout/BulletTimeline"/>
    <dgm:cxn modelId="{7AAC3005-DEB2-4736-A0B7-4E0575AD58C2}" type="presParOf" srcId="{2699DA22-8492-4178-9843-61227D6454C6}" destId="{8D76D1F2-575A-4CEE-948C-65A3C39A3380}" srcOrd="0" destOrd="0" presId="urn:microsoft.com/office/officeart/2024/layout/BulletTimeline"/>
    <dgm:cxn modelId="{3A795785-1625-42CF-921A-89C3E1B5634D}" type="presParOf" srcId="{8D76D1F2-575A-4CEE-948C-65A3C39A3380}" destId="{5A981298-662A-4955-8664-107AE937B850}" srcOrd="0" destOrd="0" presId="urn:microsoft.com/office/officeart/2024/layout/BulletTimeline"/>
    <dgm:cxn modelId="{DADD3002-7546-42CA-9253-C01B12A6E9A7}" type="presParOf" srcId="{8D76D1F2-575A-4CEE-948C-65A3C39A3380}" destId="{15591AD9-E6A5-4043-BF37-D6784308C672}" srcOrd="1" destOrd="0" presId="urn:microsoft.com/office/officeart/2024/layout/BulletTimeline"/>
    <dgm:cxn modelId="{B2D2DAF0-21DF-406D-9092-B00AB58A8B27}" type="presParOf" srcId="{2699DA22-8492-4178-9843-61227D6454C6}" destId="{C92D679D-6F81-4DBB-BA78-E45FD09B3499}" srcOrd="1" destOrd="0" presId="urn:microsoft.com/office/officeart/2024/layout/BulletTimeline"/>
    <dgm:cxn modelId="{FF6A04C1-3F7A-43D0-A7C7-05B80F9DE677}" type="presParOf" srcId="{2699DA22-8492-4178-9843-61227D6454C6}" destId="{95E3B1E8-0275-4959-A4D3-5436FA8E9502}" srcOrd="2" destOrd="0" presId="urn:microsoft.com/office/officeart/2024/layout/BulletTimeline"/>
    <dgm:cxn modelId="{2DDA1C6E-6753-4B74-B83B-8098CD7BC3AA}" type="presParOf" srcId="{2699DA22-8492-4178-9843-61227D6454C6}" destId="{D608592C-70D9-46A9-B058-62ECC7A0BEEF}" srcOrd="3" destOrd="0" presId="urn:microsoft.com/office/officeart/2024/layout/BulletTimeline"/>
    <dgm:cxn modelId="{D7003AC1-9217-41CC-AF5C-5E019C8710E4}" type="presParOf" srcId="{2699DA22-8492-4178-9843-61227D6454C6}" destId="{CE635A9B-8381-4ADA-AC59-716C12A41013}" srcOrd="4" destOrd="0" presId="urn:microsoft.com/office/officeart/2024/layout/BulletTimeline"/>
    <dgm:cxn modelId="{1D5CC86B-4327-46B2-997E-D4B75A94CD94}" type="presParOf" srcId="{CE635A9B-8381-4ADA-AC59-716C12A41013}" destId="{E2A04EAF-FD07-460F-BEF7-CB5DE7F5A484}" srcOrd="0" destOrd="0" presId="urn:microsoft.com/office/officeart/2024/layout/BulletTimeline"/>
    <dgm:cxn modelId="{0935DC88-4FD6-431D-B720-E4AB478D1968}" type="presParOf" srcId="{2699DA22-8492-4178-9843-61227D6454C6}" destId="{3B77F63B-E309-4648-A7D1-D371D0DDC2E9}" srcOrd="5" destOrd="0" presId="urn:microsoft.com/office/officeart/2024/layout/BulletTimeline"/>
    <dgm:cxn modelId="{25BE320C-FBBB-4613-82CF-F67F38F72D05}" type="presParOf" srcId="{D31D8B76-6871-4118-9FF8-D53A25ACAA3B}" destId="{79DE27E7-70A4-4AE1-B7A3-F52C27FBD790}" srcOrd="5" destOrd="0" presId="urn:microsoft.com/office/officeart/2024/layout/BulletTimeline"/>
    <dgm:cxn modelId="{EE514E9D-6445-4ED9-8098-78EA3FBE6567}" type="presParOf" srcId="{D31D8B76-6871-4118-9FF8-D53A25ACAA3B}" destId="{D233A03D-D69D-45F6-AAC4-647E6F33968E}" srcOrd="6" destOrd="0" presId="urn:microsoft.com/office/officeart/2024/layout/BulletTimeline"/>
    <dgm:cxn modelId="{05AE0743-E87F-47D3-A743-7A8ABA69A7F4}" type="presParOf" srcId="{D233A03D-D69D-45F6-AAC4-647E6F33968E}" destId="{AE0C9CE0-8F29-475B-B4AE-102F5E4192BA}" srcOrd="0" destOrd="0" presId="urn:microsoft.com/office/officeart/2024/layout/BulletTimeline"/>
    <dgm:cxn modelId="{2A9448A5-63F5-494B-A359-BAEFC73CBAFA}" type="presParOf" srcId="{AE0C9CE0-8F29-475B-B4AE-102F5E4192BA}" destId="{2E052D20-4F34-4A28-9792-14C20787E6E7}" srcOrd="0" destOrd="0" presId="urn:microsoft.com/office/officeart/2024/layout/BulletTimeline"/>
    <dgm:cxn modelId="{E828E308-03F0-4370-A8A0-25763368C901}" type="presParOf" srcId="{AE0C9CE0-8F29-475B-B4AE-102F5E4192BA}" destId="{38C18F33-1952-4E54-9863-FA1963D788E4}" srcOrd="1" destOrd="0" presId="urn:microsoft.com/office/officeart/2024/layout/BulletTimeline"/>
    <dgm:cxn modelId="{7578012D-FA6A-4754-972F-4757E63CC97B}" type="presParOf" srcId="{D233A03D-D69D-45F6-AAC4-647E6F33968E}" destId="{45E8C2EC-E174-42CD-9AB3-680B969EF33A}" srcOrd="1" destOrd="0" presId="urn:microsoft.com/office/officeart/2024/layout/BulletTimeline"/>
    <dgm:cxn modelId="{A199DE4D-97FA-443E-8100-17971A931E8A}" type="presParOf" srcId="{D233A03D-D69D-45F6-AAC4-647E6F33968E}" destId="{000394F4-379D-44D3-83E0-4550EE550426}" srcOrd="2" destOrd="0" presId="urn:microsoft.com/office/officeart/2024/layout/BulletTimeline"/>
    <dgm:cxn modelId="{FE88A16C-6C53-42D1-80FB-F9EE8E9E61AE}" type="presParOf" srcId="{D233A03D-D69D-45F6-AAC4-647E6F33968E}" destId="{D081C9F7-F457-46D3-99C7-8C074532ACD3}" srcOrd="3" destOrd="0" presId="urn:microsoft.com/office/officeart/2024/layout/BulletTimeline"/>
    <dgm:cxn modelId="{944ACDF7-7F51-4B46-B953-6F7477675F88}" type="presParOf" srcId="{D233A03D-D69D-45F6-AAC4-647E6F33968E}" destId="{B030DD75-8552-4B77-8E24-BEDB28E3C80F}" srcOrd="4" destOrd="0" presId="urn:microsoft.com/office/officeart/2024/layout/BulletTimeline"/>
    <dgm:cxn modelId="{6962CCE1-592B-49F1-9955-9C3F92EB5930}" type="presParOf" srcId="{B030DD75-8552-4B77-8E24-BEDB28E3C80F}" destId="{B1CC72C1-4C88-40A4-9028-0280BFEF4572}" srcOrd="0" destOrd="0" presId="urn:microsoft.com/office/officeart/2024/layout/BulletTimeline"/>
    <dgm:cxn modelId="{6C1C2922-561C-47D3-8007-28545D143B96}" type="presParOf" srcId="{D233A03D-D69D-45F6-AAC4-647E6F33968E}" destId="{DF049698-ABFD-429B-B886-0CF3EB47A6C8}" srcOrd="5" destOrd="0" presId="urn:microsoft.com/office/officeart/2024/layout/Bullet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34D74F-13E6-4481-B055-882B6616F7A7}">
      <dsp:nvSpPr>
        <dsp:cNvPr id="0" name=""/>
        <dsp:cNvSpPr/>
      </dsp:nvSpPr>
      <dsp:spPr>
        <a:xfrm>
          <a:off x="239616" y="1819485"/>
          <a:ext cx="6232045" cy="4434793"/>
        </a:xfrm>
        <a:prstGeom prst="frame">
          <a:avLst>
            <a:gd name="adj1" fmla="val 5450"/>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645F4B-A600-4E76-AEC4-E846D0871452}">
      <dsp:nvSpPr>
        <dsp:cNvPr id="0" name=""/>
        <dsp:cNvSpPr/>
      </dsp:nvSpPr>
      <dsp:spPr>
        <a:xfrm>
          <a:off x="0" y="1288104"/>
          <a:ext cx="5992428" cy="4194927"/>
        </a:xfrm>
        <a:prstGeom prst="rect">
          <a:avLst/>
        </a:prstGeom>
        <a:blipFill>
          <a:blip xmlns:r="http://schemas.openxmlformats.org/officeDocument/2006/relationships" r:embed="rId1"/>
          <a:srcRect/>
          <a:stretch>
            <a:fillRect t="-21000" b="-2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6C13FB3-035B-4AC8-B99E-AB130FDA996C}">
      <dsp:nvSpPr>
        <dsp:cNvPr id="0" name=""/>
        <dsp:cNvSpPr/>
      </dsp:nvSpPr>
      <dsp:spPr>
        <a:xfrm>
          <a:off x="483260" y="5484521"/>
          <a:ext cx="5748785" cy="526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5120" tIns="121920" rIns="325120" bIns="121920" numCol="1" spcCol="1270" anchor="ctr" anchorCtr="0">
          <a:noAutofit/>
        </a:bodyPr>
        <a:lstStyle/>
        <a:p>
          <a:pPr marL="0" lvl="0" indent="0" algn="l" defTabSz="1422400">
            <a:lnSpc>
              <a:spcPct val="200000"/>
            </a:lnSpc>
            <a:spcBef>
              <a:spcPct val="0"/>
            </a:spcBef>
            <a:spcAft>
              <a:spcPct val="35000"/>
            </a:spcAft>
            <a:buNone/>
          </a:pPr>
          <a:endParaRPr lang="en-PH" sz="3200" kern="1200" dirty="0"/>
        </a:p>
      </dsp:txBody>
      <dsp:txXfrm>
        <a:off x="483260" y="5484521"/>
        <a:ext cx="5748785" cy="526414"/>
      </dsp:txXfrm>
    </dsp:sp>
    <dsp:sp modelId="{89CFBCC3-B74E-4632-834B-F20000258394}">
      <dsp:nvSpPr>
        <dsp:cNvPr id="0" name=""/>
        <dsp:cNvSpPr/>
      </dsp:nvSpPr>
      <dsp:spPr>
        <a:xfrm>
          <a:off x="6725373" y="1819485"/>
          <a:ext cx="2849222" cy="443479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BB6184-296C-464C-97F9-8AA09166FF62}">
      <dsp:nvSpPr>
        <dsp:cNvPr id="0" name=""/>
        <dsp:cNvSpPr/>
      </dsp:nvSpPr>
      <dsp:spPr>
        <a:xfrm>
          <a:off x="1088" y="398535"/>
          <a:ext cx="4244392" cy="25466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PH" sz="1900" kern="1200" dirty="0">
              <a:solidFill>
                <a:schemeClr val="bg1"/>
              </a:solidFill>
            </a:rPr>
            <a:t>Getting a normal person onto a blockchain is hard — wallets, seed phrases, gas fees, test net faucets. Every one of those is a place people quit. And the way we usually teach Web3 is passive.</a:t>
          </a:r>
          <a:endParaRPr lang="en-PH" sz="1900" kern="1200" dirty="0"/>
        </a:p>
      </dsp:txBody>
      <dsp:txXfrm>
        <a:off x="1088" y="398535"/>
        <a:ext cx="4244392" cy="2546635"/>
      </dsp:txXfrm>
    </dsp:sp>
    <dsp:sp modelId="{EBC60A75-07D4-4F02-8A3E-3BB531EB5D8E}">
      <dsp:nvSpPr>
        <dsp:cNvPr id="0" name=""/>
        <dsp:cNvSpPr/>
      </dsp:nvSpPr>
      <dsp:spPr>
        <a:xfrm>
          <a:off x="4669919" y="398535"/>
          <a:ext cx="4244392" cy="25466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PH" sz="1900" kern="1200" dirty="0">
              <a:solidFill>
                <a:schemeClr val="bg1"/>
              </a:solidFill>
            </a:rPr>
            <a:t>Meanwhile, casual word games — think Wordle — have proven that hundreds of millions of people will happily open a word puzzle every single day. Nobody has combined that habit with a real on-chain action. So onboarding funnels leak, and massive gaming audiences never even get exposed to blockchain.</a:t>
          </a:r>
          <a:endParaRPr lang="en-PH" sz="1900" kern="1200" dirty="0"/>
        </a:p>
      </dsp:txBody>
      <dsp:txXfrm>
        <a:off x="4669919" y="398535"/>
        <a:ext cx="4244392" cy="2546635"/>
      </dsp:txXfrm>
    </dsp:sp>
    <dsp:sp modelId="{E4CF0B5D-1B3D-4B30-B77E-3EF4FE5EEDB4}">
      <dsp:nvSpPr>
        <dsp:cNvPr id="0" name=""/>
        <dsp:cNvSpPr/>
      </dsp:nvSpPr>
      <dsp:spPr>
        <a:xfrm>
          <a:off x="1088" y="3369609"/>
          <a:ext cx="4244392" cy="25466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F9FAFB">
                  <a:alpha val="97647"/>
                </a:srgbClr>
              </a:solidFill>
              <a:latin typeface="DM Sans"/>
              <a:ea typeface="DM Sans"/>
              <a:cs typeface="DM Sans"/>
              <a:sym typeface="DM Sans"/>
            </a:rPr>
            <a:t>Many potential users feel overwhelmed by wallets, seed phrases, and other unfamiliar terms . We </a:t>
          </a:r>
          <a:r>
            <a:rPr lang="en-PH" sz="1900" kern="1200" dirty="0">
              <a:solidFill>
                <a:schemeClr val="bg1"/>
              </a:solidFill>
            </a:rPr>
            <a:t>hand people documentation and videos, but we never actually put a wallet in their hand and let them make a safe, low-stakes first transaction. </a:t>
          </a:r>
          <a:endParaRPr lang="en-PH" sz="1900" kern="1200" dirty="0"/>
        </a:p>
      </dsp:txBody>
      <dsp:txXfrm>
        <a:off x="1088" y="3369609"/>
        <a:ext cx="4244392" cy="2546635"/>
      </dsp:txXfrm>
    </dsp:sp>
    <dsp:sp modelId="{DFC58EE1-6D3F-45FE-BFA9-3F46EAC211A1}">
      <dsp:nvSpPr>
        <dsp:cNvPr id="0" name=""/>
        <dsp:cNvSpPr/>
      </dsp:nvSpPr>
      <dsp:spPr>
        <a:xfrm>
          <a:off x="4669919" y="3369609"/>
          <a:ext cx="4244392" cy="25466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F9FAFB">
                  <a:alpha val="97647"/>
                </a:srgbClr>
              </a:solidFill>
              <a:latin typeface="DM Sans"/>
              <a:ea typeface="DM Sans"/>
              <a:cs typeface="DM Sans"/>
              <a:sym typeface="DM Sans"/>
            </a:rPr>
            <a:t>Existing education content lacks engagement, making it difficult for users to experience blockchain interactions and leading to high drop-off rates in onboarding funnels.</a:t>
          </a:r>
          <a:endParaRPr lang="en-PH" sz="1900" kern="1200" dirty="0"/>
        </a:p>
      </dsp:txBody>
      <dsp:txXfrm>
        <a:off x="4669919" y="3369609"/>
        <a:ext cx="4244392" cy="25466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3EF039-C452-43B7-9A6D-DDD122FF0312}">
      <dsp:nvSpPr>
        <dsp:cNvPr id="0" name=""/>
        <dsp:cNvSpPr/>
      </dsp:nvSpPr>
      <dsp:spPr>
        <a:xfrm>
          <a:off x="0" y="3528220"/>
          <a:ext cx="9097937" cy="71277"/>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2AAACFFF-20B1-4302-AB36-F79DE37ADA55}">
      <dsp:nvSpPr>
        <dsp:cNvPr id="0" name=""/>
        <dsp:cNvSpPr/>
      </dsp:nvSpPr>
      <dsp:spPr>
        <a:xfrm>
          <a:off x="8706811" y="3278750"/>
          <a:ext cx="427663" cy="570217"/>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3C3A26B5-5EDA-497A-9469-037BC103D1CD}">
      <dsp:nvSpPr>
        <dsp:cNvPr id="0" name=""/>
        <dsp:cNvSpPr/>
      </dsp:nvSpPr>
      <dsp:spPr>
        <a:xfrm>
          <a:off x="846069" y="1625119"/>
          <a:ext cx="2807943" cy="1653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PH" sz="2400" b="1" i="0" kern="1200" dirty="0">
              <a:solidFill>
                <a:schemeClr val="bg1"/>
              </a:solidFill>
            </a:rPr>
            <a:t>- Scramble Board v2.0.0  </a:t>
          </a:r>
          <a:r>
            <a:rPr lang="en-PH" sz="2400" b="0" i="0" kern="1200" dirty="0">
              <a:solidFill>
                <a:schemeClr val="bg1"/>
              </a:solidFill>
            </a:rPr>
            <a:t> </a:t>
          </a:r>
        </a:p>
        <a:p>
          <a:pPr marL="0" lvl="0" indent="0" algn="l" defTabSz="1066800">
            <a:lnSpc>
              <a:spcPct val="90000"/>
            </a:lnSpc>
            <a:spcBef>
              <a:spcPct val="0"/>
            </a:spcBef>
            <a:spcAft>
              <a:spcPct val="35000"/>
            </a:spcAft>
            <a:buNone/>
          </a:pPr>
          <a:r>
            <a:rPr lang="en-PH" sz="2400" kern="1200" dirty="0">
              <a:solidFill>
                <a:schemeClr val="bg1"/>
              </a:solidFill>
            </a:rPr>
            <a:t>- </a:t>
          </a:r>
          <a:r>
            <a:rPr lang="en-PH" sz="2400" b="1" i="0" kern="1200" dirty="0">
              <a:solidFill>
                <a:schemeClr val="bg1"/>
              </a:solidFill>
            </a:rPr>
            <a:t>Feedback-driven UX fixes</a:t>
          </a:r>
          <a:endParaRPr lang="en-PH" sz="2400" kern="1200" dirty="0">
            <a:solidFill>
              <a:schemeClr val="bg1"/>
            </a:solidFill>
          </a:endParaRPr>
        </a:p>
      </dsp:txBody>
      <dsp:txXfrm>
        <a:off x="846069" y="1625119"/>
        <a:ext cx="2807943" cy="1653630"/>
      </dsp:txXfrm>
    </dsp:sp>
    <dsp:sp modelId="{5323F872-B02E-4409-B3E2-829061873FCF}">
      <dsp:nvSpPr>
        <dsp:cNvPr id="0" name=""/>
        <dsp:cNvSpPr/>
      </dsp:nvSpPr>
      <dsp:spPr>
        <a:xfrm>
          <a:off x="846069" y="769793"/>
          <a:ext cx="2807943" cy="855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r>
            <a:rPr lang="en-PH" sz="2800" b="1" i="0" kern="1200" dirty="0">
              <a:solidFill>
                <a:schemeClr val="bg1"/>
              </a:solidFill>
            </a:rPr>
            <a:t>Just shipped</a:t>
          </a:r>
          <a:endParaRPr lang="en-PH" sz="2800" kern="1200" dirty="0">
            <a:solidFill>
              <a:schemeClr val="bg1"/>
            </a:solidFill>
          </a:endParaRPr>
        </a:p>
      </dsp:txBody>
      <dsp:txXfrm>
        <a:off x="846069" y="769793"/>
        <a:ext cx="2807943" cy="855326"/>
      </dsp:txXfrm>
    </dsp:sp>
    <dsp:sp modelId="{1284ACAB-7C4D-4696-A161-EA79D644F8F6}">
      <dsp:nvSpPr>
        <dsp:cNvPr id="0" name=""/>
        <dsp:cNvSpPr/>
      </dsp:nvSpPr>
      <dsp:spPr>
        <a:xfrm>
          <a:off x="397187" y="712771"/>
          <a:ext cx="52809" cy="285108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752BB2-D0B7-4AA4-AB56-CCAFD47CCCF2}">
      <dsp:nvSpPr>
        <dsp:cNvPr id="0" name=""/>
        <dsp:cNvSpPr/>
      </dsp:nvSpPr>
      <dsp:spPr>
        <a:xfrm>
          <a:off x="6124576" y="5016340"/>
          <a:ext cx="2807943" cy="1340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PH" sz="2400" b="1" i="0" kern="1200" dirty="0">
              <a:solidFill>
                <a:schemeClr val="bg1"/>
              </a:solidFill>
            </a:rPr>
            <a:t>- On-chain vocabulary credentials</a:t>
          </a:r>
          <a:endParaRPr lang="en-PH" sz="2400" kern="1200" dirty="0">
            <a:solidFill>
              <a:schemeClr val="bg1"/>
            </a:solidFill>
          </a:endParaRPr>
        </a:p>
      </dsp:txBody>
      <dsp:txXfrm>
        <a:off x="6124576" y="5016340"/>
        <a:ext cx="2807943" cy="1340011"/>
      </dsp:txXfrm>
    </dsp:sp>
    <dsp:sp modelId="{1D340139-3BA7-4B4E-ACA5-E416F3C61656}">
      <dsp:nvSpPr>
        <dsp:cNvPr id="0" name=""/>
        <dsp:cNvSpPr/>
      </dsp:nvSpPr>
      <dsp:spPr>
        <a:xfrm>
          <a:off x="6124576" y="4132503"/>
          <a:ext cx="2807943" cy="8838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r>
            <a:rPr lang="en-PH" sz="2800" b="1" i="0" kern="1200" dirty="0">
              <a:solidFill>
                <a:schemeClr val="bg1"/>
              </a:solidFill>
            </a:rPr>
            <a:t>Long-term</a:t>
          </a:r>
          <a:endParaRPr lang="en-PH" sz="2000" kern="1200" dirty="0">
            <a:solidFill>
              <a:schemeClr val="bg1"/>
            </a:solidFill>
          </a:endParaRPr>
        </a:p>
      </dsp:txBody>
      <dsp:txXfrm>
        <a:off x="6124576" y="4132503"/>
        <a:ext cx="2807943" cy="883837"/>
      </dsp:txXfrm>
    </dsp:sp>
    <dsp:sp modelId="{11F02311-18D9-4349-AEDF-8C5D8DEE623C}">
      <dsp:nvSpPr>
        <dsp:cNvPr id="0" name=""/>
        <dsp:cNvSpPr/>
      </dsp:nvSpPr>
      <dsp:spPr>
        <a:xfrm>
          <a:off x="2223636" y="3563859"/>
          <a:ext cx="52809" cy="285108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94AC72-53CA-4B79-9E6B-95C3B09F2BF7}">
      <dsp:nvSpPr>
        <dsp:cNvPr id="0" name=""/>
        <dsp:cNvSpPr/>
      </dsp:nvSpPr>
      <dsp:spPr>
        <a:xfrm>
          <a:off x="286287" y="3426554"/>
          <a:ext cx="274610" cy="27461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F360F6-7E54-4BBF-B5D6-EFF620A308F9}">
      <dsp:nvSpPr>
        <dsp:cNvPr id="0" name=""/>
        <dsp:cNvSpPr/>
      </dsp:nvSpPr>
      <dsp:spPr>
        <a:xfrm>
          <a:off x="2112736" y="3426554"/>
          <a:ext cx="274610" cy="27461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2D679D-6F81-4DBB-BA78-E45FD09B3499}">
      <dsp:nvSpPr>
        <dsp:cNvPr id="0" name=""/>
        <dsp:cNvSpPr/>
      </dsp:nvSpPr>
      <dsp:spPr>
        <a:xfrm>
          <a:off x="4498967" y="1625119"/>
          <a:ext cx="2807943" cy="1653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bg1"/>
              </a:solidFill>
            </a:rPr>
            <a:t>- </a:t>
          </a:r>
          <a:r>
            <a:rPr lang="en-PH" sz="2400" b="1" i="0" kern="1200" dirty="0">
              <a:solidFill>
                <a:schemeClr val="bg1"/>
              </a:solidFill>
            </a:rPr>
            <a:t>Real multiplayer</a:t>
          </a:r>
        </a:p>
        <a:p>
          <a:pPr marL="0" lvl="0" indent="0" algn="l" defTabSz="1066800">
            <a:lnSpc>
              <a:spcPct val="90000"/>
            </a:lnSpc>
            <a:spcBef>
              <a:spcPct val="0"/>
            </a:spcBef>
            <a:spcAft>
              <a:spcPct val="35000"/>
            </a:spcAft>
            <a:buNone/>
          </a:pPr>
          <a:r>
            <a:rPr lang="en-US" sz="2400" kern="1200" dirty="0">
              <a:solidFill>
                <a:schemeClr val="bg1"/>
              </a:solidFill>
            </a:rPr>
            <a:t>- </a:t>
          </a:r>
          <a:r>
            <a:rPr lang="en-PH" sz="2400" b="1" i="0" kern="1200" dirty="0">
              <a:solidFill>
                <a:schemeClr val="bg1"/>
              </a:solidFill>
            </a:rPr>
            <a:t>Speedrun mode</a:t>
          </a:r>
        </a:p>
        <a:p>
          <a:pPr marL="0" lvl="0" indent="0" algn="l" defTabSz="1066800">
            <a:lnSpc>
              <a:spcPct val="90000"/>
            </a:lnSpc>
            <a:spcBef>
              <a:spcPct val="0"/>
            </a:spcBef>
            <a:spcAft>
              <a:spcPct val="35000"/>
            </a:spcAft>
            <a:buNone/>
          </a:pPr>
          <a:r>
            <a:rPr lang="en-US" sz="2400" kern="1200" dirty="0">
              <a:solidFill>
                <a:schemeClr val="bg1"/>
              </a:solidFill>
            </a:rPr>
            <a:t>- </a:t>
          </a:r>
          <a:r>
            <a:rPr lang="en-PH" sz="2400" b="1" i="0" kern="1200" dirty="0">
              <a:solidFill>
                <a:schemeClr val="bg1"/>
              </a:solidFill>
            </a:rPr>
            <a:t>Difficulty Scaling</a:t>
          </a:r>
          <a:endParaRPr lang="en-PH" sz="2400" kern="1200" dirty="0">
            <a:solidFill>
              <a:schemeClr val="bg1"/>
            </a:solidFill>
          </a:endParaRPr>
        </a:p>
      </dsp:txBody>
      <dsp:txXfrm>
        <a:off x="4498967" y="1625119"/>
        <a:ext cx="2807943" cy="1653630"/>
      </dsp:txXfrm>
    </dsp:sp>
    <dsp:sp modelId="{95E3B1E8-0275-4959-A4D3-5436FA8E9502}">
      <dsp:nvSpPr>
        <dsp:cNvPr id="0" name=""/>
        <dsp:cNvSpPr/>
      </dsp:nvSpPr>
      <dsp:spPr>
        <a:xfrm>
          <a:off x="4498967" y="769793"/>
          <a:ext cx="2807943" cy="855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r>
            <a:rPr lang="en-PH" sz="2800" b="1" i="0" kern="1200" dirty="0">
              <a:solidFill>
                <a:schemeClr val="bg1"/>
              </a:solidFill>
            </a:rPr>
            <a:t>Near-term</a:t>
          </a:r>
          <a:endParaRPr lang="en-PH" sz="2800" kern="1200" dirty="0">
            <a:solidFill>
              <a:schemeClr val="bg1"/>
            </a:solidFill>
          </a:endParaRPr>
        </a:p>
      </dsp:txBody>
      <dsp:txXfrm>
        <a:off x="4498967" y="769793"/>
        <a:ext cx="2807943" cy="855326"/>
      </dsp:txXfrm>
    </dsp:sp>
    <dsp:sp modelId="{D608592C-70D9-46A9-B058-62ECC7A0BEEF}">
      <dsp:nvSpPr>
        <dsp:cNvPr id="0" name=""/>
        <dsp:cNvSpPr/>
      </dsp:nvSpPr>
      <dsp:spPr>
        <a:xfrm>
          <a:off x="4050085" y="712771"/>
          <a:ext cx="52809" cy="285108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E8C2EC-E174-42CD-9AB3-680B969EF33A}">
      <dsp:nvSpPr>
        <dsp:cNvPr id="0" name=""/>
        <dsp:cNvSpPr/>
      </dsp:nvSpPr>
      <dsp:spPr>
        <a:xfrm>
          <a:off x="2619380" y="5035149"/>
          <a:ext cx="2807943" cy="1340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PH" sz="2400" b="1" i="0" kern="1200" dirty="0">
              <a:solidFill>
                <a:schemeClr val="bg1"/>
              </a:solidFill>
            </a:rPr>
            <a:t>- Weekly Arena</a:t>
          </a:r>
        </a:p>
        <a:p>
          <a:pPr marL="0" lvl="0" indent="0" algn="l" defTabSz="1066800">
            <a:lnSpc>
              <a:spcPct val="90000"/>
            </a:lnSpc>
            <a:spcBef>
              <a:spcPct val="0"/>
            </a:spcBef>
            <a:spcAft>
              <a:spcPct val="35000"/>
            </a:spcAft>
            <a:buNone/>
          </a:pPr>
          <a:r>
            <a:rPr lang="en-PH" sz="2400" b="1" i="0" kern="1200" dirty="0">
              <a:solidFill>
                <a:schemeClr val="bg1"/>
              </a:solidFill>
            </a:rPr>
            <a:t>- Category Rush</a:t>
          </a:r>
        </a:p>
        <a:p>
          <a:pPr marL="0" lvl="0" indent="0" algn="l" defTabSz="1066800">
            <a:lnSpc>
              <a:spcPct val="90000"/>
            </a:lnSpc>
            <a:spcBef>
              <a:spcPct val="0"/>
            </a:spcBef>
            <a:spcAft>
              <a:spcPct val="35000"/>
            </a:spcAft>
            <a:buNone/>
          </a:pPr>
          <a:r>
            <a:rPr lang="en-PH" sz="2400" b="1" i="0" kern="1200" dirty="0">
              <a:solidFill>
                <a:schemeClr val="bg1"/>
              </a:solidFill>
            </a:rPr>
            <a:t>- Streak Freeze</a:t>
          </a:r>
          <a:endParaRPr lang="en-PH" sz="2400" kern="1200" dirty="0">
            <a:solidFill>
              <a:schemeClr val="bg1"/>
            </a:solidFill>
          </a:endParaRPr>
        </a:p>
      </dsp:txBody>
      <dsp:txXfrm>
        <a:off x="2619380" y="5035149"/>
        <a:ext cx="2807943" cy="1340011"/>
      </dsp:txXfrm>
    </dsp:sp>
    <dsp:sp modelId="{000394F4-379D-44D3-83E0-4550EE550426}">
      <dsp:nvSpPr>
        <dsp:cNvPr id="0" name=""/>
        <dsp:cNvSpPr/>
      </dsp:nvSpPr>
      <dsp:spPr>
        <a:xfrm>
          <a:off x="2619380" y="4151311"/>
          <a:ext cx="2807943" cy="8838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r>
            <a:rPr lang="en-PH" sz="2800" b="1" i="0" kern="1200" dirty="0">
              <a:solidFill>
                <a:schemeClr val="bg1"/>
              </a:solidFill>
            </a:rPr>
            <a:t>Mid-term</a:t>
          </a:r>
          <a:endParaRPr lang="en-PH" sz="2800" kern="1200" dirty="0">
            <a:solidFill>
              <a:schemeClr val="bg1"/>
            </a:solidFill>
          </a:endParaRPr>
        </a:p>
      </dsp:txBody>
      <dsp:txXfrm>
        <a:off x="2619380" y="4151311"/>
        <a:ext cx="2807943" cy="883837"/>
      </dsp:txXfrm>
    </dsp:sp>
    <dsp:sp modelId="{D081C9F7-F457-46D3-99C7-8C074532ACD3}">
      <dsp:nvSpPr>
        <dsp:cNvPr id="0" name=""/>
        <dsp:cNvSpPr/>
      </dsp:nvSpPr>
      <dsp:spPr>
        <a:xfrm>
          <a:off x="5876534" y="3563859"/>
          <a:ext cx="52809" cy="285108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A04EAF-FD07-460F-BEF7-CB5DE7F5A484}">
      <dsp:nvSpPr>
        <dsp:cNvPr id="0" name=""/>
        <dsp:cNvSpPr/>
      </dsp:nvSpPr>
      <dsp:spPr>
        <a:xfrm>
          <a:off x="3939185" y="3426554"/>
          <a:ext cx="274610" cy="27461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CC72C1-4C88-40A4-9028-0280BFEF4572}">
      <dsp:nvSpPr>
        <dsp:cNvPr id="0" name=""/>
        <dsp:cNvSpPr/>
      </dsp:nvSpPr>
      <dsp:spPr>
        <a:xfrm>
          <a:off x="5765634" y="3426554"/>
          <a:ext cx="274610" cy="27461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24/layout/BulletTimeline">
  <dgm:title val=""/>
  <dgm:desc val=""/>
  <dgm:catLst>
    <dgm:cat type="process" pri="7450"/>
    <dgm:cat type="timeline" pri="100"/>
  </dgm:catLst>
  <dgm:sampData>
    <dgm:dataModel>
      <dgm:ptLst>
        <dgm:pt modelId="0" type="doc"/>
        <dgm:pt modelId="10">
          <dgm:prSet phldrT="Add an event" phldr="1">
            <dgm:extLst>
              <a:ext uri="{C7F2D5A4-9E3B-4C8F-A7D2-1F8E9B6C4A30}">
                <msodIdLoc:phldrLoc xmlns:msodIdLoc="http://schemas.microsoft.com/office/drawing/2026/04/diagram/placeholderloc" id="msoidsIgxTimelineAddEvent"/>
              </a:ext>
            </dgm:extLst>
          </dgm:prSet>
        </dgm:pt>
        <dgm:pt modelId="1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20">
          <dgm:prSet phldrT="Add an event" phldr="1">
            <dgm:extLst>
              <a:ext uri="{C7F2D5A4-9E3B-4C8F-A7D2-1F8E9B6C4A30}">
                <msodIdLoc:phldrLoc xmlns:msodIdLoc="http://schemas.microsoft.com/office/drawing/2026/04/diagram/placeholderloc" id="msoidsIgxTimelineAddEvent"/>
              </a:ext>
            </dgm:extLst>
          </dgm:prSet>
        </dgm:pt>
        <dgm:pt modelId="2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30">
          <dgm:prSet phldrT="Add an event" phldr="1">
            <dgm:extLst>
              <a:ext uri="{C7F2D5A4-9E3B-4C8F-A7D2-1F8E9B6C4A30}">
                <msodIdLoc:phldrLoc xmlns:msodIdLoc="http://schemas.microsoft.com/office/drawing/2026/04/diagram/placeholderloc" id="msoidsIgxTimelineAddEvent"/>
              </a:ext>
            </dgm:extLst>
          </dgm:prSet>
        </dgm:pt>
        <dgm:pt modelId="3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40">
          <dgm:prSet phldrT="Add an event" phldr="1">
            <dgm:extLst>
              <a:ext uri="{C7F2D5A4-9E3B-4C8F-A7D2-1F8E9B6C4A30}">
                <msodIdLoc:phldrLoc xmlns:msodIdLoc="http://schemas.microsoft.com/office/drawing/2026/04/diagram/placeholderloc" id="msoidsIgxTimelineAddEvent"/>
              </a:ext>
            </dgm:extLst>
          </dgm:prSet>
        </dgm:pt>
        <dgm:pt modelId="4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50">
          <dgm:prSet phldrT="Add an event" phldr="1">
            <dgm:extLst>
              <a:ext uri="{C7F2D5A4-9E3B-4C8F-A7D2-1F8E9B6C4A30}">
                <msodIdLoc:phldrLoc xmlns:msodIdLoc="http://schemas.microsoft.com/office/drawing/2026/04/diagram/placeholderloc" id="msoidsIgxTimelineAddEvent"/>
              </a:ext>
            </dgm:extLst>
          </dgm:prSet>
        </dgm:pt>
        <dgm:pt modelId="5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321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I'm Johnrick Rabara. What if the very first blockchain transaction someone ever makes wasn't a scary DeFi swap — but solving a word puzzle? This is Word Scramble: a retro word game where every score you earn is a real transaction on the Stellar blockchain. It's live right now, anyone can play it in a browser, and today I'll show you how it turns casual gamers into on-chain users.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problem. Getting a normal person onto a blockchain is hard — wallets, seed phrases, gas fees, testnet faucets. Every one of those is a place people quit. And the way we usually teach Web3 is passive: we hand people docs and videos, but never put a wallet in their hand for a safe, low-stakes first transaction. Meanwhile casual word games like Wordle prove hundreds of millions will open a puzzle every day. Nobody has combined that habit with a real on-chain action — so onboarding funnels leak and huge gaming audiences never try blockchain.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solution: make the blockchain invisible until the moment it delights you. You drag tiles, solve a word, and hit submit — and that submit is a real smart-contract call on Stellar, verifiable on Stellar Expert. Under the hood two contracts talk to each other: the leaderboard contract auto-calls a reward contract that mints a badge — Bronze, Silver, Gold, or Legend — in one transaction. Four wallets are supported, new accounts auto-fund via Friendbot, first-timers get a guided walkthrough, and a live event stream lights up whenever anyone submits a score.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now, and why this? Casual word games are one of the most durable categories in gaming — Wordle turned a single mechanic into a daily habit for millions. At the same time, Stellar's mission is consumer financial inclusion — lowering the barrier for non-technical people. Word Scramble sits exactly at that intersection: it takes an audience that already loves word games and gives them a safe on-ramp to Web3. And because our expansion modes copy mechanics that already work, our growth path is de-risked.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Architecturally this is deliberately lean. The whole front end is vanilla HTML, CSS, and JavaScript — no backend, no build step — served as a static site. One file, stellar.js, bridges the game to two Soroban contracts via the Stellar SDK and Stellar Wallets Kit. On submit, the contract writes to a top-ten leaderboard only if you beat your best, then mints your badge in the same flow. The front end polls every five seconds so every tab sees new scores live. CI runs on GitHub Actions on every push, and privacy-friendly analytics track real usage.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Growth runs as a repeatable loop: recruit a player, they connect a wallet, submit a score on-chain, and we independently verify that transaction against Stellar's ledger — so our numbers aren't self-reported, they're cryptographically backed. We scaled from ten verified users to fifty-one, with a hundred and eighty-two real transactions and a hundred percent verification rate. Retention is built in — the game invites feedback right after your first score, and that loop has already shipped real fixes. Our next modes reuse systems we've already built.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my favorite slide, because it proves the loop closes. Testers said the hint button was confusing — we renamed it to a clear Definition button. Several asked for a bigger, persistent, Scrabble-style board — so we built Scramble Board, a two-to-four-player fifteen-by-fifteen tile game, shipped as version two-point-oh. Ahead: moving the daily leaderboard fully on-chain with streaks and fair commit-reveal, adding seasons and profiles, a timed Speedrun mode, and long-term, evolving these badges into verifiable vocabulary credentials schools could recognize.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the numbers — this is live, and the traction is real and verified: fifty-one distinct users, every wallet independently cross-checked on Stellar Horizon for a genuine submit_score, a hundred percent verification rate across a hundred and eighty-two transactions. Players rate it four-point-eight out of five, and fifty-one of fifty-two say they'd play again. It's all open source with a passing CI pipeline, plus a full walkthrough video of the entire flow.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my ask is simple: go to word-scramble-v1.surge.sh, solve one word, and you'll have made your first blockchain transaction without even realizing it. That's how we onboard the next million users to Stellar.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sv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png"/><Relationship Id="rId9" Type="http://schemas.microsoft.com/office/2007/relationships/diagramDrawing" Target="../diagrams/drawing1.xml"/></Relationships>
</file>

<file path=ppt/slides/_rels/slide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sv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4" name="TextBox 4"/>
          <p:cNvSpPr txBox="1"/>
          <p:nvPr/>
        </p:nvSpPr>
        <p:spPr>
          <a:xfrm>
            <a:off x="666750" y="3771688"/>
            <a:ext cx="10067925" cy="3008140"/>
          </a:xfrm>
          <a:prstGeom prst="rect">
            <a:avLst/>
          </a:prstGeom>
        </p:spPr>
        <p:txBody>
          <a:bodyPr lIns="0" tIns="0" rIns="0" bIns="0" rtlCol="0" anchor="t">
            <a:spAutoFit/>
          </a:bodyPr>
          <a:lstStyle/>
          <a:p>
            <a:pPr marL="0" lvl="0" indent="0" algn="ctr">
              <a:lnSpc>
                <a:spcPts val="11555"/>
              </a:lnSpc>
            </a:pPr>
            <a:r>
              <a:rPr lang="en-US" sz="11555" spc="-346" dirty="0">
                <a:solidFill>
                  <a:srgbClr val="F9FAFB"/>
                </a:solidFill>
                <a:latin typeface="DM Sans"/>
                <a:ea typeface="DM Sans"/>
                <a:cs typeface="DM Sans"/>
                <a:sym typeface="DM Sans"/>
              </a:rPr>
              <a:t>Gamified Web3 Onboarding</a:t>
            </a:r>
          </a:p>
        </p:txBody>
      </p:sp>
      <p:grpSp>
        <p:nvGrpSpPr>
          <p:cNvPr id="5" name="Group 5"/>
          <p:cNvGrpSpPr/>
          <p:nvPr/>
        </p:nvGrpSpPr>
        <p:grpSpPr>
          <a:xfrm>
            <a:off x="9112045" y="7538808"/>
            <a:ext cx="2531157" cy="977161"/>
            <a:chOff x="0" y="95255"/>
            <a:chExt cx="3374876" cy="1302882"/>
          </a:xfrm>
        </p:grpSpPr>
        <p:grpSp>
          <p:nvGrpSpPr>
            <p:cNvPr id="6" name="Group 6"/>
            <p:cNvGrpSpPr/>
            <p:nvPr/>
          </p:nvGrpSpPr>
          <p:grpSpPr>
            <a:xfrm>
              <a:off x="0" y="452517"/>
              <a:ext cx="2997536" cy="803206"/>
              <a:chOff x="0" y="0"/>
              <a:chExt cx="677333" cy="181495"/>
            </a:xfrm>
          </p:grpSpPr>
          <p:sp>
            <p:nvSpPr>
              <p:cNvPr id="7" name="Freeform 7"/>
              <p:cNvSpPr/>
              <p:nvPr/>
            </p:nvSpPr>
            <p:spPr>
              <a:xfrm>
                <a:off x="0" y="0"/>
                <a:ext cx="677333" cy="181495"/>
              </a:xfrm>
              <a:custGeom>
                <a:avLst/>
                <a:gdLst/>
                <a:ahLst/>
                <a:cxnLst/>
                <a:rect l="l" t="t" r="r" b="b"/>
                <a:pathLst>
                  <a:path w="677333" h="181495">
                    <a:moveTo>
                      <a:pt x="90748" y="0"/>
                    </a:moveTo>
                    <a:lnTo>
                      <a:pt x="586586" y="0"/>
                    </a:lnTo>
                    <a:cubicBezTo>
                      <a:pt x="636704" y="0"/>
                      <a:pt x="677333" y="40629"/>
                      <a:pt x="677333" y="90748"/>
                    </a:cubicBezTo>
                    <a:lnTo>
                      <a:pt x="677333" y="90748"/>
                    </a:lnTo>
                    <a:cubicBezTo>
                      <a:pt x="677333" y="114815"/>
                      <a:pt x="667772" y="137897"/>
                      <a:pt x="650754" y="154916"/>
                    </a:cubicBezTo>
                    <a:cubicBezTo>
                      <a:pt x="633736" y="171934"/>
                      <a:pt x="610654" y="181495"/>
                      <a:pt x="586586" y="181495"/>
                    </a:cubicBezTo>
                    <a:lnTo>
                      <a:pt x="90748" y="181495"/>
                    </a:lnTo>
                    <a:cubicBezTo>
                      <a:pt x="66680" y="181495"/>
                      <a:pt x="43598" y="171934"/>
                      <a:pt x="26579" y="154916"/>
                    </a:cubicBezTo>
                    <a:cubicBezTo>
                      <a:pt x="9561" y="137897"/>
                      <a:pt x="0" y="114815"/>
                      <a:pt x="0" y="90748"/>
                    </a:cubicBezTo>
                    <a:lnTo>
                      <a:pt x="0" y="90748"/>
                    </a:lnTo>
                    <a:cubicBezTo>
                      <a:pt x="0" y="66680"/>
                      <a:pt x="9561" y="43598"/>
                      <a:pt x="26579" y="26579"/>
                    </a:cubicBezTo>
                    <a:cubicBezTo>
                      <a:pt x="43598" y="9561"/>
                      <a:pt x="66680" y="0"/>
                      <a:pt x="90748" y="0"/>
                    </a:cubicBezTo>
                    <a:close/>
                  </a:path>
                </a:pathLst>
              </a:custGeom>
              <a:solidFill>
                <a:srgbClr val="6366F1"/>
              </a:solidFill>
            </p:spPr>
            <p:txBody>
              <a:bodyPr/>
              <a:lstStyle/>
              <a:p>
                <a:endParaRPr/>
              </a:p>
            </p:txBody>
          </p:sp>
          <p:sp>
            <p:nvSpPr>
              <p:cNvPr id="8" name="TextBox 8"/>
              <p:cNvSpPr txBox="1"/>
              <p:nvPr/>
            </p:nvSpPr>
            <p:spPr>
              <a:xfrm>
                <a:off x="0" y="0"/>
                <a:ext cx="677333" cy="181495"/>
              </a:xfrm>
              <a:prstGeom prst="rect">
                <a:avLst/>
              </a:prstGeom>
            </p:spPr>
            <p:txBody>
              <a:bodyPr lIns="44408" tIns="44408" rIns="44408" bIns="44408" rtlCol="0" anchor="ctr"/>
              <a:lstStyle/>
              <a:p>
                <a:pPr algn="ctr">
                  <a:lnSpc>
                    <a:spcPts val="2879"/>
                  </a:lnSpc>
                </a:pPr>
                <a:endParaRPr/>
              </a:p>
            </p:txBody>
          </p:sp>
        </p:grpSp>
        <p:sp>
          <p:nvSpPr>
            <p:cNvPr id="9" name="Freeform 9"/>
            <p:cNvSpPr/>
            <p:nvPr/>
          </p:nvSpPr>
          <p:spPr>
            <a:xfrm rot="-2700000">
              <a:off x="2906402" y="95255"/>
              <a:ext cx="468474" cy="480551"/>
            </a:xfrm>
            <a:custGeom>
              <a:avLst/>
              <a:gdLst/>
              <a:ahLst/>
              <a:cxnLst/>
              <a:rect l="l" t="t" r="r" b="b"/>
              <a:pathLst>
                <a:path w="468474" h="480551">
                  <a:moveTo>
                    <a:pt x="0" y="0"/>
                  </a:moveTo>
                  <a:lnTo>
                    <a:pt x="468473" y="0"/>
                  </a:lnTo>
                  <a:lnTo>
                    <a:pt x="468473" y="480551"/>
                  </a:lnTo>
                  <a:lnTo>
                    <a:pt x="0" y="4805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0" name="TextBox 10"/>
            <p:cNvSpPr txBox="1"/>
            <p:nvPr/>
          </p:nvSpPr>
          <p:spPr>
            <a:xfrm>
              <a:off x="202776" y="671062"/>
              <a:ext cx="2602332" cy="727075"/>
            </a:xfrm>
            <a:prstGeom prst="rect">
              <a:avLst/>
            </a:prstGeom>
          </p:spPr>
          <p:txBody>
            <a:bodyPr lIns="0" tIns="0" rIns="0" bIns="0" rtlCol="0" anchor="t">
              <a:spAutoFit/>
            </a:bodyPr>
            <a:lstStyle/>
            <a:p>
              <a:pPr marL="0" lvl="0" indent="0" algn="ctr">
                <a:lnSpc>
                  <a:spcPts val="2199"/>
                </a:lnSpc>
                <a:spcBef>
                  <a:spcPct val="0"/>
                </a:spcBef>
              </a:pPr>
              <a:r>
                <a:rPr lang="en-US" sz="1832" dirty="0">
                  <a:solidFill>
                    <a:srgbClr val="F9FAFB"/>
                  </a:solidFill>
                  <a:latin typeface="DM Sans"/>
                  <a:ea typeface="DM Sans"/>
                  <a:cs typeface="DM Sans"/>
                  <a:sym typeface="DM Sans"/>
                </a:rPr>
                <a:t>Johnrick Rabara</a:t>
              </a:r>
            </a:p>
          </p:txBody>
        </p:sp>
      </p:grpSp>
      <p:sp>
        <p:nvSpPr>
          <p:cNvPr id="11" name="TextBox 11"/>
          <p:cNvSpPr txBox="1"/>
          <p:nvPr/>
        </p:nvSpPr>
        <p:spPr>
          <a:xfrm>
            <a:off x="2105025" y="9394750"/>
            <a:ext cx="6886575" cy="390525"/>
          </a:xfrm>
          <a:prstGeom prst="rect">
            <a:avLst/>
          </a:prstGeom>
        </p:spPr>
        <p:txBody>
          <a:bodyPr lIns="0" tIns="0" rIns="0" bIns="0" rtlCol="0" anchor="t">
            <a:spAutoFit/>
          </a:bodyPr>
          <a:lstStyle/>
          <a:p>
            <a:pPr marL="0" lvl="0" indent="0" algn="ctr">
              <a:lnSpc>
                <a:spcPts val="3184"/>
              </a:lnSpc>
            </a:pPr>
            <a:r>
              <a:rPr lang="en-US" sz="2653">
                <a:solidFill>
                  <a:srgbClr val="F9FAFB"/>
                </a:solidFill>
                <a:latin typeface="DM Sans"/>
                <a:ea typeface="DM Sans"/>
                <a:cs typeface="DM Sans"/>
                <a:sym typeface="DM Sans"/>
              </a:rPr>
              <a:t>July 2026</a:t>
            </a:r>
          </a:p>
        </p:txBody>
      </p:sp>
      <p:sp>
        <p:nvSpPr>
          <p:cNvPr id="12" name="TextBox 12"/>
          <p:cNvSpPr txBox="1"/>
          <p:nvPr/>
        </p:nvSpPr>
        <p:spPr>
          <a:xfrm>
            <a:off x="2105025" y="476250"/>
            <a:ext cx="6886575" cy="390525"/>
          </a:xfrm>
          <a:prstGeom prst="rect">
            <a:avLst/>
          </a:prstGeom>
        </p:spPr>
        <p:txBody>
          <a:bodyPr lIns="0" tIns="0" rIns="0" bIns="0" rtlCol="0" anchor="t">
            <a:spAutoFit/>
          </a:bodyPr>
          <a:lstStyle/>
          <a:p>
            <a:pPr marL="0" lvl="0" indent="0" algn="ctr">
              <a:lnSpc>
                <a:spcPts val="3184"/>
              </a:lnSpc>
            </a:pPr>
            <a:r>
              <a:rPr lang="en-US" sz="2653">
                <a:solidFill>
                  <a:srgbClr val="F9FAFB"/>
                </a:solidFill>
                <a:latin typeface="DM Sans"/>
                <a:ea typeface="DM Sans"/>
                <a:cs typeface="DM Sans"/>
                <a:sym typeface="DM Sans"/>
              </a:rPr>
              <a:t>Word Scramble</a:t>
            </a:r>
          </a:p>
        </p:txBody>
      </p:sp>
      <p:pic>
        <p:nvPicPr>
          <p:cNvPr id="16" name="Picture 15">
            <a:extLst>
              <a:ext uri="{FF2B5EF4-FFF2-40B4-BE49-F238E27FC236}">
                <a16:creationId xmlns:a16="http://schemas.microsoft.com/office/drawing/2014/main" id="{185F034A-5BD5-1E1F-BDB0-E2107025DE1C}"/>
              </a:ext>
            </a:extLst>
          </p:cNvPr>
          <p:cNvPicPr>
            <a:picLocks noChangeAspect="1"/>
          </p:cNvPicPr>
          <p:nvPr/>
        </p:nvPicPr>
        <p:blipFill>
          <a:blip r:embed="rId4"/>
          <a:stretch>
            <a:fillRect/>
          </a:stretch>
        </p:blipFill>
        <p:spPr>
          <a:xfrm>
            <a:off x="3255015" y="1507897"/>
            <a:ext cx="5126985" cy="1912661"/>
          </a:xfrm>
          <a:prstGeom prst="rect">
            <a:avLst/>
          </a:prstGeom>
        </p:spPr>
      </p:pic>
      <p:graphicFrame>
        <p:nvGraphicFramePr>
          <p:cNvPr id="18" name="Diagram 17">
            <a:extLst>
              <a:ext uri="{FF2B5EF4-FFF2-40B4-BE49-F238E27FC236}">
                <a16:creationId xmlns:a16="http://schemas.microsoft.com/office/drawing/2014/main" id="{1C439B04-ECD3-C341-062F-8B0CD91EBDF0}"/>
              </a:ext>
            </a:extLst>
          </p:cNvPr>
          <p:cNvGraphicFramePr/>
          <p:nvPr>
            <p:extLst>
              <p:ext uri="{D42A27DB-BD31-4B8C-83A1-F6EECF244321}">
                <p14:modId xmlns:p14="http://schemas.microsoft.com/office/powerpoint/2010/main" val="1500236474"/>
              </p:ext>
            </p:extLst>
          </p:nvPr>
        </p:nvGraphicFramePr>
        <p:xfrm>
          <a:off x="11360195" y="866775"/>
          <a:ext cx="10067925" cy="754238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2" name="TextBox 2"/>
          <p:cNvSpPr txBox="1"/>
          <p:nvPr/>
        </p:nvSpPr>
        <p:spPr>
          <a:xfrm>
            <a:off x="571500" y="1422081"/>
            <a:ext cx="17868900" cy="1209675"/>
          </a:xfrm>
          <a:prstGeom prst="rect">
            <a:avLst/>
          </a:prstGeom>
        </p:spPr>
        <p:txBody>
          <a:bodyPr wrap="square" lIns="0" tIns="0" rIns="0" bIns="0" rtlCol="0" anchor="t">
            <a:spAutoFit/>
          </a:bodyPr>
          <a:lstStyle/>
          <a:p>
            <a:pPr marL="0" lvl="0" indent="0" algn="l">
              <a:lnSpc>
                <a:spcPts val="9000"/>
              </a:lnSpc>
            </a:pPr>
            <a:r>
              <a:rPr lang="en-US" sz="9000" spc="-270" dirty="0">
                <a:solidFill>
                  <a:srgbClr val="F9FAFB"/>
                </a:solidFill>
                <a:latin typeface="DM Sans"/>
                <a:ea typeface="DM Sans"/>
                <a:cs typeface="DM Sans"/>
                <a:sym typeface="DM Sans"/>
              </a:rPr>
              <a:t>Challenges in Web3 Onboarding</a:t>
            </a:r>
          </a:p>
        </p:txBody>
      </p:sp>
      <p:sp>
        <p:nvSpPr>
          <p:cNvPr id="3" name="TextBox 3"/>
          <p:cNvSpPr txBox="1"/>
          <p:nvPr/>
        </p:nvSpPr>
        <p:spPr>
          <a:xfrm>
            <a:off x="571501" y="3460746"/>
            <a:ext cx="6362700" cy="2905988"/>
          </a:xfrm>
          <a:prstGeom prst="rect">
            <a:avLst/>
          </a:prstGeom>
        </p:spPr>
        <p:txBody>
          <a:bodyPr wrap="square" lIns="0" tIns="0" rIns="0" bIns="0" rtlCol="0" anchor="t">
            <a:spAutoFit/>
          </a:bodyPr>
          <a:lstStyle/>
          <a:p>
            <a:pPr marL="0" lvl="0" indent="0" algn="l">
              <a:lnSpc>
                <a:spcPts val="4500"/>
              </a:lnSpc>
            </a:pPr>
            <a:r>
              <a:rPr lang="en-US" sz="4500" b="1" spc="-135" dirty="0">
                <a:solidFill>
                  <a:srgbClr val="F9FAFB"/>
                </a:solidFill>
                <a:latin typeface="DM Sans Bold"/>
                <a:ea typeface="DM Sans Bold"/>
                <a:cs typeface="DM Sans Bold"/>
                <a:sym typeface="DM Sans Bold"/>
              </a:rPr>
              <a:t>Non-technical users find onboarding intimidating and confusing due to complex processes.</a:t>
            </a:r>
          </a:p>
        </p:txBody>
      </p:sp>
      <p:sp>
        <p:nvSpPr>
          <p:cNvPr id="10" name="TextBox 10"/>
          <p:cNvSpPr txBox="1"/>
          <p:nvPr/>
        </p:nvSpPr>
        <p:spPr>
          <a:xfrm>
            <a:off x="14605000" y="511473"/>
            <a:ext cx="3111500" cy="201930"/>
          </a:xfrm>
          <a:prstGeom prst="rect">
            <a:avLst/>
          </a:prstGeom>
        </p:spPr>
        <p:txBody>
          <a:bodyPr lIns="0" tIns="0" rIns="0" bIns="0" rtlCol="0" anchor="t">
            <a:spAutoFit/>
          </a:bodyPr>
          <a:lstStyle/>
          <a:p>
            <a:pPr marL="0" lvl="0" indent="0" algn="r">
              <a:lnSpc>
                <a:spcPts val="1500"/>
              </a:lnSpc>
            </a:pPr>
            <a:r>
              <a:rPr lang="en-US" sz="1200" b="1" spc="-18">
                <a:solidFill>
                  <a:srgbClr val="F9FAFB"/>
                </a:solidFill>
                <a:latin typeface="DM Sans Bold"/>
                <a:ea typeface="DM Sans Bold"/>
                <a:cs typeface="DM Sans Bold"/>
                <a:sym typeface="DM Sans Bold"/>
              </a:rPr>
              <a:t>WEB3 ONBOARDING BARRIERS</a:t>
            </a:r>
          </a:p>
        </p:txBody>
      </p:sp>
      <p:sp>
        <p:nvSpPr>
          <p:cNvPr id="11" name="TextBox 11"/>
          <p:cNvSpPr txBox="1"/>
          <p:nvPr/>
        </p:nvSpPr>
        <p:spPr>
          <a:xfrm>
            <a:off x="4905375" y="511473"/>
            <a:ext cx="3111500" cy="201930"/>
          </a:xfrm>
          <a:prstGeom prst="rect">
            <a:avLst/>
          </a:prstGeom>
        </p:spPr>
        <p:txBody>
          <a:bodyPr lIns="0" tIns="0" rIns="0" bIns="0" rtlCol="0" anchor="t">
            <a:spAutoFit/>
          </a:bodyPr>
          <a:lstStyle/>
          <a:p>
            <a:pPr marL="0" lvl="0" indent="0" algn="l">
              <a:lnSpc>
                <a:spcPts val="1500"/>
              </a:lnSpc>
            </a:pPr>
            <a:r>
              <a:rPr lang="en-US" sz="1200" b="1" spc="-18">
                <a:solidFill>
                  <a:srgbClr val="F9FAFB"/>
                </a:solidFill>
                <a:latin typeface="DM Sans Bold"/>
                <a:ea typeface="DM Sans Bold"/>
                <a:cs typeface="DM Sans Bold"/>
                <a:sym typeface="DM Sans Bold"/>
              </a:rPr>
              <a:t>PROBLEM OVERVIEW</a:t>
            </a:r>
          </a:p>
        </p:txBody>
      </p:sp>
      <p:sp>
        <p:nvSpPr>
          <p:cNvPr id="12" name="TextBox 12"/>
          <p:cNvSpPr txBox="1"/>
          <p:nvPr/>
        </p:nvSpPr>
        <p:spPr>
          <a:xfrm>
            <a:off x="571500" y="511473"/>
            <a:ext cx="3111500" cy="201930"/>
          </a:xfrm>
          <a:prstGeom prst="rect">
            <a:avLst/>
          </a:prstGeom>
        </p:spPr>
        <p:txBody>
          <a:bodyPr lIns="0" tIns="0" rIns="0" bIns="0" rtlCol="0" anchor="t">
            <a:spAutoFit/>
          </a:bodyPr>
          <a:lstStyle/>
          <a:p>
            <a:pPr marL="0" lvl="0" indent="0" algn="l">
              <a:lnSpc>
                <a:spcPts val="1500"/>
              </a:lnSpc>
            </a:pPr>
            <a:r>
              <a:rPr lang="en-US" sz="1200" b="1" spc="-18">
                <a:solidFill>
                  <a:srgbClr val="F9FAFB"/>
                </a:solidFill>
                <a:latin typeface="DM Sans Bold"/>
                <a:ea typeface="DM Sans Bold"/>
                <a:cs typeface="DM Sans Bold"/>
                <a:sym typeface="DM Sans Bold"/>
              </a:rPr>
              <a:t>WORD SCRAMBLE</a:t>
            </a:r>
          </a:p>
        </p:txBody>
      </p:sp>
      <p:grpSp>
        <p:nvGrpSpPr>
          <p:cNvPr id="13" name="Group 13"/>
          <p:cNvGrpSpPr/>
          <p:nvPr/>
        </p:nvGrpSpPr>
        <p:grpSpPr>
          <a:xfrm>
            <a:off x="666750" y="8678458"/>
            <a:ext cx="2607127" cy="964440"/>
            <a:chOff x="0" y="0"/>
            <a:chExt cx="3476169" cy="1285920"/>
          </a:xfrm>
        </p:grpSpPr>
        <p:grpSp>
          <p:nvGrpSpPr>
            <p:cNvPr id="14" name="Group 14"/>
            <p:cNvGrpSpPr/>
            <p:nvPr/>
          </p:nvGrpSpPr>
          <p:grpSpPr>
            <a:xfrm>
              <a:off x="0" y="452517"/>
              <a:ext cx="2997536" cy="803206"/>
              <a:chOff x="0" y="0"/>
              <a:chExt cx="677333" cy="181495"/>
            </a:xfrm>
          </p:grpSpPr>
          <p:sp>
            <p:nvSpPr>
              <p:cNvPr id="15" name="Freeform 15"/>
              <p:cNvSpPr/>
              <p:nvPr/>
            </p:nvSpPr>
            <p:spPr>
              <a:xfrm>
                <a:off x="0" y="0"/>
                <a:ext cx="677333" cy="181495"/>
              </a:xfrm>
              <a:custGeom>
                <a:avLst/>
                <a:gdLst/>
                <a:ahLst/>
                <a:cxnLst/>
                <a:rect l="l" t="t" r="r" b="b"/>
                <a:pathLst>
                  <a:path w="677333" h="181495">
                    <a:moveTo>
                      <a:pt x="90748" y="0"/>
                    </a:moveTo>
                    <a:lnTo>
                      <a:pt x="586586" y="0"/>
                    </a:lnTo>
                    <a:cubicBezTo>
                      <a:pt x="636704" y="0"/>
                      <a:pt x="677333" y="40629"/>
                      <a:pt x="677333" y="90748"/>
                    </a:cubicBezTo>
                    <a:lnTo>
                      <a:pt x="677333" y="90748"/>
                    </a:lnTo>
                    <a:cubicBezTo>
                      <a:pt x="677333" y="114815"/>
                      <a:pt x="667772" y="137897"/>
                      <a:pt x="650754" y="154916"/>
                    </a:cubicBezTo>
                    <a:cubicBezTo>
                      <a:pt x="633736" y="171934"/>
                      <a:pt x="610654" y="181495"/>
                      <a:pt x="586586" y="181495"/>
                    </a:cubicBezTo>
                    <a:lnTo>
                      <a:pt x="90748" y="181495"/>
                    </a:lnTo>
                    <a:cubicBezTo>
                      <a:pt x="66680" y="181495"/>
                      <a:pt x="43598" y="171934"/>
                      <a:pt x="26579" y="154916"/>
                    </a:cubicBezTo>
                    <a:cubicBezTo>
                      <a:pt x="9561" y="137897"/>
                      <a:pt x="0" y="114815"/>
                      <a:pt x="0" y="90748"/>
                    </a:cubicBezTo>
                    <a:lnTo>
                      <a:pt x="0" y="90748"/>
                    </a:lnTo>
                    <a:cubicBezTo>
                      <a:pt x="0" y="66680"/>
                      <a:pt x="9561" y="43598"/>
                      <a:pt x="26579" y="26579"/>
                    </a:cubicBezTo>
                    <a:cubicBezTo>
                      <a:pt x="43598" y="9561"/>
                      <a:pt x="66680" y="0"/>
                      <a:pt x="90748" y="0"/>
                    </a:cubicBezTo>
                    <a:close/>
                  </a:path>
                </a:pathLst>
              </a:custGeom>
              <a:solidFill>
                <a:srgbClr val="F9FAFB"/>
              </a:solidFill>
            </p:spPr>
            <p:txBody>
              <a:bodyPr/>
              <a:lstStyle/>
              <a:p>
                <a:endParaRPr/>
              </a:p>
            </p:txBody>
          </p:sp>
          <p:sp>
            <p:nvSpPr>
              <p:cNvPr id="16" name="TextBox 16"/>
              <p:cNvSpPr txBox="1"/>
              <p:nvPr/>
            </p:nvSpPr>
            <p:spPr>
              <a:xfrm>
                <a:off x="0" y="0"/>
                <a:ext cx="677333" cy="181495"/>
              </a:xfrm>
              <a:prstGeom prst="rect">
                <a:avLst/>
              </a:prstGeom>
            </p:spPr>
            <p:txBody>
              <a:bodyPr lIns="44408" tIns="44408" rIns="44408" bIns="44408" rtlCol="0" anchor="ctr"/>
              <a:lstStyle/>
              <a:p>
                <a:pPr algn="ctr">
                  <a:lnSpc>
                    <a:spcPts val="2879"/>
                  </a:lnSpc>
                </a:pPr>
                <a:endParaRPr/>
              </a:p>
            </p:txBody>
          </p:sp>
        </p:grpSp>
        <p:sp>
          <p:nvSpPr>
            <p:cNvPr id="17" name="Freeform 17"/>
            <p:cNvSpPr/>
            <p:nvPr/>
          </p:nvSpPr>
          <p:spPr>
            <a:xfrm rot="-2700000">
              <a:off x="2906402" y="95255"/>
              <a:ext cx="468474" cy="480551"/>
            </a:xfrm>
            <a:custGeom>
              <a:avLst/>
              <a:gdLst/>
              <a:ahLst/>
              <a:cxnLst/>
              <a:rect l="l" t="t" r="r" b="b"/>
              <a:pathLst>
                <a:path w="468474" h="480551">
                  <a:moveTo>
                    <a:pt x="0" y="0"/>
                  </a:moveTo>
                  <a:lnTo>
                    <a:pt x="468473" y="0"/>
                  </a:lnTo>
                  <a:lnTo>
                    <a:pt x="468473" y="480551"/>
                  </a:lnTo>
                  <a:lnTo>
                    <a:pt x="0" y="4805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8" name="TextBox 18"/>
            <p:cNvSpPr txBox="1"/>
            <p:nvPr/>
          </p:nvSpPr>
          <p:spPr>
            <a:xfrm>
              <a:off x="197602" y="422320"/>
              <a:ext cx="2602332" cy="863600"/>
            </a:xfrm>
            <a:prstGeom prst="rect">
              <a:avLst/>
            </a:prstGeom>
          </p:spPr>
          <p:txBody>
            <a:bodyPr lIns="0" tIns="0" rIns="0" bIns="0" rtlCol="0" anchor="t">
              <a:spAutoFit/>
            </a:bodyPr>
            <a:lstStyle/>
            <a:p>
              <a:pPr marL="0" lvl="0" indent="0" algn="ctr">
                <a:lnSpc>
                  <a:spcPts val="2571"/>
                </a:lnSpc>
                <a:spcBef>
                  <a:spcPct val="0"/>
                </a:spcBef>
              </a:pPr>
              <a:r>
                <a:rPr lang="en-US" sz="2142">
                  <a:solidFill>
                    <a:srgbClr val="6366F1"/>
                  </a:solidFill>
                  <a:latin typeface="DM Sans"/>
                  <a:ea typeface="DM Sans"/>
                  <a:cs typeface="DM Sans"/>
                  <a:sym typeface="DM Sans"/>
                </a:rPr>
                <a:t>Johnrick Rabara</a:t>
              </a:r>
            </a:p>
          </p:txBody>
        </p:sp>
      </p:grpSp>
      <p:graphicFrame>
        <p:nvGraphicFramePr>
          <p:cNvPr id="22" name="Diagram 21">
            <a:extLst>
              <a:ext uri="{FF2B5EF4-FFF2-40B4-BE49-F238E27FC236}">
                <a16:creationId xmlns:a16="http://schemas.microsoft.com/office/drawing/2014/main" id="{54FA831C-64AB-7789-B4BF-0C0F7BA544E5}"/>
              </a:ext>
            </a:extLst>
          </p:cNvPr>
          <p:cNvGraphicFramePr/>
          <p:nvPr>
            <p:extLst>
              <p:ext uri="{D42A27DB-BD31-4B8C-83A1-F6EECF244321}">
                <p14:modId xmlns:p14="http://schemas.microsoft.com/office/powerpoint/2010/main" val="1818089024"/>
              </p:ext>
            </p:extLst>
          </p:nvPr>
        </p:nvGraphicFramePr>
        <p:xfrm>
          <a:off x="7696201" y="2898720"/>
          <a:ext cx="8915400" cy="63147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grpSp>
        <p:nvGrpSpPr>
          <p:cNvPr id="4" name="Group 4"/>
          <p:cNvGrpSpPr/>
          <p:nvPr/>
        </p:nvGrpSpPr>
        <p:grpSpPr>
          <a:xfrm>
            <a:off x="571500" y="1562100"/>
            <a:ext cx="8420100" cy="3505200"/>
            <a:chOff x="0" y="0"/>
            <a:chExt cx="11226800" cy="4673600"/>
          </a:xfrm>
        </p:grpSpPr>
        <p:sp>
          <p:nvSpPr>
            <p:cNvPr id="5" name="TextBox 5"/>
            <p:cNvSpPr txBox="1"/>
            <p:nvPr/>
          </p:nvSpPr>
          <p:spPr>
            <a:xfrm>
              <a:off x="0" y="104775"/>
              <a:ext cx="11226800" cy="1114425"/>
            </a:xfrm>
            <a:prstGeom prst="rect">
              <a:avLst/>
            </a:prstGeom>
          </p:spPr>
          <p:txBody>
            <a:bodyPr lIns="0" tIns="0" rIns="0" bIns="0" rtlCol="0" anchor="t">
              <a:spAutoFit/>
            </a:bodyPr>
            <a:lstStyle/>
            <a:p>
              <a:pPr marL="0" lvl="0" indent="0" algn="l">
                <a:lnSpc>
                  <a:spcPts val="6000"/>
                </a:lnSpc>
              </a:pPr>
              <a:r>
                <a:rPr lang="en-US" sz="6000" spc="-179">
                  <a:solidFill>
                    <a:srgbClr val="F9FAFB"/>
                  </a:solidFill>
                  <a:latin typeface="DM Sans"/>
                  <a:ea typeface="DM Sans"/>
                  <a:cs typeface="DM Sans"/>
                  <a:sym typeface="DM Sans"/>
                </a:rPr>
                <a:t>Word Scramble</a:t>
              </a:r>
            </a:p>
          </p:txBody>
        </p:sp>
        <p:sp>
          <p:nvSpPr>
            <p:cNvPr id="6" name="TextBox 6"/>
            <p:cNvSpPr txBox="1"/>
            <p:nvPr/>
          </p:nvSpPr>
          <p:spPr>
            <a:xfrm>
              <a:off x="0" y="2632075"/>
              <a:ext cx="11226800" cy="2041525"/>
            </a:xfrm>
            <a:prstGeom prst="rect">
              <a:avLst/>
            </a:prstGeom>
          </p:spPr>
          <p:txBody>
            <a:bodyPr lIns="0" tIns="0" rIns="0" bIns="0" rtlCol="0" anchor="t">
              <a:spAutoFit/>
            </a:bodyPr>
            <a:lstStyle/>
            <a:p>
              <a:pPr marL="0" lvl="0" indent="0" algn="l">
                <a:lnSpc>
                  <a:spcPts val="2400"/>
                </a:lnSpc>
              </a:pPr>
              <a:r>
                <a:rPr lang="en-US" sz="2000" dirty="0">
                  <a:solidFill>
                    <a:srgbClr val="F9FAFB"/>
                  </a:solidFill>
                  <a:latin typeface="DM Sans"/>
                  <a:ea typeface="DM Sans"/>
                  <a:cs typeface="DM Sans"/>
                  <a:sym typeface="DM Sans"/>
                </a:rPr>
                <a:t>The </a:t>
              </a:r>
              <a:r>
                <a:rPr lang="en-US" sz="2000" b="1" dirty="0">
                  <a:solidFill>
                    <a:srgbClr val="F9FAFB"/>
                  </a:solidFill>
                  <a:latin typeface="DM Sans Bold"/>
                  <a:ea typeface="DM Sans Bold"/>
                  <a:cs typeface="DM Sans Bold"/>
                  <a:sym typeface="DM Sans Bold"/>
                </a:rPr>
                <a:t>Word Scramble</a:t>
              </a:r>
              <a:r>
                <a:rPr lang="en-US" sz="2000" dirty="0">
                  <a:solidFill>
                    <a:srgbClr val="F9FAFB"/>
                  </a:solidFill>
                  <a:latin typeface="DM Sans"/>
                  <a:ea typeface="DM Sans"/>
                  <a:cs typeface="DM Sans"/>
                  <a:sym typeface="DM Sans"/>
                </a:rPr>
                <a:t> game features Soroban contracts that facilitate real on-chain transactions. With multi-wallet support and a guided walkthrough, users can easily connect and play. A live event stream enhances engagement by showcasing real-time player activity, making the onboarding experience interactive and fun.</a:t>
              </a:r>
            </a:p>
          </p:txBody>
        </p:sp>
        <p:sp>
          <p:nvSpPr>
            <p:cNvPr id="7" name="TextBox 7"/>
            <p:cNvSpPr txBox="1"/>
            <p:nvPr/>
          </p:nvSpPr>
          <p:spPr>
            <a:xfrm>
              <a:off x="0" y="1549400"/>
              <a:ext cx="11226800" cy="838200"/>
            </a:xfrm>
            <a:prstGeom prst="rect">
              <a:avLst/>
            </a:prstGeom>
          </p:spPr>
          <p:txBody>
            <a:bodyPr lIns="0" tIns="0" rIns="0" bIns="0" rtlCol="0" anchor="t">
              <a:spAutoFit/>
            </a:bodyPr>
            <a:lstStyle/>
            <a:p>
              <a:pPr marL="0" lvl="0" indent="0" algn="l">
                <a:lnSpc>
                  <a:spcPts val="4500"/>
                </a:lnSpc>
              </a:pPr>
              <a:r>
                <a:rPr lang="en-US" sz="4500" b="1" spc="-135">
                  <a:solidFill>
                    <a:srgbClr val="F9FAFB"/>
                  </a:solidFill>
                  <a:latin typeface="DM Sans Bold"/>
                  <a:ea typeface="DM Sans Bold"/>
                  <a:cs typeface="DM Sans Bold"/>
                  <a:sym typeface="DM Sans Bold"/>
                </a:rPr>
                <a:t>Drag-and-drop puzzle</a:t>
              </a:r>
            </a:p>
          </p:txBody>
        </p:sp>
      </p:grpSp>
      <p:sp>
        <p:nvSpPr>
          <p:cNvPr id="8" name="TextBox 8"/>
          <p:cNvSpPr txBox="1"/>
          <p:nvPr/>
        </p:nvSpPr>
        <p:spPr>
          <a:xfrm>
            <a:off x="4905375" y="520998"/>
            <a:ext cx="3111500" cy="219710"/>
          </a:xfrm>
          <a:prstGeom prst="rect">
            <a:avLst/>
          </a:prstGeom>
        </p:spPr>
        <p:txBody>
          <a:bodyPr lIns="0" tIns="0" rIns="0" bIns="0" rtlCol="0" anchor="t">
            <a:spAutoFit/>
          </a:bodyPr>
          <a:lstStyle/>
          <a:p>
            <a:pPr marL="0" lvl="0" indent="0" algn="l">
              <a:lnSpc>
                <a:spcPts val="1750"/>
              </a:lnSpc>
            </a:pPr>
            <a:r>
              <a:rPr lang="en-US" sz="1400" b="1" spc="-21">
                <a:solidFill>
                  <a:srgbClr val="F9FAFB"/>
                </a:solidFill>
                <a:latin typeface="DM Sans Bold"/>
                <a:ea typeface="DM Sans Bold"/>
                <a:cs typeface="DM Sans Bold"/>
                <a:sym typeface="DM Sans Bold"/>
              </a:rPr>
              <a:t>SOLUTION OVERVIEW</a:t>
            </a:r>
          </a:p>
        </p:txBody>
      </p:sp>
      <p:sp>
        <p:nvSpPr>
          <p:cNvPr id="9" name="TextBox 9"/>
          <p:cNvSpPr txBox="1"/>
          <p:nvPr/>
        </p:nvSpPr>
        <p:spPr>
          <a:xfrm>
            <a:off x="571500" y="520998"/>
            <a:ext cx="3111500" cy="219710"/>
          </a:xfrm>
          <a:prstGeom prst="rect">
            <a:avLst/>
          </a:prstGeom>
        </p:spPr>
        <p:txBody>
          <a:bodyPr lIns="0" tIns="0" rIns="0" bIns="0" rtlCol="0" anchor="t">
            <a:spAutoFit/>
          </a:bodyPr>
          <a:lstStyle/>
          <a:p>
            <a:pPr marL="0" lvl="0" indent="0" algn="l">
              <a:lnSpc>
                <a:spcPts val="1750"/>
              </a:lnSpc>
            </a:pPr>
            <a:r>
              <a:rPr lang="en-US" sz="1400" b="1" spc="-21">
                <a:solidFill>
                  <a:srgbClr val="F9FAFB"/>
                </a:solidFill>
                <a:latin typeface="DM Sans Bold"/>
                <a:ea typeface="DM Sans Bold"/>
                <a:cs typeface="DM Sans Bold"/>
                <a:sym typeface="DM Sans Bold"/>
              </a:rPr>
              <a:t>WORD SCRAMBLE ONBOARDING</a:t>
            </a:r>
          </a:p>
        </p:txBody>
      </p:sp>
      <p:grpSp>
        <p:nvGrpSpPr>
          <p:cNvPr id="10" name="Group 10"/>
          <p:cNvGrpSpPr/>
          <p:nvPr/>
        </p:nvGrpSpPr>
        <p:grpSpPr>
          <a:xfrm>
            <a:off x="8534400" y="8606696"/>
            <a:ext cx="2502137" cy="992153"/>
            <a:chOff x="0" y="-62350"/>
            <a:chExt cx="3336182" cy="1322870"/>
          </a:xfrm>
        </p:grpSpPr>
        <p:grpSp>
          <p:nvGrpSpPr>
            <p:cNvPr id="11" name="Group 11"/>
            <p:cNvGrpSpPr/>
            <p:nvPr/>
          </p:nvGrpSpPr>
          <p:grpSpPr>
            <a:xfrm>
              <a:off x="0" y="269456"/>
              <a:ext cx="2997536" cy="986267"/>
              <a:chOff x="0" y="-41365"/>
              <a:chExt cx="677333" cy="222860"/>
            </a:xfrm>
          </p:grpSpPr>
          <p:sp>
            <p:nvSpPr>
              <p:cNvPr id="12" name="Freeform 12"/>
              <p:cNvSpPr/>
              <p:nvPr/>
            </p:nvSpPr>
            <p:spPr>
              <a:xfrm>
                <a:off x="0" y="-41365"/>
                <a:ext cx="677333" cy="181495"/>
              </a:xfrm>
              <a:custGeom>
                <a:avLst/>
                <a:gdLst/>
                <a:ahLst/>
                <a:cxnLst/>
                <a:rect l="l" t="t" r="r" b="b"/>
                <a:pathLst>
                  <a:path w="677333" h="181495">
                    <a:moveTo>
                      <a:pt x="90748" y="0"/>
                    </a:moveTo>
                    <a:lnTo>
                      <a:pt x="586586" y="0"/>
                    </a:lnTo>
                    <a:cubicBezTo>
                      <a:pt x="636704" y="0"/>
                      <a:pt x="677333" y="40629"/>
                      <a:pt x="677333" y="90748"/>
                    </a:cubicBezTo>
                    <a:lnTo>
                      <a:pt x="677333" y="90748"/>
                    </a:lnTo>
                    <a:cubicBezTo>
                      <a:pt x="677333" y="114815"/>
                      <a:pt x="667772" y="137897"/>
                      <a:pt x="650754" y="154916"/>
                    </a:cubicBezTo>
                    <a:cubicBezTo>
                      <a:pt x="633736" y="171934"/>
                      <a:pt x="610654" y="181495"/>
                      <a:pt x="586586" y="181495"/>
                    </a:cubicBezTo>
                    <a:lnTo>
                      <a:pt x="90748" y="181495"/>
                    </a:lnTo>
                    <a:cubicBezTo>
                      <a:pt x="66680" y="181495"/>
                      <a:pt x="43598" y="171934"/>
                      <a:pt x="26579" y="154916"/>
                    </a:cubicBezTo>
                    <a:cubicBezTo>
                      <a:pt x="9561" y="137897"/>
                      <a:pt x="0" y="114815"/>
                      <a:pt x="0" y="90748"/>
                    </a:cubicBezTo>
                    <a:lnTo>
                      <a:pt x="0" y="90748"/>
                    </a:lnTo>
                    <a:cubicBezTo>
                      <a:pt x="0" y="66680"/>
                      <a:pt x="9561" y="43598"/>
                      <a:pt x="26579" y="26579"/>
                    </a:cubicBezTo>
                    <a:cubicBezTo>
                      <a:pt x="43598" y="9561"/>
                      <a:pt x="66680" y="0"/>
                      <a:pt x="90748" y="0"/>
                    </a:cubicBezTo>
                    <a:close/>
                  </a:path>
                </a:pathLst>
              </a:custGeom>
              <a:solidFill>
                <a:srgbClr val="F9FAFB"/>
              </a:solidFill>
            </p:spPr>
            <p:txBody>
              <a:bodyPr/>
              <a:lstStyle/>
              <a:p>
                <a:endParaRPr/>
              </a:p>
            </p:txBody>
          </p:sp>
          <p:sp>
            <p:nvSpPr>
              <p:cNvPr id="13" name="TextBox 13"/>
              <p:cNvSpPr txBox="1"/>
              <p:nvPr/>
            </p:nvSpPr>
            <p:spPr>
              <a:xfrm>
                <a:off x="0" y="0"/>
                <a:ext cx="677333" cy="181495"/>
              </a:xfrm>
              <a:prstGeom prst="rect">
                <a:avLst/>
              </a:prstGeom>
            </p:spPr>
            <p:txBody>
              <a:bodyPr lIns="44408" tIns="44408" rIns="44408" bIns="44408" rtlCol="0" anchor="ctr"/>
              <a:lstStyle/>
              <a:p>
                <a:pPr algn="ctr">
                  <a:lnSpc>
                    <a:spcPts val="2879"/>
                  </a:lnSpc>
                </a:pPr>
                <a:endParaRPr/>
              </a:p>
            </p:txBody>
          </p:sp>
        </p:grpSp>
        <p:sp>
          <p:nvSpPr>
            <p:cNvPr id="14" name="Freeform 14"/>
            <p:cNvSpPr/>
            <p:nvPr/>
          </p:nvSpPr>
          <p:spPr>
            <a:xfrm rot="18900000">
              <a:off x="2867707" y="-62350"/>
              <a:ext cx="468475" cy="480551"/>
            </a:xfrm>
            <a:custGeom>
              <a:avLst/>
              <a:gdLst/>
              <a:ahLst/>
              <a:cxnLst/>
              <a:rect l="l" t="t" r="r" b="b"/>
              <a:pathLst>
                <a:path w="468474" h="480551">
                  <a:moveTo>
                    <a:pt x="0" y="0"/>
                  </a:moveTo>
                  <a:lnTo>
                    <a:pt x="468473" y="0"/>
                  </a:lnTo>
                  <a:lnTo>
                    <a:pt x="468473" y="480551"/>
                  </a:lnTo>
                  <a:lnTo>
                    <a:pt x="0" y="4805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dirty="0"/>
            </a:p>
          </p:txBody>
        </p:sp>
        <p:sp>
          <p:nvSpPr>
            <p:cNvPr id="15" name="TextBox 15"/>
            <p:cNvSpPr txBox="1"/>
            <p:nvPr/>
          </p:nvSpPr>
          <p:spPr>
            <a:xfrm>
              <a:off x="197602" y="438195"/>
              <a:ext cx="2602332" cy="822325"/>
            </a:xfrm>
            <a:prstGeom prst="rect">
              <a:avLst/>
            </a:prstGeom>
          </p:spPr>
          <p:txBody>
            <a:bodyPr lIns="0" tIns="0" rIns="0" bIns="0" rtlCol="0" anchor="t">
              <a:spAutoFit/>
            </a:bodyPr>
            <a:lstStyle/>
            <a:p>
              <a:pPr marL="0" lvl="0" indent="0" algn="ctr">
                <a:lnSpc>
                  <a:spcPts val="2407"/>
                </a:lnSpc>
                <a:spcBef>
                  <a:spcPct val="0"/>
                </a:spcBef>
              </a:pPr>
              <a:r>
                <a:rPr lang="en-US" sz="2006" dirty="0">
                  <a:solidFill>
                    <a:srgbClr val="6366F1"/>
                  </a:solidFill>
                  <a:latin typeface="DM Sans"/>
                  <a:ea typeface="DM Sans"/>
                  <a:cs typeface="DM Sans"/>
                  <a:sym typeface="DM Sans"/>
                </a:rPr>
                <a:t>Johnrick Rabara</a:t>
              </a:r>
            </a:p>
          </p:txBody>
        </p:sp>
      </p:grpSp>
      <p:pic>
        <p:nvPicPr>
          <p:cNvPr id="17" name="Picture 16">
            <a:extLst>
              <a:ext uri="{FF2B5EF4-FFF2-40B4-BE49-F238E27FC236}">
                <a16:creationId xmlns:a16="http://schemas.microsoft.com/office/drawing/2014/main" id="{15D7670A-3029-132F-5AE1-C9F357E1AB05}"/>
              </a:ext>
            </a:extLst>
          </p:cNvPr>
          <p:cNvPicPr>
            <a:picLocks noChangeAspect="1"/>
          </p:cNvPicPr>
          <p:nvPr/>
        </p:nvPicPr>
        <p:blipFill>
          <a:blip r:embed="rId4"/>
          <a:stretch>
            <a:fillRect/>
          </a:stretch>
        </p:blipFill>
        <p:spPr>
          <a:xfrm>
            <a:off x="11239752" y="485356"/>
            <a:ext cx="5878180" cy="94605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grpSp>
        <p:nvGrpSpPr>
          <p:cNvPr id="4" name="Group 4"/>
          <p:cNvGrpSpPr/>
          <p:nvPr/>
        </p:nvGrpSpPr>
        <p:grpSpPr>
          <a:xfrm>
            <a:off x="597569" y="5805488"/>
            <a:ext cx="4084905" cy="3470510"/>
            <a:chOff x="0" y="0"/>
            <a:chExt cx="5446540" cy="4627346"/>
          </a:xfrm>
        </p:grpSpPr>
        <p:sp>
          <p:nvSpPr>
            <p:cNvPr id="5" name="TextBox 5"/>
            <p:cNvSpPr txBox="1"/>
            <p:nvPr/>
          </p:nvSpPr>
          <p:spPr>
            <a:xfrm>
              <a:off x="19050" y="690346"/>
              <a:ext cx="5419891" cy="3937000"/>
            </a:xfrm>
            <a:prstGeom prst="rect">
              <a:avLst/>
            </a:prstGeom>
          </p:spPr>
          <p:txBody>
            <a:bodyPr lIns="0" tIns="0" rIns="0" bIns="0" rtlCol="0" anchor="t">
              <a:spAutoFit/>
            </a:bodyPr>
            <a:lstStyle/>
            <a:p>
              <a:pPr marL="431799" lvl="1" indent="-215899" algn="l">
                <a:lnSpc>
                  <a:spcPts val="2399"/>
                </a:lnSpc>
                <a:buFont typeface="Arial"/>
                <a:buChar char="•"/>
              </a:pPr>
              <a:r>
                <a:rPr lang="en-US" sz="1999">
                  <a:solidFill>
                    <a:srgbClr val="F9FAFB">
                      <a:alpha val="97647"/>
                    </a:srgbClr>
                  </a:solidFill>
                  <a:latin typeface="DM Sans"/>
                  <a:ea typeface="DM Sans"/>
                  <a:cs typeface="DM Sans"/>
                  <a:sym typeface="DM Sans"/>
                </a:rPr>
                <a:t>Casual game markets are massive, driving daily engagement and attracting a broad user base across demographics.</a:t>
              </a:r>
            </a:p>
            <a:p>
              <a:pPr marL="431799" lvl="1" indent="-215899" algn="l">
                <a:lnSpc>
                  <a:spcPts val="2399"/>
                </a:lnSpc>
                <a:buFont typeface="Arial"/>
                <a:buChar char="•"/>
              </a:pPr>
              <a:r>
                <a:rPr lang="en-US" sz="1999">
                  <a:solidFill>
                    <a:srgbClr val="F9FAFB">
                      <a:alpha val="97647"/>
                    </a:srgbClr>
                  </a:solidFill>
                  <a:latin typeface="DM Sans"/>
                  <a:ea typeface="DM Sans"/>
                  <a:cs typeface="DM Sans"/>
                  <a:sym typeface="DM Sans"/>
                </a:rPr>
                <a:t>Proven success of games like Wordle highlights opportunities for real on-chain interactions to enhance user experience.</a:t>
              </a:r>
            </a:p>
          </p:txBody>
        </p:sp>
        <p:sp>
          <p:nvSpPr>
            <p:cNvPr id="6" name="TextBox 6"/>
            <p:cNvSpPr txBox="1"/>
            <p:nvPr/>
          </p:nvSpPr>
          <p:spPr>
            <a:xfrm>
              <a:off x="0" y="0"/>
              <a:ext cx="5446540" cy="393700"/>
            </a:xfrm>
            <a:prstGeom prst="rect">
              <a:avLst/>
            </a:prstGeom>
          </p:spPr>
          <p:txBody>
            <a:bodyPr lIns="0" tIns="0" rIns="0" bIns="0" rtlCol="0" anchor="t">
              <a:spAutoFit/>
            </a:bodyPr>
            <a:lstStyle/>
            <a:p>
              <a:pPr marL="0" lvl="0" indent="0" algn="l">
                <a:lnSpc>
                  <a:spcPts val="2399"/>
                </a:lnSpc>
              </a:pPr>
              <a:r>
                <a:rPr lang="en-US" sz="1999" b="1">
                  <a:solidFill>
                    <a:srgbClr val="F9FAFB"/>
                  </a:solidFill>
                  <a:latin typeface="DM Sans Bold"/>
                  <a:ea typeface="DM Sans Bold"/>
                  <a:cs typeface="DM Sans Bold"/>
                  <a:sym typeface="DM Sans Bold"/>
                </a:rPr>
                <a:t>Casual Market</a:t>
              </a:r>
            </a:p>
          </p:txBody>
        </p:sp>
      </p:grpSp>
      <p:grpSp>
        <p:nvGrpSpPr>
          <p:cNvPr id="7" name="Group 7"/>
          <p:cNvGrpSpPr/>
          <p:nvPr/>
        </p:nvGrpSpPr>
        <p:grpSpPr>
          <a:xfrm>
            <a:off x="4907632" y="5805488"/>
            <a:ext cx="4084905" cy="1698860"/>
            <a:chOff x="0" y="0"/>
            <a:chExt cx="5446540" cy="2265146"/>
          </a:xfrm>
        </p:grpSpPr>
        <p:sp>
          <p:nvSpPr>
            <p:cNvPr id="8" name="TextBox 8"/>
            <p:cNvSpPr txBox="1"/>
            <p:nvPr/>
          </p:nvSpPr>
          <p:spPr>
            <a:xfrm>
              <a:off x="19050" y="690346"/>
              <a:ext cx="5426241" cy="1574800"/>
            </a:xfrm>
            <a:prstGeom prst="rect">
              <a:avLst/>
            </a:prstGeom>
          </p:spPr>
          <p:txBody>
            <a:bodyPr lIns="0" tIns="0" rIns="0" bIns="0" rtlCol="0" anchor="t">
              <a:spAutoFit/>
            </a:bodyPr>
            <a:lstStyle/>
            <a:p>
              <a:pPr marL="431799" lvl="1" indent="-215899" algn="l">
                <a:lnSpc>
                  <a:spcPts val="2399"/>
                </a:lnSpc>
                <a:buFont typeface="Arial"/>
                <a:buChar char="•"/>
              </a:pPr>
              <a:r>
                <a:rPr lang="en-US" sz="1999">
                  <a:solidFill>
                    <a:srgbClr val="F9FAFB">
                      <a:alpha val="97647"/>
                    </a:srgbClr>
                  </a:solidFill>
                  <a:latin typeface="DM Sans"/>
                  <a:ea typeface="DM Sans"/>
                  <a:cs typeface="DM Sans"/>
                  <a:sym typeface="DM Sans"/>
                </a:rPr>
                <a:t>Stellar focuses on financial inclusion, lowering barriers for non-technical users to engage in the blockchain space.</a:t>
              </a:r>
            </a:p>
          </p:txBody>
        </p:sp>
        <p:sp>
          <p:nvSpPr>
            <p:cNvPr id="9" name="TextBox 9"/>
            <p:cNvSpPr txBox="1"/>
            <p:nvPr/>
          </p:nvSpPr>
          <p:spPr>
            <a:xfrm>
              <a:off x="0" y="0"/>
              <a:ext cx="5446540" cy="393700"/>
            </a:xfrm>
            <a:prstGeom prst="rect">
              <a:avLst/>
            </a:prstGeom>
          </p:spPr>
          <p:txBody>
            <a:bodyPr lIns="0" tIns="0" rIns="0" bIns="0" rtlCol="0" anchor="t">
              <a:spAutoFit/>
            </a:bodyPr>
            <a:lstStyle/>
            <a:p>
              <a:pPr marL="0" lvl="0" indent="0" algn="l">
                <a:lnSpc>
                  <a:spcPts val="2399"/>
                </a:lnSpc>
              </a:pPr>
              <a:r>
                <a:rPr lang="en-US" sz="1999" b="1">
                  <a:solidFill>
                    <a:srgbClr val="F9FAFB"/>
                  </a:solidFill>
                  <a:latin typeface="DM Sans Bold"/>
                  <a:ea typeface="DM Sans Bold"/>
                  <a:cs typeface="DM Sans Bold"/>
                  <a:sym typeface="DM Sans Bold"/>
                </a:rPr>
                <a:t>Financial Inclusion</a:t>
              </a:r>
            </a:p>
          </p:txBody>
        </p:sp>
      </p:grpSp>
      <p:sp>
        <p:nvSpPr>
          <p:cNvPr id="10" name="TextBox 10"/>
          <p:cNvSpPr txBox="1"/>
          <p:nvPr/>
        </p:nvSpPr>
        <p:spPr>
          <a:xfrm>
            <a:off x="571500" y="2364740"/>
            <a:ext cx="8763000" cy="2324100"/>
          </a:xfrm>
          <a:prstGeom prst="rect">
            <a:avLst/>
          </a:prstGeom>
        </p:spPr>
        <p:txBody>
          <a:bodyPr lIns="0" tIns="0" rIns="0" bIns="0" rtlCol="0" anchor="t">
            <a:spAutoFit/>
          </a:bodyPr>
          <a:lstStyle/>
          <a:p>
            <a:pPr marL="0" lvl="0" indent="0" algn="l">
              <a:lnSpc>
                <a:spcPts val="4500"/>
              </a:lnSpc>
            </a:pPr>
            <a:r>
              <a:rPr lang="en-US" sz="4500" spc="-135">
                <a:solidFill>
                  <a:srgbClr val="F9FAFB"/>
                </a:solidFill>
                <a:latin typeface="DM Sans"/>
                <a:ea typeface="DM Sans"/>
                <a:cs typeface="DM Sans"/>
                <a:sym typeface="DM Sans"/>
              </a:rPr>
              <a:t>The </a:t>
            </a:r>
            <a:r>
              <a:rPr lang="en-US" sz="4500" b="1" spc="-135">
                <a:solidFill>
                  <a:srgbClr val="F9FAFB"/>
                </a:solidFill>
                <a:latin typeface="DM Sans Bold"/>
                <a:ea typeface="DM Sans Bold"/>
                <a:cs typeface="DM Sans Bold"/>
                <a:sym typeface="DM Sans Bold"/>
              </a:rPr>
              <a:t>intersection of casual gamers</a:t>
            </a:r>
            <a:r>
              <a:rPr lang="en-US" sz="4500" spc="-135">
                <a:solidFill>
                  <a:srgbClr val="F9FAFB"/>
                </a:solidFill>
                <a:latin typeface="DM Sans"/>
                <a:ea typeface="DM Sans"/>
                <a:cs typeface="DM Sans"/>
                <a:sym typeface="DM Sans"/>
              </a:rPr>
              <a:t> and Web3 newcomers presents a unique opportunity for mass adoption and engagement.</a:t>
            </a:r>
          </a:p>
        </p:txBody>
      </p:sp>
      <p:sp>
        <p:nvSpPr>
          <p:cNvPr id="11" name="TextBox 11"/>
          <p:cNvSpPr txBox="1"/>
          <p:nvPr/>
        </p:nvSpPr>
        <p:spPr>
          <a:xfrm>
            <a:off x="14605000" y="520998"/>
            <a:ext cx="3111500" cy="438785"/>
          </a:xfrm>
          <a:prstGeom prst="rect">
            <a:avLst/>
          </a:prstGeom>
        </p:spPr>
        <p:txBody>
          <a:bodyPr lIns="0" tIns="0" rIns="0" bIns="0" rtlCol="0" anchor="t">
            <a:spAutoFit/>
          </a:bodyPr>
          <a:lstStyle/>
          <a:p>
            <a:pPr marL="0" lvl="0" indent="0" algn="r">
              <a:lnSpc>
                <a:spcPts val="1750"/>
              </a:lnSpc>
            </a:pPr>
            <a:r>
              <a:rPr lang="en-US" sz="1400" b="1" spc="-21">
                <a:solidFill>
                  <a:srgbClr val="F9FAFB"/>
                </a:solidFill>
                <a:latin typeface="DM Sans Bold"/>
                <a:ea typeface="DM Sans Bold"/>
                <a:cs typeface="DM Sans Bold"/>
                <a:sym typeface="DM Sans Bold"/>
              </a:rPr>
              <a:t>INTERSECTION OF GAMERS AND WEB3</a:t>
            </a:r>
          </a:p>
        </p:txBody>
      </p:sp>
      <p:sp>
        <p:nvSpPr>
          <p:cNvPr id="12" name="TextBox 12"/>
          <p:cNvSpPr txBox="1"/>
          <p:nvPr/>
        </p:nvSpPr>
        <p:spPr>
          <a:xfrm>
            <a:off x="4905375" y="520998"/>
            <a:ext cx="3111500" cy="219710"/>
          </a:xfrm>
          <a:prstGeom prst="rect">
            <a:avLst/>
          </a:prstGeom>
        </p:spPr>
        <p:txBody>
          <a:bodyPr lIns="0" tIns="0" rIns="0" bIns="0" rtlCol="0" anchor="t">
            <a:spAutoFit/>
          </a:bodyPr>
          <a:lstStyle/>
          <a:p>
            <a:pPr marL="0" lvl="0" indent="0" algn="l">
              <a:lnSpc>
                <a:spcPts val="1750"/>
              </a:lnSpc>
            </a:pPr>
            <a:r>
              <a:rPr lang="en-US" sz="1400" b="1" spc="-21">
                <a:solidFill>
                  <a:srgbClr val="F9FAFB"/>
                </a:solidFill>
                <a:latin typeface="DM Sans Bold"/>
                <a:ea typeface="DM Sans Bold"/>
                <a:cs typeface="DM Sans Bold"/>
                <a:sym typeface="DM Sans Bold"/>
              </a:rPr>
              <a:t>MARKET OPPORTUNITY</a:t>
            </a:r>
          </a:p>
        </p:txBody>
      </p:sp>
      <p:sp>
        <p:nvSpPr>
          <p:cNvPr id="13" name="TextBox 13"/>
          <p:cNvSpPr txBox="1"/>
          <p:nvPr/>
        </p:nvSpPr>
        <p:spPr>
          <a:xfrm>
            <a:off x="571500" y="520998"/>
            <a:ext cx="3111500" cy="219710"/>
          </a:xfrm>
          <a:prstGeom prst="rect">
            <a:avLst/>
          </a:prstGeom>
        </p:spPr>
        <p:txBody>
          <a:bodyPr lIns="0" tIns="0" rIns="0" bIns="0" rtlCol="0" anchor="t">
            <a:spAutoFit/>
          </a:bodyPr>
          <a:lstStyle/>
          <a:p>
            <a:pPr marL="0" lvl="0" indent="0" algn="l">
              <a:lnSpc>
                <a:spcPts val="1750"/>
              </a:lnSpc>
            </a:pPr>
            <a:r>
              <a:rPr lang="en-US" sz="1400" b="1" spc="-21">
                <a:solidFill>
                  <a:srgbClr val="F9FAFB"/>
                </a:solidFill>
                <a:latin typeface="DM Sans Bold"/>
                <a:ea typeface="DM Sans Bold"/>
                <a:cs typeface="DM Sans Bold"/>
                <a:sym typeface="DM Sans Bold"/>
              </a:rPr>
              <a:t>WORD SCRAMBLE — GAMIFIED</a:t>
            </a:r>
          </a:p>
        </p:txBody>
      </p:sp>
      <p:grpSp>
        <p:nvGrpSpPr>
          <p:cNvPr id="14" name="Group 14"/>
          <p:cNvGrpSpPr/>
          <p:nvPr/>
        </p:nvGrpSpPr>
        <p:grpSpPr>
          <a:xfrm>
            <a:off x="10429875" y="3266249"/>
            <a:ext cx="2607127" cy="1027860"/>
            <a:chOff x="0" y="0"/>
            <a:chExt cx="3476169" cy="1370480"/>
          </a:xfrm>
        </p:grpSpPr>
        <p:grpSp>
          <p:nvGrpSpPr>
            <p:cNvPr id="15" name="Group 15"/>
            <p:cNvGrpSpPr/>
            <p:nvPr/>
          </p:nvGrpSpPr>
          <p:grpSpPr>
            <a:xfrm>
              <a:off x="0" y="115402"/>
              <a:ext cx="2997536" cy="803206"/>
              <a:chOff x="0" y="0"/>
              <a:chExt cx="677333" cy="181495"/>
            </a:xfrm>
          </p:grpSpPr>
          <p:sp>
            <p:nvSpPr>
              <p:cNvPr id="16" name="Freeform 16"/>
              <p:cNvSpPr/>
              <p:nvPr/>
            </p:nvSpPr>
            <p:spPr>
              <a:xfrm>
                <a:off x="0" y="0"/>
                <a:ext cx="677333" cy="181495"/>
              </a:xfrm>
              <a:custGeom>
                <a:avLst/>
                <a:gdLst/>
                <a:ahLst/>
                <a:cxnLst/>
                <a:rect l="l" t="t" r="r" b="b"/>
                <a:pathLst>
                  <a:path w="677333" h="181495">
                    <a:moveTo>
                      <a:pt x="90748" y="0"/>
                    </a:moveTo>
                    <a:lnTo>
                      <a:pt x="586586" y="0"/>
                    </a:lnTo>
                    <a:cubicBezTo>
                      <a:pt x="636704" y="0"/>
                      <a:pt x="677333" y="40629"/>
                      <a:pt x="677333" y="90748"/>
                    </a:cubicBezTo>
                    <a:lnTo>
                      <a:pt x="677333" y="90748"/>
                    </a:lnTo>
                    <a:cubicBezTo>
                      <a:pt x="677333" y="114815"/>
                      <a:pt x="667772" y="137897"/>
                      <a:pt x="650754" y="154916"/>
                    </a:cubicBezTo>
                    <a:cubicBezTo>
                      <a:pt x="633736" y="171934"/>
                      <a:pt x="610654" y="181495"/>
                      <a:pt x="586586" y="181495"/>
                    </a:cubicBezTo>
                    <a:lnTo>
                      <a:pt x="90748" y="181495"/>
                    </a:lnTo>
                    <a:cubicBezTo>
                      <a:pt x="66680" y="181495"/>
                      <a:pt x="43598" y="171934"/>
                      <a:pt x="26579" y="154916"/>
                    </a:cubicBezTo>
                    <a:cubicBezTo>
                      <a:pt x="9561" y="137897"/>
                      <a:pt x="0" y="114815"/>
                      <a:pt x="0" y="90748"/>
                    </a:cubicBezTo>
                    <a:lnTo>
                      <a:pt x="0" y="90748"/>
                    </a:lnTo>
                    <a:cubicBezTo>
                      <a:pt x="0" y="66680"/>
                      <a:pt x="9561" y="43598"/>
                      <a:pt x="26579" y="26579"/>
                    </a:cubicBezTo>
                    <a:cubicBezTo>
                      <a:pt x="43598" y="9561"/>
                      <a:pt x="66680" y="0"/>
                      <a:pt x="90748" y="0"/>
                    </a:cubicBezTo>
                    <a:close/>
                  </a:path>
                </a:pathLst>
              </a:custGeom>
              <a:solidFill>
                <a:srgbClr val="6366F1"/>
              </a:solidFill>
            </p:spPr>
            <p:txBody>
              <a:bodyPr/>
              <a:lstStyle/>
              <a:p>
                <a:endParaRPr/>
              </a:p>
            </p:txBody>
          </p:sp>
          <p:sp>
            <p:nvSpPr>
              <p:cNvPr id="17" name="TextBox 17"/>
              <p:cNvSpPr txBox="1"/>
              <p:nvPr/>
            </p:nvSpPr>
            <p:spPr>
              <a:xfrm>
                <a:off x="0" y="0"/>
                <a:ext cx="677333" cy="181495"/>
              </a:xfrm>
              <a:prstGeom prst="rect">
                <a:avLst/>
              </a:prstGeom>
            </p:spPr>
            <p:txBody>
              <a:bodyPr lIns="44408" tIns="44408" rIns="44408" bIns="44408" rtlCol="0" anchor="ctr"/>
              <a:lstStyle/>
              <a:p>
                <a:pPr algn="ctr">
                  <a:lnSpc>
                    <a:spcPts val="2879"/>
                  </a:lnSpc>
                </a:pPr>
                <a:endParaRPr/>
              </a:p>
            </p:txBody>
          </p:sp>
        </p:grpSp>
        <p:sp>
          <p:nvSpPr>
            <p:cNvPr id="18" name="Freeform 18"/>
            <p:cNvSpPr/>
            <p:nvPr/>
          </p:nvSpPr>
          <p:spPr>
            <a:xfrm rot="2617942">
              <a:off x="2906599" y="794667"/>
              <a:ext cx="468474" cy="480551"/>
            </a:xfrm>
            <a:custGeom>
              <a:avLst/>
              <a:gdLst/>
              <a:ahLst/>
              <a:cxnLst/>
              <a:rect l="l" t="t" r="r" b="b"/>
              <a:pathLst>
                <a:path w="468474" h="480551">
                  <a:moveTo>
                    <a:pt x="0" y="0"/>
                  </a:moveTo>
                  <a:lnTo>
                    <a:pt x="468474" y="0"/>
                  </a:lnTo>
                  <a:lnTo>
                    <a:pt x="468474" y="480551"/>
                  </a:lnTo>
                  <a:lnTo>
                    <a:pt x="0" y="4805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9" name="TextBox 19"/>
            <p:cNvSpPr txBox="1"/>
            <p:nvPr/>
          </p:nvSpPr>
          <p:spPr>
            <a:xfrm>
              <a:off x="197602" y="0"/>
              <a:ext cx="2602332" cy="990600"/>
            </a:xfrm>
            <a:prstGeom prst="rect">
              <a:avLst/>
            </a:prstGeom>
          </p:spPr>
          <p:txBody>
            <a:bodyPr lIns="0" tIns="0" rIns="0" bIns="0" rtlCol="0" anchor="t">
              <a:spAutoFit/>
            </a:bodyPr>
            <a:lstStyle/>
            <a:p>
              <a:pPr marL="0" lvl="0" indent="0" algn="ctr">
                <a:lnSpc>
                  <a:spcPts val="2999"/>
                </a:lnSpc>
                <a:spcBef>
                  <a:spcPct val="0"/>
                </a:spcBef>
              </a:pPr>
              <a:r>
                <a:rPr lang="en-US" sz="2499">
                  <a:solidFill>
                    <a:srgbClr val="F9FAFB"/>
                  </a:solidFill>
                  <a:latin typeface="DM Sans"/>
                  <a:ea typeface="DM Sans"/>
                  <a:cs typeface="DM Sans"/>
                  <a:sym typeface="DM Sans"/>
                </a:rPr>
                <a:t>Johnrick Rabara</a:t>
              </a:r>
            </a:p>
          </p:txBody>
        </p:sp>
      </p:grpSp>
      <p:pic>
        <p:nvPicPr>
          <p:cNvPr id="21" name="Picture 20">
            <a:extLst>
              <a:ext uri="{FF2B5EF4-FFF2-40B4-BE49-F238E27FC236}">
                <a16:creationId xmlns:a16="http://schemas.microsoft.com/office/drawing/2014/main" id="{F76B7C2D-8C3A-6D70-8976-77B820C57142}"/>
              </a:ext>
            </a:extLst>
          </p:cNvPr>
          <p:cNvPicPr>
            <a:picLocks noChangeAspect="1"/>
          </p:cNvPicPr>
          <p:nvPr/>
        </p:nvPicPr>
        <p:blipFill>
          <a:blip r:embed="rId4"/>
          <a:stretch>
            <a:fillRect/>
          </a:stretch>
        </p:blipFill>
        <p:spPr>
          <a:xfrm>
            <a:off x="13975244" y="1562100"/>
            <a:ext cx="3741256" cy="5481981"/>
          </a:xfrm>
          <a:prstGeom prst="rect">
            <a:avLst/>
          </a:prstGeom>
        </p:spPr>
      </p:pic>
      <p:pic>
        <p:nvPicPr>
          <p:cNvPr id="23" name="Picture 22">
            <a:extLst>
              <a:ext uri="{FF2B5EF4-FFF2-40B4-BE49-F238E27FC236}">
                <a16:creationId xmlns:a16="http://schemas.microsoft.com/office/drawing/2014/main" id="{8F6571F2-6E80-01EE-2A49-7BBA2B0600C9}"/>
              </a:ext>
            </a:extLst>
          </p:cNvPr>
          <p:cNvPicPr>
            <a:picLocks noChangeAspect="1"/>
          </p:cNvPicPr>
          <p:nvPr/>
        </p:nvPicPr>
        <p:blipFill>
          <a:blip r:embed="rId5"/>
          <a:stretch>
            <a:fillRect/>
          </a:stretch>
        </p:blipFill>
        <p:spPr>
          <a:xfrm>
            <a:off x="9872351" y="5600700"/>
            <a:ext cx="4084904" cy="41385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4" name="TextBox 4"/>
          <p:cNvSpPr txBox="1"/>
          <p:nvPr/>
        </p:nvSpPr>
        <p:spPr>
          <a:xfrm>
            <a:off x="571500" y="1422081"/>
            <a:ext cx="17145000" cy="1209675"/>
          </a:xfrm>
          <a:prstGeom prst="rect">
            <a:avLst/>
          </a:prstGeom>
        </p:spPr>
        <p:txBody>
          <a:bodyPr lIns="0" tIns="0" rIns="0" bIns="0" rtlCol="0" anchor="t">
            <a:spAutoFit/>
          </a:bodyPr>
          <a:lstStyle/>
          <a:p>
            <a:pPr marL="0" lvl="0" indent="0" algn="l">
              <a:lnSpc>
                <a:spcPts val="9000"/>
              </a:lnSpc>
            </a:pPr>
            <a:r>
              <a:rPr lang="en-US" sz="9000" spc="-270">
                <a:solidFill>
                  <a:srgbClr val="F9FAFB"/>
                </a:solidFill>
                <a:latin typeface="DM Sans"/>
                <a:ea typeface="DM Sans"/>
                <a:cs typeface="DM Sans"/>
                <a:sym typeface="DM Sans"/>
              </a:rPr>
              <a:t>Fully Client-Side Application</a:t>
            </a:r>
          </a:p>
        </p:txBody>
      </p:sp>
      <p:grpSp>
        <p:nvGrpSpPr>
          <p:cNvPr id="5" name="Group 5"/>
          <p:cNvGrpSpPr/>
          <p:nvPr/>
        </p:nvGrpSpPr>
        <p:grpSpPr>
          <a:xfrm>
            <a:off x="9239250" y="3688784"/>
            <a:ext cx="3723401" cy="2260875"/>
            <a:chOff x="0" y="0"/>
            <a:chExt cx="4964535" cy="3014501"/>
          </a:xfrm>
        </p:grpSpPr>
        <p:sp>
          <p:nvSpPr>
            <p:cNvPr id="6" name="TextBox 6"/>
            <p:cNvSpPr txBox="1"/>
            <p:nvPr/>
          </p:nvSpPr>
          <p:spPr>
            <a:xfrm>
              <a:off x="0" y="652301"/>
              <a:ext cx="4964535" cy="2362200"/>
            </a:xfrm>
            <a:prstGeom prst="rect">
              <a:avLst/>
            </a:prstGeom>
          </p:spPr>
          <p:txBody>
            <a:bodyPr lIns="0" tIns="0" rIns="0" bIns="0" rtlCol="0" anchor="t">
              <a:spAutoFit/>
            </a:bodyPr>
            <a:lstStyle/>
            <a:p>
              <a:pPr marL="0" lvl="0" indent="0" algn="l">
                <a:lnSpc>
                  <a:spcPts val="2399"/>
                </a:lnSpc>
              </a:pPr>
              <a:r>
                <a:rPr lang="en-US" sz="1999">
                  <a:solidFill>
                    <a:srgbClr val="F9FAFB">
                      <a:alpha val="97647"/>
                    </a:srgbClr>
                  </a:solidFill>
                  <a:latin typeface="DM Sans"/>
                  <a:ea typeface="DM Sans"/>
                  <a:cs typeface="DM Sans"/>
                  <a:sym typeface="DM Sans"/>
                </a:rPr>
                <a:t>This application is designed to be fully client-side, using vanilla HTML, CSS, and JavaScript, ensuring </a:t>
              </a:r>
              <a:r>
                <a:rPr lang="en-US" sz="1999" b="1">
                  <a:solidFill>
                    <a:srgbClr val="F9FAFB">
                      <a:alpha val="97647"/>
                    </a:srgbClr>
                  </a:solidFill>
                  <a:latin typeface="DM Sans Bold"/>
                  <a:ea typeface="DM Sans Bold"/>
                  <a:cs typeface="DM Sans Bold"/>
                  <a:sym typeface="DM Sans Bold"/>
                </a:rPr>
                <a:t>seamless user experiences</a:t>
              </a:r>
              <a:r>
                <a:rPr lang="en-US" sz="1999">
                  <a:solidFill>
                    <a:srgbClr val="F9FAFB">
                      <a:alpha val="97647"/>
                    </a:srgbClr>
                  </a:solidFill>
                  <a:latin typeface="DM Sans"/>
                  <a:ea typeface="DM Sans"/>
                  <a:cs typeface="DM Sans"/>
                  <a:sym typeface="DM Sans"/>
                </a:rPr>
                <a:t> without backend dependencies.</a:t>
              </a:r>
            </a:p>
          </p:txBody>
        </p:sp>
        <p:sp>
          <p:nvSpPr>
            <p:cNvPr id="7" name="TextBox 7"/>
            <p:cNvSpPr txBox="1"/>
            <p:nvPr/>
          </p:nvSpPr>
          <p:spPr>
            <a:xfrm>
              <a:off x="0" y="-9525"/>
              <a:ext cx="4964535" cy="327025"/>
            </a:xfrm>
            <a:prstGeom prst="rect">
              <a:avLst/>
            </a:prstGeom>
          </p:spPr>
          <p:txBody>
            <a:bodyPr lIns="0" tIns="0" rIns="0" bIns="0" rtlCol="0" anchor="t">
              <a:spAutoFit/>
            </a:bodyPr>
            <a:lstStyle/>
            <a:p>
              <a:pPr marL="0" lvl="0" indent="0" algn="l">
                <a:lnSpc>
                  <a:spcPts val="1926"/>
                </a:lnSpc>
              </a:pPr>
              <a:r>
                <a:rPr lang="en-US" sz="1605" b="1">
                  <a:solidFill>
                    <a:srgbClr val="F9FAFB"/>
                  </a:solidFill>
                  <a:latin typeface="DM Sans Bold"/>
                  <a:ea typeface="DM Sans Bold"/>
                  <a:cs typeface="DM Sans Bold"/>
                  <a:sym typeface="DM Sans Bold"/>
                </a:rPr>
                <a:t>Overview</a:t>
              </a:r>
            </a:p>
          </p:txBody>
        </p:sp>
      </p:grpSp>
      <p:grpSp>
        <p:nvGrpSpPr>
          <p:cNvPr id="8" name="Group 8"/>
          <p:cNvGrpSpPr/>
          <p:nvPr/>
        </p:nvGrpSpPr>
        <p:grpSpPr>
          <a:xfrm>
            <a:off x="13573125" y="3688784"/>
            <a:ext cx="3708475" cy="2851425"/>
            <a:chOff x="0" y="0"/>
            <a:chExt cx="4944633" cy="3801901"/>
          </a:xfrm>
        </p:grpSpPr>
        <p:sp>
          <p:nvSpPr>
            <p:cNvPr id="9" name="TextBox 9"/>
            <p:cNvSpPr txBox="1"/>
            <p:nvPr/>
          </p:nvSpPr>
          <p:spPr>
            <a:xfrm>
              <a:off x="0" y="652301"/>
              <a:ext cx="4944633" cy="3149600"/>
            </a:xfrm>
            <a:prstGeom prst="rect">
              <a:avLst/>
            </a:prstGeom>
          </p:spPr>
          <p:txBody>
            <a:bodyPr lIns="0" tIns="0" rIns="0" bIns="0" rtlCol="0" anchor="t">
              <a:spAutoFit/>
            </a:bodyPr>
            <a:lstStyle/>
            <a:p>
              <a:pPr marL="0" lvl="0" indent="0" algn="l">
                <a:lnSpc>
                  <a:spcPts val="2399"/>
                </a:lnSpc>
              </a:pPr>
              <a:r>
                <a:rPr lang="en-US" sz="1999" dirty="0">
                  <a:solidFill>
                    <a:srgbClr val="F9FAFB">
                      <a:alpha val="97647"/>
                    </a:srgbClr>
                  </a:solidFill>
                  <a:latin typeface="DM Sans"/>
                  <a:ea typeface="DM Sans"/>
                  <a:cs typeface="DM Sans"/>
                  <a:sym typeface="DM Sans"/>
                </a:rPr>
                <a:t>The architecture leverages stellar.js to connect the UI with Soroban contracts, while event polling facilitates real-time updates. Continuous integration and analytics enhance performance tracking without user disruption.</a:t>
              </a:r>
            </a:p>
          </p:txBody>
        </p:sp>
        <p:sp>
          <p:nvSpPr>
            <p:cNvPr id="10" name="TextBox 10"/>
            <p:cNvSpPr txBox="1"/>
            <p:nvPr/>
          </p:nvSpPr>
          <p:spPr>
            <a:xfrm>
              <a:off x="0" y="-9525"/>
              <a:ext cx="4944633" cy="327025"/>
            </a:xfrm>
            <a:prstGeom prst="rect">
              <a:avLst/>
            </a:prstGeom>
          </p:spPr>
          <p:txBody>
            <a:bodyPr lIns="0" tIns="0" rIns="0" bIns="0" rtlCol="0" anchor="t">
              <a:spAutoFit/>
            </a:bodyPr>
            <a:lstStyle/>
            <a:p>
              <a:pPr marL="0" lvl="0" indent="0" algn="l">
                <a:lnSpc>
                  <a:spcPts val="1926"/>
                </a:lnSpc>
              </a:pPr>
              <a:r>
                <a:rPr lang="en-US" sz="1605" b="1">
                  <a:solidFill>
                    <a:srgbClr val="F9FAFB"/>
                  </a:solidFill>
                  <a:latin typeface="DM Sans Bold"/>
                  <a:ea typeface="DM Sans Bold"/>
                  <a:cs typeface="DM Sans Bold"/>
                  <a:sym typeface="DM Sans Bold"/>
                </a:rPr>
                <a:t>Technical Details</a:t>
              </a:r>
            </a:p>
          </p:txBody>
        </p:sp>
      </p:grpSp>
      <p:sp>
        <p:nvSpPr>
          <p:cNvPr id="11" name="TextBox 11"/>
          <p:cNvSpPr txBox="1"/>
          <p:nvPr/>
        </p:nvSpPr>
        <p:spPr>
          <a:xfrm>
            <a:off x="14605000" y="520998"/>
            <a:ext cx="3111500" cy="219710"/>
          </a:xfrm>
          <a:prstGeom prst="rect">
            <a:avLst/>
          </a:prstGeom>
        </p:spPr>
        <p:txBody>
          <a:bodyPr lIns="0" tIns="0" rIns="0" bIns="0" rtlCol="0" anchor="t">
            <a:spAutoFit/>
          </a:bodyPr>
          <a:lstStyle/>
          <a:p>
            <a:pPr marL="0" lvl="0" indent="0" algn="r">
              <a:lnSpc>
                <a:spcPts val="1750"/>
              </a:lnSpc>
            </a:pPr>
            <a:r>
              <a:rPr lang="en-US" sz="1400" b="1" spc="-21">
                <a:solidFill>
                  <a:srgbClr val="F9FAFB"/>
                </a:solidFill>
                <a:latin typeface="DM Sans Bold"/>
                <a:ea typeface="DM Sans Bold"/>
                <a:cs typeface="DM Sans Bold"/>
                <a:sym typeface="DM Sans Bold"/>
              </a:rPr>
              <a:t>TECHNICAL FLOW</a:t>
            </a:r>
          </a:p>
        </p:txBody>
      </p:sp>
      <p:sp>
        <p:nvSpPr>
          <p:cNvPr id="12" name="TextBox 12"/>
          <p:cNvSpPr txBox="1"/>
          <p:nvPr/>
        </p:nvSpPr>
        <p:spPr>
          <a:xfrm>
            <a:off x="4905375" y="520998"/>
            <a:ext cx="3111500" cy="219710"/>
          </a:xfrm>
          <a:prstGeom prst="rect">
            <a:avLst/>
          </a:prstGeom>
        </p:spPr>
        <p:txBody>
          <a:bodyPr lIns="0" tIns="0" rIns="0" bIns="0" rtlCol="0" anchor="t">
            <a:spAutoFit/>
          </a:bodyPr>
          <a:lstStyle/>
          <a:p>
            <a:pPr marL="0" lvl="0" indent="0" algn="l">
              <a:lnSpc>
                <a:spcPts val="1750"/>
              </a:lnSpc>
            </a:pPr>
            <a:r>
              <a:rPr lang="en-US" sz="1400" b="1" spc="-21">
                <a:solidFill>
                  <a:srgbClr val="F9FAFB"/>
                </a:solidFill>
                <a:latin typeface="DM Sans Bold"/>
                <a:ea typeface="DM Sans Bold"/>
                <a:cs typeface="DM Sans Bold"/>
                <a:sym typeface="DM Sans Bold"/>
              </a:rPr>
              <a:t>ARCHITECTURE OVERVIEW</a:t>
            </a:r>
          </a:p>
        </p:txBody>
      </p:sp>
      <p:sp>
        <p:nvSpPr>
          <p:cNvPr id="13" name="TextBox 13"/>
          <p:cNvSpPr txBox="1"/>
          <p:nvPr/>
        </p:nvSpPr>
        <p:spPr>
          <a:xfrm>
            <a:off x="571500" y="520998"/>
            <a:ext cx="3111500" cy="219710"/>
          </a:xfrm>
          <a:prstGeom prst="rect">
            <a:avLst/>
          </a:prstGeom>
        </p:spPr>
        <p:txBody>
          <a:bodyPr lIns="0" tIns="0" rIns="0" bIns="0" rtlCol="0" anchor="t">
            <a:spAutoFit/>
          </a:bodyPr>
          <a:lstStyle/>
          <a:p>
            <a:pPr marL="0" lvl="0" indent="0" algn="l">
              <a:lnSpc>
                <a:spcPts val="1750"/>
              </a:lnSpc>
            </a:pPr>
            <a:r>
              <a:rPr lang="en-US" sz="1400" b="1" spc="-21">
                <a:solidFill>
                  <a:srgbClr val="F9FAFB"/>
                </a:solidFill>
                <a:latin typeface="DM Sans Bold"/>
                <a:ea typeface="DM Sans Bold"/>
                <a:cs typeface="DM Sans Bold"/>
                <a:sym typeface="DM Sans Bold"/>
              </a:rPr>
              <a:t>WORD SCRAMBLE ONBOARDING</a:t>
            </a:r>
          </a:p>
        </p:txBody>
      </p:sp>
      <p:grpSp>
        <p:nvGrpSpPr>
          <p:cNvPr id="14" name="Group 14"/>
          <p:cNvGrpSpPr/>
          <p:nvPr/>
        </p:nvGrpSpPr>
        <p:grpSpPr>
          <a:xfrm>
            <a:off x="6720170" y="8793354"/>
            <a:ext cx="2576229" cy="932342"/>
            <a:chOff x="95888" y="91272"/>
            <a:chExt cx="3434972" cy="1243122"/>
          </a:xfrm>
        </p:grpSpPr>
        <p:grpSp>
          <p:nvGrpSpPr>
            <p:cNvPr id="15" name="Group 15"/>
            <p:cNvGrpSpPr/>
            <p:nvPr/>
          </p:nvGrpSpPr>
          <p:grpSpPr>
            <a:xfrm>
              <a:off x="533324" y="369813"/>
              <a:ext cx="2997536" cy="803206"/>
              <a:chOff x="0" y="0"/>
              <a:chExt cx="677333" cy="181495"/>
            </a:xfrm>
          </p:grpSpPr>
          <p:sp>
            <p:nvSpPr>
              <p:cNvPr id="16" name="Freeform 16"/>
              <p:cNvSpPr/>
              <p:nvPr/>
            </p:nvSpPr>
            <p:spPr>
              <a:xfrm>
                <a:off x="0" y="0"/>
                <a:ext cx="677333" cy="181495"/>
              </a:xfrm>
              <a:custGeom>
                <a:avLst/>
                <a:gdLst/>
                <a:ahLst/>
                <a:cxnLst/>
                <a:rect l="l" t="t" r="r" b="b"/>
                <a:pathLst>
                  <a:path w="677333" h="181495">
                    <a:moveTo>
                      <a:pt x="90748" y="0"/>
                    </a:moveTo>
                    <a:lnTo>
                      <a:pt x="586586" y="0"/>
                    </a:lnTo>
                    <a:cubicBezTo>
                      <a:pt x="636704" y="0"/>
                      <a:pt x="677333" y="40629"/>
                      <a:pt x="677333" y="90748"/>
                    </a:cubicBezTo>
                    <a:lnTo>
                      <a:pt x="677333" y="90748"/>
                    </a:lnTo>
                    <a:cubicBezTo>
                      <a:pt x="677333" y="114815"/>
                      <a:pt x="667772" y="137897"/>
                      <a:pt x="650754" y="154916"/>
                    </a:cubicBezTo>
                    <a:cubicBezTo>
                      <a:pt x="633736" y="171934"/>
                      <a:pt x="610654" y="181495"/>
                      <a:pt x="586586" y="181495"/>
                    </a:cubicBezTo>
                    <a:lnTo>
                      <a:pt x="90748" y="181495"/>
                    </a:lnTo>
                    <a:cubicBezTo>
                      <a:pt x="66680" y="181495"/>
                      <a:pt x="43598" y="171934"/>
                      <a:pt x="26579" y="154916"/>
                    </a:cubicBezTo>
                    <a:cubicBezTo>
                      <a:pt x="9561" y="137897"/>
                      <a:pt x="0" y="114815"/>
                      <a:pt x="0" y="90748"/>
                    </a:cubicBezTo>
                    <a:lnTo>
                      <a:pt x="0" y="90748"/>
                    </a:lnTo>
                    <a:cubicBezTo>
                      <a:pt x="0" y="66680"/>
                      <a:pt x="9561" y="43598"/>
                      <a:pt x="26579" y="26579"/>
                    </a:cubicBezTo>
                    <a:cubicBezTo>
                      <a:pt x="43598" y="9561"/>
                      <a:pt x="66680" y="0"/>
                      <a:pt x="90748" y="0"/>
                    </a:cubicBezTo>
                    <a:close/>
                  </a:path>
                </a:pathLst>
              </a:custGeom>
              <a:solidFill>
                <a:srgbClr val="6366F1"/>
              </a:solidFill>
            </p:spPr>
            <p:txBody>
              <a:bodyPr/>
              <a:lstStyle/>
              <a:p>
                <a:endParaRPr/>
              </a:p>
            </p:txBody>
          </p:sp>
          <p:sp>
            <p:nvSpPr>
              <p:cNvPr id="17" name="TextBox 17"/>
              <p:cNvSpPr txBox="1"/>
              <p:nvPr/>
            </p:nvSpPr>
            <p:spPr>
              <a:xfrm>
                <a:off x="0" y="0"/>
                <a:ext cx="677333" cy="181495"/>
              </a:xfrm>
              <a:prstGeom prst="rect">
                <a:avLst/>
              </a:prstGeom>
            </p:spPr>
            <p:txBody>
              <a:bodyPr lIns="44408" tIns="44408" rIns="44408" bIns="44408" rtlCol="0" anchor="ctr"/>
              <a:lstStyle/>
              <a:p>
                <a:pPr algn="ctr">
                  <a:lnSpc>
                    <a:spcPts val="2879"/>
                  </a:lnSpc>
                </a:pPr>
                <a:endParaRPr/>
              </a:p>
            </p:txBody>
          </p:sp>
        </p:grpSp>
        <p:sp>
          <p:nvSpPr>
            <p:cNvPr id="18" name="Freeform 18"/>
            <p:cNvSpPr/>
            <p:nvPr/>
          </p:nvSpPr>
          <p:spPr>
            <a:xfrm rot="-8675750">
              <a:off x="95888" y="91272"/>
              <a:ext cx="468474" cy="480551"/>
            </a:xfrm>
            <a:custGeom>
              <a:avLst/>
              <a:gdLst/>
              <a:ahLst/>
              <a:cxnLst/>
              <a:rect l="l" t="t" r="r" b="b"/>
              <a:pathLst>
                <a:path w="468474" h="480551">
                  <a:moveTo>
                    <a:pt x="0" y="0"/>
                  </a:moveTo>
                  <a:lnTo>
                    <a:pt x="468473" y="0"/>
                  </a:lnTo>
                  <a:lnTo>
                    <a:pt x="468473" y="480551"/>
                  </a:lnTo>
                  <a:lnTo>
                    <a:pt x="0" y="4805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9" name="TextBox 19"/>
            <p:cNvSpPr txBox="1"/>
            <p:nvPr/>
          </p:nvSpPr>
          <p:spPr>
            <a:xfrm>
              <a:off x="794389" y="512069"/>
              <a:ext cx="2602332" cy="822325"/>
            </a:xfrm>
            <a:prstGeom prst="rect">
              <a:avLst/>
            </a:prstGeom>
          </p:spPr>
          <p:txBody>
            <a:bodyPr lIns="0" tIns="0" rIns="0" bIns="0" rtlCol="0" anchor="t">
              <a:spAutoFit/>
            </a:bodyPr>
            <a:lstStyle/>
            <a:p>
              <a:pPr marL="0" lvl="0" indent="0" algn="ctr">
                <a:lnSpc>
                  <a:spcPts val="2407"/>
                </a:lnSpc>
                <a:spcBef>
                  <a:spcPct val="0"/>
                </a:spcBef>
              </a:pPr>
              <a:r>
                <a:rPr lang="en-US" sz="2006" dirty="0">
                  <a:solidFill>
                    <a:srgbClr val="F9FAFB"/>
                  </a:solidFill>
                  <a:latin typeface="DM Sans"/>
                  <a:ea typeface="DM Sans"/>
                  <a:cs typeface="DM Sans"/>
                  <a:sym typeface="DM Sans"/>
                </a:rPr>
                <a:t>Johnrick Rabara</a:t>
              </a:r>
            </a:p>
          </p:txBody>
        </p:sp>
      </p:grpSp>
      <p:sp>
        <p:nvSpPr>
          <p:cNvPr id="20" name="Oval 19">
            <a:extLst>
              <a:ext uri="{FF2B5EF4-FFF2-40B4-BE49-F238E27FC236}">
                <a16:creationId xmlns:a16="http://schemas.microsoft.com/office/drawing/2014/main" id="{C6895FAC-5FF5-5C7A-DC5E-EBDBA6CE9542}"/>
              </a:ext>
            </a:extLst>
          </p:cNvPr>
          <p:cNvSpPr/>
          <p:nvPr/>
        </p:nvSpPr>
        <p:spPr>
          <a:xfrm>
            <a:off x="3124200" y="4333875"/>
            <a:ext cx="2794000" cy="22063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3600" dirty="0">
              <a:latin typeface="Broadway" panose="04040905080B02020502" pitchFamily="82" charset="0"/>
            </a:endParaRPr>
          </a:p>
        </p:txBody>
      </p:sp>
      <p:sp>
        <p:nvSpPr>
          <p:cNvPr id="21" name="TextBox 20">
            <a:extLst>
              <a:ext uri="{FF2B5EF4-FFF2-40B4-BE49-F238E27FC236}">
                <a16:creationId xmlns:a16="http://schemas.microsoft.com/office/drawing/2014/main" id="{39B9C5AD-2723-F313-E71D-AF6C7985C3CE}"/>
              </a:ext>
            </a:extLst>
          </p:cNvPr>
          <p:cNvSpPr txBox="1"/>
          <p:nvPr/>
        </p:nvSpPr>
        <p:spPr>
          <a:xfrm>
            <a:off x="3328219" y="4836876"/>
            <a:ext cx="2562942" cy="1200329"/>
          </a:xfrm>
          <a:prstGeom prst="rect">
            <a:avLst/>
          </a:prstGeom>
          <a:noFill/>
        </p:spPr>
        <p:txBody>
          <a:bodyPr wrap="square" rtlCol="0">
            <a:spAutoFit/>
          </a:bodyPr>
          <a:lstStyle/>
          <a:p>
            <a:r>
              <a:rPr lang="en-US" sz="7200" dirty="0">
                <a:solidFill>
                  <a:schemeClr val="bg1"/>
                </a:solidFill>
                <a:latin typeface="Brush Script MT" panose="03060802040406070304" pitchFamily="66" charset="0"/>
              </a:rPr>
              <a:t>Stellar</a:t>
            </a:r>
            <a:endParaRPr lang="en-PH" sz="7200" dirty="0">
              <a:solidFill>
                <a:schemeClr val="bg1"/>
              </a:solidFill>
              <a:latin typeface="Brush Script MT" panose="03060802040406070304" pitchFamily="66" charset="0"/>
            </a:endParaRPr>
          </a:p>
        </p:txBody>
      </p:sp>
      <p:sp>
        <p:nvSpPr>
          <p:cNvPr id="23" name="Oval 22">
            <a:extLst>
              <a:ext uri="{FF2B5EF4-FFF2-40B4-BE49-F238E27FC236}">
                <a16:creationId xmlns:a16="http://schemas.microsoft.com/office/drawing/2014/main" id="{D8B07172-DE06-24C4-7AEE-D8BE5C7F0E2F}"/>
              </a:ext>
            </a:extLst>
          </p:cNvPr>
          <p:cNvSpPr/>
          <p:nvPr/>
        </p:nvSpPr>
        <p:spPr>
          <a:xfrm>
            <a:off x="6208751" y="4551216"/>
            <a:ext cx="1964742" cy="17716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3600" dirty="0">
              <a:latin typeface="Broadway" panose="04040905080B02020502" pitchFamily="82" charset="0"/>
            </a:endParaRPr>
          </a:p>
        </p:txBody>
      </p:sp>
      <p:sp>
        <p:nvSpPr>
          <p:cNvPr id="25" name="Oval 24">
            <a:extLst>
              <a:ext uri="{FF2B5EF4-FFF2-40B4-BE49-F238E27FC236}">
                <a16:creationId xmlns:a16="http://schemas.microsoft.com/office/drawing/2014/main" id="{02122761-1BFC-6DA2-A793-A4EC119923EC}"/>
              </a:ext>
            </a:extLst>
          </p:cNvPr>
          <p:cNvSpPr/>
          <p:nvPr/>
        </p:nvSpPr>
        <p:spPr>
          <a:xfrm>
            <a:off x="868907" y="4551216"/>
            <a:ext cx="1964742" cy="17716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3600" dirty="0">
              <a:latin typeface="Broadway" panose="04040905080B02020502" pitchFamily="82" charset="0"/>
            </a:endParaRPr>
          </a:p>
        </p:txBody>
      </p:sp>
      <p:sp>
        <p:nvSpPr>
          <p:cNvPr id="27" name="TextBox 26">
            <a:extLst>
              <a:ext uri="{FF2B5EF4-FFF2-40B4-BE49-F238E27FC236}">
                <a16:creationId xmlns:a16="http://schemas.microsoft.com/office/drawing/2014/main" id="{CC6C5955-8268-3706-9820-AE6A512747AF}"/>
              </a:ext>
            </a:extLst>
          </p:cNvPr>
          <p:cNvSpPr txBox="1"/>
          <p:nvPr/>
        </p:nvSpPr>
        <p:spPr>
          <a:xfrm>
            <a:off x="1026669" y="5143500"/>
            <a:ext cx="1757874" cy="523220"/>
          </a:xfrm>
          <a:prstGeom prst="rect">
            <a:avLst/>
          </a:prstGeom>
          <a:noFill/>
        </p:spPr>
        <p:txBody>
          <a:bodyPr wrap="square" rtlCol="0">
            <a:spAutoFit/>
          </a:bodyPr>
          <a:lstStyle/>
          <a:p>
            <a:r>
              <a:rPr lang="en-US" sz="2800" dirty="0">
                <a:solidFill>
                  <a:schemeClr val="bg1"/>
                </a:solidFill>
                <a:latin typeface="Arial Rounded MT Bold" panose="020F0704030504030204" pitchFamily="34" charset="0"/>
              </a:rPr>
              <a:t>Stellar.js</a:t>
            </a:r>
            <a:endParaRPr lang="en-PH" sz="2800" dirty="0">
              <a:solidFill>
                <a:schemeClr val="bg1"/>
              </a:solidFill>
              <a:latin typeface="Arial Rounded MT Bold" panose="020F0704030504030204" pitchFamily="34" charset="0"/>
            </a:endParaRPr>
          </a:p>
        </p:txBody>
      </p:sp>
      <p:sp>
        <p:nvSpPr>
          <p:cNvPr id="29" name="TextBox 28">
            <a:extLst>
              <a:ext uri="{FF2B5EF4-FFF2-40B4-BE49-F238E27FC236}">
                <a16:creationId xmlns:a16="http://schemas.microsoft.com/office/drawing/2014/main" id="{FEA23600-C473-26B2-5CF3-E5F19491BDC3}"/>
              </a:ext>
            </a:extLst>
          </p:cNvPr>
          <p:cNvSpPr txBox="1"/>
          <p:nvPr/>
        </p:nvSpPr>
        <p:spPr>
          <a:xfrm>
            <a:off x="6423870" y="5097499"/>
            <a:ext cx="1757874" cy="523220"/>
          </a:xfrm>
          <a:prstGeom prst="rect">
            <a:avLst/>
          </a:prstGeom>
          <a:noFill/>
        </p:spPr>
        <p:txBody>
          <a:bodyPr wrap="square" rtlCol="0">
            <a:spAutoFit/>
          </a:bodyPr>
          <a:lstStyle/>
          <a:p>
            <a:r>
              <a:rPr lang="en-US" sz="2800" dirty="0">
                <a:solidFill>
                  <a:schemeClr val="bg1"/>
                </a:solidFill>
                <a:latin typeface="Arial Rounded MT Bold" panose="020F0704030504030204" pitchFamily="34" charset="0"/>
              </a:rPr>
              <a:t>Soroban</a:t>
            </a:r>
            <a:endParaRPr lang="en-PH" sz="2800" dirty="0">
              <a:solidFill>
                <a:schemeClr val="bg1"/>
              </a:solidFill>
              <a:latin typeface="Arial Rounded MT Bold" panose="020F0704030504030204" pitchFamily="34" charset="0"/>
            </a:endParaRPr>
          </a:p>
        </p:txBody>
      </p:sp>
      <p:cxnSp>
        <p:nvCxnSpPr>
          <p:cNvPr id="31" name="Straight Arrow Connector 30">
            <a:extLst>
              <a:ext uri="{FF2B5EF4-FFF2-40B4-BE49-F238E27FC236}">
                <a16:creationId xmlns:a16="http://schemas.microsoft.com/office/drawing/2014/main" id="{78FD04FC-A49D-BA60-7C7B-FD00C2DE0DC3}"/>
              </a:ext>
            </a:extLst>
          </p:cNvPr>
          <p:cNvCxnSpPr>
            <a:cxnSpLocks/>
            <a:endCxn id="25" idx="0"/>
          </p:cNvCxnSpPr>
          <p:nvPr/>
        </p:nvCxnSpPr>
        <p:spPr>
          <a:xfrm>
            <a:off x="1851278" y="3467100"/>
            <a:ext cx="0" cy="1084116"/>
          </a:xfrm>
          <a:prstGeom prst="straightConnector1">
            <a:avLst/>
          </a:prstGeom>
          <a:ln w="3810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AAD01864-732E-E591-C3F1-BC93642A98AF}"/>
              </a:ext>
            </a:extLst>
          </p:cNvPr>
          <p:cNvCxnSpPr>
            <a:cxnSpLocks/>
            <a:endCxn id="23" idx="0"/>
          </p:cNvCxnSpPr>
          <p:nvPr/>
        </p:nvCxnSpPr>
        <p:spPr>
          <a:xfrm>
            <a:off x="7190229" y="3456358"/>
            <a:ext cx="893" cy="1094858"/>
          </a:xfrm>
          <a:prstGeom prst="straightConnector1">
            <a:avLst/>
          </a:prstGeom>
          <a:ln w="3810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DF42C9C2-1384-C9BE-75E8-0E39BC83F1D2}"/>
              </a:ext>
            </a:extLst>
          </p:cNvPr>
          <p:cNvCxnSpPr>
            <a:cxnSpLocks/>
          </p:cNvCxnSpPr>
          <p:nvPr/>
        </p:nvCxnSpPr>
        <p:spPr>
          <a:xfrm>
            <a:off x="1828800" y="3467100"/>
            <a:ext cx="5362321"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BA11F51D-342D-8AEE-68C5-AE0B4BDCA8C0}"/>
              </a:ext>
            </a:extLst>
          </p:cNvPr>
          <p:cNvCxnSpPr>
            <a:cxnSpLocks/>
            <a:endCxn id="20" idx="0"/>
          </p:cNvCxnSpPr>
          <p:nvPr/>
        </p:nvCxnSpPr>
        <p:spPr>
          <a:xfrm>
            <a:off x="4521199" y="3477843"/>
            <a:ext cx="1" cy="856032"/>
          </a:xfrm>
          <a:prstGeom prst="straightConnector1">
            <a:avLst/>
          </a:prstGeom>
          <a:ln w="38100">
            <a:solidFill>
              <a:schemeClr val="bg1"/>
            </a:solidFill>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grpSp>
        <p:nvGrpSpPr>
          <p:cNvPr id="2" name="Group 2"/>
          <p:cNvGrpSpPr/>
          <p:nvPr/>
        </p:nvGrpSpPr>
        <p:grpSpPr>
          <a:xfrm>
            <a:off x="571500" y="7277067"/>
            <a:ext cx="8429625" cy="2438433"/>
            <a:chOff x="0" y="0"/>
            <a:chExt cx="2112884" cy="611193"/>
          </a:xfrm>
        </p:grpSpPr>
        <p:sp>
          <p:nvSpPr>
            <p:cNvPr id="3" name="Freeform 3">
              <a:extLst>
                <a:ext uri="{C183D7F6-B498-43B3-948B-1728B52AA6E4}">
                  <adec:decorative xmlns:adec="http://schemas.microsoft.com/office/drawing/2017/decorative" val="1"/>
                </a:ext>
              </a:extLst>
            </p:cNvPr>
            <p:cNvSpPr/>
            <p:nvPr/>
          </p:nvSpPr>
          <p:spPr>
            <a:xfrm>
              <a:off x="0" y="0"/>
              <a:ext cx="2112884" cy="611193"/>
            </a:xfrm>
            <a:custGeom>
              <a:avLst/>
              <a:gdLst/>
              <a:ahLst/>
              <a:cxnLst/>
              <a:rect l="l" t="t" r="r" b="b"/>
              <a:pathLst>
                <a:path w="2112884" h="611193">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6366F1"/>
            </a:solidFill>
          </p:spPr>
          <p:txBody>
            <a:bodyPr/>
            <a:lstStyle/>
            <a:p>
              <a:endParaRPr/>
            </a:p>
          </p:txBody>
        </p:sp>
        <p:sp>
          <p:nvSpPr>
            <p:cNvPr id="4" name="TextBox 4"/>
            <p:cNvSpPr txBox="1"/>
            <p:nvPr/>
          </p:nvSpPr>
          <p:spPr>
            <a:xfrm>
              <a:off x="0" y="47625"/>
              <a:ext cx="2112884" cy="563568"/>
            </a:xfrm>
            <a:prstGeom prst="rect">
              <a:avLst/>
            </a:prstGeom>
          </p:spPr>
          <p:txBody>
            <a:bodyPr lIns="50800" tIns="50800" rIns="50800" bIns="50800" rtlCol="0" anchor="ctr"/>
            <a:lstStyle/>
            <a:p>
              <a:pPr algn="ctr">
                <a:lnSpc>
                  <a:spcPts val="3000"/>
                </a:lnSpc>
              </a:pPr>
              <a:endParaRPr/>
            </a:p>
          </p:txBody>
        </p:sp>
      </p:grpSp>
      <p:grpSp>
        <p:nvGrpSpPr>
          <p:cNvPr id="5" name="Group 5"/>
          <p:cNvGrpSpPr/>
          <p:nvPr/>
        </p:nvGrpSpPr>
        <p:grpSpPr>
          <a:xfrm>
            <a:off x="571500" y="4556646"/>
            <a:ext cx="8429625" cy="2438433"/>
            <a:chOff x="0" y="0"/>
            <a:chExt cx="2112884" cy="611193"/>
          </a:xfrm>
        </p:grpSpPr>
        <p:sp>
          <p:nvSpPr>
            <p:cNvPr id="6" name="Freeform 6">
              <a:extLst>
                <a:ext uri="{C183D7F6-B498-43B3-948B-1728B52AA6E4}">
                  <adec:decorative xmlns:adec="http://schemas.microsoft.com/office/drawing/2017/decorative" val="1"/>
                </a:ext>
              </a:extLst>
            </p:cNvPr>
            <p:cNvSpPr/>
            <p:nvPr/>
          </p:nvSpPr>
          <p:spPr>
            <a:xfrm>
              <a:off x="0" y="0"/>
              <a:ext cx="2112884" cy="611193"/>
            </a:xfrm>
            <a:custGeom>
              <a:avLst/>
              <a:gdLst/>
              <a:ahLst/>
              <a:cxnLst/>
              <a:rect l="l" t="t" r="r" b="b"/>
              <a:pathLst>
                <a:path w="2112884" h="611193">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6366F1"/>
            </a:solidFill>
          </p:spPr>
          <p:txBody>
            <a:bodyPr/>
            <a:lstStyle/>
            <a:p>
              <a:endParaRPr/>
            </a:p>
          </p:txBody>
        </p:sp>
        <p:sp>
          <p:nvSpPr>
            <p:cNvPr id="7" name="TextBox 7"/>
            <p:cNvSpPr txBox="1"/>
            <p:nvPr/>
          </p:nvSpPr>
          <p:spPr>
            <a:xfrm>
              <a:off x="0" y="47625"/>
              <a:ext cx="2112884" cy="563568"/>
            </a:xfrm>
            <a:prstGeom prst="rect">
              <a:avLst/>
            </a:prstGeom>
          </p:spPr>
          <p:txBody>
            <a:bodyPr lIns="50800" tIns="50800" rIns="50800" bIns="50800" rtlCol="0" anchor="ctr"/>
            <a:lstStyle/>
            <a:p>
              <a:pPr algn="ctr">
                <a:lnSpc>
                  <a:spcPts val="3000"/>
                </a:lnSpc>
              </a:pPr>
              <a:endParaRPr/>
            </a:p>
          </p:txBody>
        </p:sp>
      </p:grpSp>
      <p:grpSp>
        <p:nvGrpSpPr>
          <p:cNvPr id="8" name="Group 8"/>
          <p:cNvGrpSpPr/>
          <p:nvPr/>
        </p:nvGrpSpPr>
        <p:grpSpPr>
          <a:xfrm>
            <a:off x="931606" y="4852343"/>
            <a:ext cx="6621719" cy="1506098"/>
            <a:chOff x="0" y="0"/>
            <a:chExt cx="8828958" cy="2008130"/>
          </a:xfrm>
        </p:grpSpPr>
        <p:sp>
          <p:nvSpPr>
            <p:cNvPr id="9" name="TextBox 9"/>
            <p:cNvSpPr txBox="1"/>
            <p:nvPr/>
          </p:nvSpPr>
          <p:spPr>
            <a:xfrm>
              <a:off x="0" y="76200"/>
              <a:ext cx="8828958" cy="838200"/>
            </a:xfrm>
            <a:prstGeom prst="rect">
              <a:avLst/>
            </a:prstGeom>
          </p:spPr>
          <p:txBody>
            <a:bodyPr lIns="0" tIns="0" rIns="0" bIns="0" rtlCol="0" anchor="t">
              <a:spAutoFit/>
            </a:bodyPr>
            <a:lstStyle/>
            <a:p>
              <a:pPr marL="0" lvl="0" indent="0" algn="l">
                <a:lnSpc>
                  <a:spcPts val="4500"/>
                </a:lnSpc>
              </a:pPr>
              <a:r>
                <a:rPr lang="en-US" sz="4500" spc="-135">
                  <a:solidFill>
                    <a:srgbClr val="F9FAFB"/>
                  </a:solidFill>
                  <a:latin typeface="DM Sans"/>
                  <a:ea typeface="DM Sans"/>
                  <a:cs typeface="DM Sans"/>
                  <a:sym typeface="DM Sans"/>
                </a:rPr>
                <a:t>Recruitment Loop</a:t>
              </a:r>
            </a:p>
          </p:txBody>
        </p:sp>
        <p:sp>
          <p:nvSpPr>
            <p:cNvPr id="10" name="TextBox 10"/>
            <p:cNvSpPr txBox="1"/>
            <p:nvPr/>
          </p:nvSpPr>
          <p:spPr>
            <a:xfrm>
              <a:off x="0" y="1185805"/>
              <a:ext cx="8828958" cy="822325"/>
            </a:xfrm>
            <a:prstGeom prst="rect">
              <a:avLst/>
            </a:prstGeom>
          </p:spPr>
          <p:txBody>
            <a:bodyPr lIns="0" tIns="0" rIns="0" bIns="0" rtlCol="0" anchor="t">
              <a:spAutoFit/>
            </a:bodyPr>
            <a:lstStyle/>
            <a:p>
              <a:pPr marL="0" lvl="0" indent="0" algn="l">
                <a:lnSpc>
                  <a:spcPts val="2400"/>
                </a:lnSpc>
              </a:pPr>
              <a:r>
                <a:rPr lang="en-US" sz="2000" u="none" strike="noStrike">
                  <a:solidFill>
                    <a:srgbClr val="F9FAFB"/>
                  </a:solidFill>
                  <a:latin typeface="DM Sans"/>
                  <a:ea typeface="DM Sans"/>
                  <a:cs typeface="DM Sans"/>
                  <a:sym typeface="DM Sans"/>
                </a:rPr>
                <a:t>A proven loop from wallet connect to on-chain submit — scaled 10 → 51 verified users, 182 on-chain transactions, 100% independently verified.</a:t>
              </a:r>
            </a:p>
          </p:txBody>
        </p:sp>
      </p:grpSp>
      <p:grpSp>
        <p:nvGrpSpPr>
          <p:cNvPr id="11" name="Group 11"/>
          <p:cNvGrpSpPr/>
          <p:nvPr/>
        </p:nvGrpSpPr>
        <p:grpSpPr>
          <a:xfrm>
            <a:off x="931606" y="7572763"/>
            <a:ext cx="6621719" cy="1810898"/>
            <a:chOff x="0" y="0"/>
            <a:chExt cx="8828958" cy="2414530"/>
          </a:xfrm>
        </p:grpSpPr>
        <p:sp>
          <p:nvSpPr>
            <p:cNvPr id="12" name="TextBox 12"/>
            <p:cNvSpPr txBox="1"/>
            <p:nvPr/>
          </p:nvSpPr>
          <p:spPr>
            <a:xfrm>
              <a:off x="0" y="76200"/>
              <a:ext cx="8828958" cy="838200"/>
            </a:xfrm>
            <a:prstGeom prst="rect">
              <a:avLst/>
            </a:prstGeom>
          </p:spPr>
          <p:txBody>
            <a:bodyPr lIns="0" tIns="0" rIns="0" bIns="0" rtlCol="0" anchor="t">
              <a:spAutoFit/>
            </a:bodyPr>
            <a:lstStyle/>
            <a:p>
              <a:pPr marL="0" lvl="0" indent="0" algn="l">
                <a:lnSpc>
                  <a:spcPts val="4500"/>
                </a:lnSpc>
              </a:pPr>
              <a:r>
                <a:rPr lang="en-US" sz="4500" spc="-135">
                  <a:solidFill>
                    <a:srgbClr val="F9FAFB"/>
                  </a:solidFill>
                  <a:latin typeface="DM Sans"/>
                  <a:ea typeface="DM Sans"/>
                  <a:cs typeface="DM Sans"/>
                  <a:sym typeface="DM Sans"/>
                </a:rPr>
                <a:t>Retention Mechanics</a:t>
              </a:r>
            </a:p>
          </p:txBody>
        </p:sp>
        <p:sp>
          <p:nvSpPr>
            <p:cNvPr id="13" name="TextBox 13"/>
            <p:cNvSpPr txBox="1"/>
            <p:nvPr/>
          </p:nvSpPr>
          <p:spPr>
            <a:xfrm>
              <a:off x="0" y="1185805"/>
              <a:ext cx="8828958" cy="1228725"/>
            </a:xfrm>
            <a:prstGeom prst="rect">
              <a:avLst/>
            </a:prstGeom>
          </p:spPr>
          <p:txBody>
            <a:bodyPr lIns="0" tIns="0" rIns="0" bIns="0" rtlCol="0" anchor="t">
              <a:spAutoFit/>
            </a:bodyPr>
            <a:lstStyle/>
            <a:p>
              <a:pPr marL="0" lvl="0" indent="0" algn="l">
                <a:lnSpc>
                  <a:spcPts val="2400"/>
                </a:lnSpc>
              </a:pPr>
              <a:r>
                <a:rPr lang="en-US" sz="2000" u="none" strike="noStrike">
                  <a:solidFill>
                    <a:srgbClr val="F9FAFB"/>
                  </a:solidFill>
                  <a:latin typeface="DM Sans"/>
                  <a:ea typeface="DM Sans"/>
                  <a:cs typeface="DM Sans"/>
                  <a:sym typeface="DM Sans"/>
                </a:rPr>
                <a:t>Speedrun and Weekly Arena modes cater to diverse player interests, driving repeat engagement and competition.</a:t>
              </a:r>
            </a:p>
          </p:txBody>
        </p:sp>
      </p:grpSp>
      <p:grpSp>
        <p:nvGrpSpPr>
          <p:cNvPr id="14" name="Group 14"/>
          <p:cNvGrpSpPr/>
          <p:nvPr/>
        </p:nvGrpSpPr>
        <p:grpSpPr>
          <a:xfrm>
            <a:off x="9286875" y="7277067"/>
            <a:ext cx="8429625" cy="2438433"/>
            <a:chOff x="0" y="0"/>
            <a:chExt cx="2112884" cy="611193"/>
          </a:xfrm>
        </p:grpSpPr>
        <p:sp>
          <p:nvSpPr>
            <p:cNvPr id="15" name="Freeform 15">
              <a:extLst>
                <a:ext uri="{C183D7F6-B498-43B3-948B-1728B52AA6E4}">
                  <adec:decorative xmlns:adec="http://schemas.microsoft.com/office/drawing/2017/decorative" val="1"/>
                </a:ext>
              </a:extLst>
            </p:cNvPr>
            <p:cNvSpPr/>
            <p:nvPr/>
          </p:nvSpPr>
          <p:spPr>
            <a:xfrm>
              <a:off x="0" y="0"/>
              <a:ext cx="2112884" cy="611193"/>
            </a:xfrm>
            <a:custGeom>
              <a:avLst/>
              <a:gdLst/>
              <a:ahLst/>
              <a:cxnLst/>
              <a:rect l="l" t="t" r="r" b="b"/>
              <a:pathLst>
                <a:path w="2112884" h="611193">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6366F1"/>
            </a:solidFill>
          </p:spPr>
          <p:txBody>
            <a:bodyPr/>
            <a:lstStyle/>
            <a:p>
              <a:endParaRPr/>
            </a:p>
          </p:txBody>
        </p:sp>
        <p:sp>
          <p:nvSpPr>
            <p:cNvPr id="16" name="TextBox 16"/>
            <p:cNvSpPr txBox="1"/>
            <p:nvPr/>
          </p:nvSpPr>
          <p:spPr>
            <a:xfrm>
              <a:off x="0" y="47625"/>
              <a:ext cx="2112884" cy="563568"/>
            </a:xfrm>
            <a:prstGeom prst="rect">
              <a:avLst/>
            </a:prstGeom>
          </p:spPr>
          <p:txBody>
            <a:bodyPr lIns="50800" tIns="50800" rIns="50800" bIns="50800" rtlCol="0" anchor="ctr"/>
            <a:lstStyle/>
            <a:p>
              <a:pPr algn="ctr">
                <a:lnSpc>
                  <a:spcPts val="3000"/>
                </a:lnSpc>
              </a:pPr>
              <a:endParaRPr/>
            </a:p>
          </p:txBody>
        </p:sp>
      </p:grpSp>
      <p:grpSp>
        <p:nvGrpSpPr>
          <p:cNvPr id="17" name="Group 17"/>
          <p:cNvGrpSpPr/>
          <p:nvPr/>
        </p:nvGrpSpPr>
        <p:grpSpPr>
          <a:xfrm>
            <a:off x="9286875" y="4556646"/>
            <a:ext cx="8429625" cy="2438433"/>
            <a:chOff x="0" y="0"/>
            <a:chExt cx="2112884" cy="611193"/>
          </a:xfrm>
        </p:grpSpPr>
        <p:sp>
          <p:nvSpPr>
            <p:cNvPr id="18" name="Freeform 18">
              <a:extLst>
                <a:ext uri="{C183D7F6-B498-43B3-948B-1728B52AA6E4}">
                  <adec:decorative xmlns:adec="http://schemas.microsoft.com/office/drawing/2017/decorative" val="1"/>
                </a:ext>
              </a:extLst>
            </p:cNvPr>
            <p:cNvSpPr/>
            <p:nvPr/>
          </p:nvSpPr>
          <p:spPr>
            <a:xfrm>
              <a:off x="0" y="0"/>
              <a:ext cx="2112884" cy="611193"/>
            </a:xfrm>
            <a:custGeom>
              <a:avLst/>
              <a:gdLst/>
              <a:ahLst/>
              <a:cxnLst/>
              <a:rect l="l" t="t" r="r" b="b"/>
              <a:pathLst>
                <a:path w="2112884" h="611193">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6366F1"/>
            </a:solidFill>
          </p:spPr>
          <p:txBody>
            <a:bodyPr/>
            <a:lstStyle/>
            <a:p>
              <a:endParaRPr/>
            </a:p>
          </p:txBody>
        </p:sp>
        <p:sp>
          <p:nvSpPr>
            <p:cNvPr id="19" name="TextBox 19"/>
            <p:cNvSpPr txBox="1"/>
            <p:nvPr/>
          </p:nvSpPr>
          <p:spPr>
            <a:xfrm>
              <a:off x="0" y="47625"/>
              <a:ext cx="2112884" cy="563568"/>
            </a:xfrm>
            <a:prstGeom prst="rect">
              <a:avLst/>
            </a:prstGeom>
          </p:spPr>
          <p:txBody>
            <a:bodyPr lIns="50800" tIns="50800" rIns="50800" bIns="50800" rtlCol="0" anchor="ctr"/>
            <a:lstStyle/>
            <a:p>
              <a:pPr algn="ctr">
                <a:lnSpc>
                  <a:spcPts val="3000"/>
                </a:lnSpc>
              </a:pPr>
              <a:endParaRPr/>
            </a:p>
          </p:txBody>
        </p:sp>
      </p:grpSp>
      <p:grpSp>
        <p:nvGrpSpPr>
          <p:cNvPr id="20" name="Group 20"/>
          <p:cNvGrpSpPr/>
          <p:nvPr/>
        </p:nvGrpSpPr>
        <p:grpSpPr>
          <a:xfrm>
            <a:off x="9763883" y="4852343"/>
            <a:ext cx="6419092" cy="1810898"/>
            <a:chOff x="0" y="0"/>
            <a:chExt cx="8558790" cy="2414530"/>
          </a:xfrm>
        </p:grpSpPr>
        <p:sp>
          <p:nvSpPr>
            <p:cNvPr id="21" name="TextBox 21"/>
            <p:cNvSpPr txBox="1"/>
            <p:nvPr/>
          </p:nvSpPr>
          <p:spPr>
            <a:xfrm>
              <a:off x="0" y="76200"/>
              <a:ext cx="8558790" cy="838200"/>
            </a:xfrm>
            <a:prstGeom prst="rect">
              <a:avLst/>
            </a:prstGeom>
          </p:spPr>
          <p:txBody>
            <a:bodyPr lIns="0" tIns="0" rIns="0" bIns="0" rtlCol="0" anchor="t">
              <a:spAutoFit/>
            </a:bodyPr>
            <a:lstStyle/>
            <a:p>
              <a:pPr marL="0" lvl="0" indent="0" algn="l">
                <a:lnSpc>
                  <a:spcPts val="4500"/>
                </a:lnSpc>
              </a:pPr>
              <a:r>
                <a:rPr lang="en-US" sz="4500" spc="-135">
                  <a:solidFill>
                    <a:srgbClr val="F9FAFB"/>
                  </a:solidFill>
                  <a:latin typeface="DM Sans"/>
                  <a:ea typeface="DM Sans"/>
                  <a:cs typeface="DM Sans"/>
                  <a:sym typeface="DM Sans"/>
                </a:rPr>
                <a:t>Built-in Feedback</a:t>
              </a:r>
            </a:p>
          </p:txBody>
        </p:sp>
        <p:sp>
          <p:nvSpPr>
            <p:cNvPr id="22" name="TextBox 22"/>
            <p:cNvSpPr txBox="1"/>
            <p:nvPr/>
          </p:nvSpPr>
          <p:spPr>
            <a:xfrm>
              <a:off x="0" y="1185805"/>
              <a:ext cx="8558790" cy="1228725"/>
            </a:xfrm>
            <a:prstGeom prst="rect">
              <a:avLst/>
            </a:prstGeom>
          </p:spPr>
          <p:txBody>
            <a:bodyPr lIns="0" tIns="0" rIns="0" bIns="0" rtlCol="0" anchor="t">
              <a:spAutoFit/>
            </a:bodyPr>
            <a:lstStyle/>
            <a:p>
              <a:pPr marL="0" lvl="0" indent="0" algn="l">
                <a:lnSpc>
                  <a:spcPts val="2400"/>
                </a:lnSpc>
              </a:pPr>
              <a:r>
                <a:rPr lang="en-US" sz="2000" u="none" strike="noStrike">
                  <a:solidFill>
                    <a:srgbClr val="F9FAFB"/>
                  </a:solidFill>
                  <a:latin typeface="DM Sans"/>
                  <a:ea typeface="DM Sans"/>
                  <a:cs typeface="DM Sans"/>
                  <a:sym typeface="DM Sans"/>
                </a:rPr>
                <a:t>Continuous improvement encouraged through auto-prompts and persistent feedback options after user interactions.</a:t>
              </a:r>
            </a:p>
          </p:txBody>
        </p:sp>
      </p:grpSp>
      <p:grpSp>
        <p:nvGrpSpPr>
          <p:cNvPr id="23" name="Group 23"/>
          <p:cNvGrpSpPr/>
          <p:nvPr/>
        </p:nvGrpSpPr>
        <p:grpSpPr>
          <a:xfrm>
            <a:off x="9763883" y="7572763"/>
            <a:ext cx="6419092" cy="1810898"/>
            <a:chOff x="0" y="0"/>
            <a:chExt cx="8558790" cy="2414530"/>
          </a:xfrm>
        </p:grpSpPr>
        <p:sp>
          <p:nvSpPr>
            <p:cNvPr id="24" name="TextBox 24"/>
            <p:cNvSpPr txBox="1"/>
            <p:nvPr/>
          </p:nvSpPr>
          <p:spPr>
            <a:xfrm>
              <a:off x="0" y="76200"/>
              <a:ext cx="8558790" cy="838200"/>
            </a:xfrm>
            <a:prstGeom prst="rect">
              <a:avLst/>
            </a:prstGeom>
          </p:spPr>
          <p:txBody>
            <a:bodyPr lIns="0" tIns="0" rIns="0" bIns="0" rtlCol="0" anchor="t">
              <a:spAutoFit/>
            </a:bodyPr>
            <a:lstStyle/>
            <a:p>
              <a:pPr marL="0" lvl="0" indent="0" algn="l">
                <a:lnSpc>
                  <a:spcPts val="4500"/>
                </a:lnSpc>
              </a:pPr>
              <a:r>
                <a:rPr lang="en-US" sz="4500" spc="-135">
                  <a:solidFill>
                    <a:srgbClr val="F9FAFB"/>
                  </a:solidFill>
                  <a:latin typeface="DM Sans"/>
                  <a:ea typeface="DM Sans"/>
                  <a:cs typeface="DM Sans"/>
                  <a:sym typeface="DM Sans"/>
                </a:rPr>
                <a:t>Long-Horizon Growth</a:t>
              </a:r>
            </a:p>
          </p:txBody>
        </p:sp>
        <p:sp>
          <p:nvSpPr>
            <p:cNvPr id="25" name="TextBox 25"/>
            <p:cNvSpPr txBox="1"/>
            <p:nvPr/>
          </p:nvSpPr>
          <p:spPr>
            <a:xfrm>
              <a:off x="0" y="1185805"/>
              <a:ext cx="8558790" cy="1228725"/>
            </a:xfrm>
            <a:prstGeom prst="rect">
              <a:avLst/>
            </a:prstGeom>
          </p:spPr>
          <p:txBody>
            <a:bodyPr lIns="0" tIns="0" rIns="0" bIns="0" rtlCol="0" anchor="t">
              <a:spAutoFit/>
            </a:bodyPr>
            <a:lstStyle/>
            <a:p>
              <a:pPr marL="0" lvl="0" indent="0" algn="l">
                <a:lnSpc>
                  <a:spcPts val="2400"/>
                </a:lnSpc>
              </a:pPr>
              <a:r>
                <a:rPr lang="en-US" sz="2000" u="none" strike="noStrike">
                  <a:solidFill>
                    <a:srgbClr val="F9FAFB"/>
                  </a:solidFill>
                  <a:latin typeface="DM Sans"/>
                  <a:ea typeface="DM Sans"/>
                  <a:cs typeface="DM Sans"/>
                  <a:sym typeface="DM Sans"/>
                </a:rPr>
                <a:t>On-chain badges as verified skill proof open avenues for school tournaments and community engagement initiatives.</a:t>
              </a:r>
            </a:p>
          </p:txBody>
        </p:sp>
      </p:grpSp>
      <p:sp>
        <p:nvSpPr>
          <p:cNvPr id="26" name="TextBox 26"/>
          <p:cNvSpPr txBox="1"/>
          <p:nvPr/>
        </p:nvSpPr>
        <p:spPr>
          <a:xfrm>
            <a:off x="571500" y="486553"/>
            <a:ext cx="17145000" cy="2352675"/>
          </a:xfrm>
          <a:prstGeom prst="rect">
            <a:avLst/>
          </a:prstGeom>
        </p:spPr>
        <p:txBody>
          <a:bodyPr lIns="0" tIns="0" rIns="0" bIns="0" rtlCol="0" anchor="t">
            <a:spAutoFit/>
          </a:bodyPr>
          <a:lstStyle/>
          <a:p>
            <a:pPr marL="0" lvl="0" indent="0" algn="l">
              <a:lnSpc>
                <a:spcPts val="9000"/>
              </a:lnSpc>
            </a:pPr>
            <a:r>
              <a:rPr lang="en-US" sz="9000" spc="-270">
                <a:solidFill>
                  <a:srgbClr val="F9FAFB"/>
                </a:solidFill>
                <a:latin typeface="DM Sans"/>
                <a:ea typeface="DM Sans"/>
                <a:cs typeface="DM Sans"/>
                <a:sym typeface="DM Sans"/>
              </a:rPr>
              <a:t>User Acquisition and Retention Strategies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grpSp>
        <p:nvGrpSpPr>
          <p:cNvPr id="2" name="Group 2"/>
          <p:cNvGrpSpPr/>
          <p:nvPr/>
        </p:nvGrpSpPr>
        <p:grpSpPr>
          <a:xfrm>
            <a:off x="7858125" y="19050"/>
            <a:ext cx="10429875" cy="10267950"/>
            <a:chOff x="0" y="0"/>
            <a:chExt cx="2746963" cy="2704316"/>
          </a:xfrm>
        </p:grpSpPr>
        <p:sp>
          <p:nvSpPr>
            <p:cNvPr id="3" name="Freeform 3"/>
            <p:cNvSpPr/>
            <p:nvPr/>
          </p:nvSpPr>
          <p:spPr>
            <a:xfrm>
              <a:off x="0" y="0"/>
              <a:ext cx="2746963" cy="2704316"/>
            </a:xfrm>
            <a:custGeom>
              <a:avLst/>
              <a:gdLst/>
              <a:ahLst/>
              <a:cxnLst/>
              <a:rect l="l" t="t" r="r" b="b"/>
              <a:pathLst>
                <a:path w="2746963" h="2704316">
                  <a:moveTo>
                    <a:pt x="0" y="0"/>
                  </a:moveTo>
                  <a:lnTo>
                    <a:pt x="2746963" y="0"/>
                  </a:lnTo>
                  <a:lnTo>
                    <a:pt x="2746963" y="2704316"/>
                  </a:lnTo>
                  <a:lnTo>
                    <a:pt x="0" y="2704316"/>
                  </a:lnTo>
                  <a:close/>
                </a:path>
              </a:pathLst>
            </a:custGeom>
            <a:solidFill>
              <a:srgbClr val="6366F1"/>
            </a:solidFill>
          </p:spPr>
          <p:txBody>
            <a:bodyPr/>
            <a:lstStyle/>
            <a:p>
              <a:endParaRPr/>
            </a:p>
          </p:txBody>
        </p:sp>
        <p:sp>
          <p:nvSpPr>
            <p:cNvPr id="4" name="TextBox 4"/>
            <p:cNvSpPr txBox="1"/>
            <p:nvPr/>
          </p:nvSpPr>
          <p:spPr>
            <a:xfrm>
              <a:off x="0" y="-9525"/>
              <a:ext cx="2746963" cy="2713841"/>
            </a:xfrm>
            <a:prstGeom prst="rect">
              <a:avLst/>
            </a:prstGeom>
          </p:spPr>
          <p:txBody>
            <a:bodyPr lIns="50800" tIns="50800" rIns="50800" bIns="50800" rtlCol="0" anchor="ctr"/>
            <a:lstStyle/>
            <a:p>
              <a:pPr algn="ctr">
                <a:lnSpc>
                  <a:spcPts val="1750"/>
                </a:lnSpc>
              </a:pPr>
              <a:endParaRPr/>
            </a:p>
          </p:txBody>
        </p:sp>
      </p:grpSp>
      <p:grpSp>
        <p:nvGrpSpPr>
          <p:cNvPr id="8" name="Group 8"/>
          <p:cNvGrpSpPr/>
          <p:nvPr/>
        </p:nvGrpSpPr>
        <p:grpSpPr>
          <a:xfrm>
            <a:off x="581025" y="2311522"/>
            <a:ext cx="6972300" cy="5895697"/>
            <a:chOff x="0" y="0"/>
            <a:chExt cx="9296400" cy="7860929"/>
          </a:xfrm>
        </p:grpSpPr>
        <p:sp>
          <p:nvSpPr>
            <p:cNvPr id="9" name="TextBox 9"/>
            <p:cNvSpPr txBox="1"/>
            <p:nvPr/>
          </p:nvSpPr>
          <p:spPr>
            <a:xfrm>
              <a:off x="0" y="872754"/>
              <a:ext cx="9296400" cy="4714875"/>
            </a:xfrm>
            <a:prstGeom prst="rect">
              <a:avLst/>
            </a:prstGeom>
          </p:spPr>
          <p:txBody>
            <a:bodyPr lIns="0" tIns="0" rIns="0" bIns="0" rtlCol="0" anchor="t">
              <a:spAutoFit/>
            </a:bodyPr>
            <a:lstStyle/>
            <a:p>
              <a:pPr marL="0" lvl="0" indent="0" algn="l">
                <a:lnSpc>
                  <a:spcPts val="9000"/>
                </a:lnSpc>
              </a:pPr>
              <a:r>
                <a:rPr lang="en-US" sz="9000" spc="-270" dirty="0">
                  <a:solidFill>
                    <a:srgbClr val="F9FAFB"/>
                  </a:solidFill>
                  <a:latin typeface="DM Sans"/>
                  <a:ea typeface="DM Sans"/>
                  <a:cs typeface="DM Sans"/>
                  <a:sym typeface="DM Sans"/>
                </a:rPr>
                <a:t>Feedback Future Roadmap</a:t>
              </a:r>
            </a:p>
          </p:txBody>
        </p:sp>
        <p:sp>
          <p:nvSpPr>
            <p:cNvPr id="10" name="TextBox 10"/>
            <p:cNvSpPr txBox="1"/>
            <p:nvPr/>
          </p:nvSpPr>
          <p:spPr>
            <a:xfrm>
              <a:off x="0" y="5892429"/>
              <a:ext cx="7366000" cy="1968500"/>
            </a:xfrm>
            <a:prstGeom prst="rect">
              <a:avLst/>
            </a:prstGeom>
          </p:spPr>
          <p:txBody>
            <a:bodyPr lIns="0" tIns="0" rIns="0" bIns="0" rtlCol="0" anchor="t">
              <a:spAutoFit/>
            </a:bodyPr>
            <a:lstStyle/>
            <a:p>
              <a:pPr marL="0" lvl="0" indent="0" algn="l">
                <a:lnSpc>
                  <a:spcPts val="2399"/>
                </a:lnSpc>
              </a:pPr>
              <a:r>
                <a:rPr lang="en-US" sz="1999" u="none" strike="noStrike">
                  <a:solidFill>
                    <a:srgbClr val="F9FAFB">
                      <a:alpha val="97647"/>
                    </a:srgbClr>
                  </a:solidFill>
                  <a:latin typeface="DM Sans"/>
                  <a:ea typeface="DM Sans"/>
                  <a:cs typeface="DM Sans"/>
                  <a:sym typeface="DM Sans"/>
                </a:rPr>
                <a:t>Shipped straight from player feedback: a clearer Definition button, plus Scramble Board v2.0.0 — the 2–4 player 15×15 board users asked for. Next on the roadmap: an on-chain daily leaderboard with streaks and commit-reveal fairness, seasons and player profiles, a timed Speedrun mode, and long-term, verifiable on-chain vocabulary credentials for schools.</a:t>
              </a:r>
            </a:p>
          </p:txBody>
        </p:sp>
        <p:sp>
          <p:nvSpPr>
            <p:cNvPr id="11" name="TextBox 11"/>
            <p:cNvSpPr txBox="1"/>
            <p:nvPr/>
          </p:nvSpPr>
          <p:spPr>
            <a:xfrm>
              <a:off x="0" y="-47625"/>
              <a:ext cx="9296400" cy="449792"/>
            </a:xfrm>
            <a:prstGeom prst="rect">
              <a:avLst/>
            </a:prstGeom>
          </p:spPr>
          <p:txBody>
            <a:bodyPr lIns="0" tIns="0" rIns="0" bIns="0" rtlCol="0" anchor="t">
              <a:spAutoFit/>
            </a:bodyPr>
            <a:lstStyle/>
            <a:p>
              <a:pPr marL="0" lvl="0" indent="0" algn="l">
                <a:lnSpc>
                  <a:spcPts val="2800"/>
                </a:lnSpc>
                <a:spcBef>
                  <a:spcPct val="0"/>
                </a:spcBef>
              </a:pPr>
              <a:r>
                <a:rPr lang="en-US" sz="2000" u="none" strike="noStrike" spc="16">
                  <a:solidFill>
                    <a:srgbClr val="F9FAFB"/>
                  </a:solidFill>
                  <a:latin typeface="DM Sans"/>
                  <a:ea typeface="DM Sans"/>
                  <a:cs typeface="DM Sans"/>
                  <a:sym typeface="DM Sans"/>
                </a:rPr>
                <a:t>FEEDBACK → ROADMAP</a:t>
              </a:r>
            </a:p>
          </p:txBody>
        </p:sp>
      </p:grpSp>
      <p:graphicFrame>
        <p:nvGraphicFramePr>
          <p:cNvPr id="17" name="Diagram 16">
            <a:extLst>
              <a:ext uri="{FF2B5EF4-FFF2-40B4-BE49-F238E27FC236}">
                <a16:creationId xmlns:a16="http://schemas.microsoft.com/office/drawing/2014/main" id="{C284E5A7-6209-4B15-F464-1DE6098B02D2}"/>
              </a:ext>
            </a:extLst>
          </p:cNvPr>
          <p:cNvGraphicFramePr/>
          <p:nvPr>
            <p:extLst>
              <p:ext uri="{D42A27DB-BD31-4B8C-83A1-F6EECF244321}">
                <p14:modId xmlns:p14="http://schemas.microsoft.com/office/powerpoint/2010/main" val="3757289861"/>
              </p:ext>
            </p:extLst>
          </p:nvPr>
        </p:nvGraphicFramePr>
        <p:xfrm>
          <a:off x="8505824" y="1714500"/>
          <a:ext cx="9134475" cy="71277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grpSp>
        <p:nvGrpSpPr>
          <p:cNvPr id="3" name="Group 3"/>
          <p:cNvGrpSpPr/>
          <p:nvPr/>
        </p:nvGrpSpPr>
        <p:grpSpPr>
          <a:xfrm>
            <a:off x="571500" y="7663954"/>
            <a:ext cx="8420100" cy="1926642"/>
            <a:chOff x="0" y="0"/>
            <a:chExt cx="6825830" cy="1561850"/>
          </a:xfrm>
        </p:grpSpPr>
        <p:sp>
          <p:nvSpPr>
            <p:cNvPr id="4" name="Freeform 4">
              <a:extLst>
                <a:ext uri="{C183D7F6-B498-43B3-948B-1728B52AA6E4}">
                  <adec:decorative xmlns:adec="http://schemas.microsoft.com/office/drawing/2017/decorative" val="1"/>
                </a:ext>
              </a:extLst>
            </p:cNvPr>
            <p:cNvSpPr/>
            <p:nvPr/>
          </p:nvSpPr>
          <p:spPr>
            <a:xfrm>
              <a:off x="0" y="0"/>
              <a:ext cx="6825830" cy="1561850"/>
            </a:xfrm>
            <a:custGeom>
              <a:avLst/>
              <a:gdLst/>
              <a:ahLst/>
              <a:cxnLst/>
              <a:rect l="l" t="t" r="r" b="b"/>
              <a:pathLst>
                <a:path w="6825830" h="1561850">
                  <a:moveTo>
                    <a:pt x="6701370" y="1561850"/>
                  </a:moveTo>
                  <a:lnTo>
                    <a:pt x="124460" y="1561850"/>
                  </a:lnTo>
                  <a:cubicBezTo>
                    <a:pt x="55880" y="1561850"/>
                    <a:pt x="0" y="1505970"/>
                    <a:pt x="0" y="1437390"/>
                  </a:cubicBezTo>
                  <a:lnTo>
                    <a:pt x="0" y="124460"/>
                  </a:lnTo>
                  <a:cubicBezTo>
                    <a:pt x="0" y="55880"/>
                    <a:pt x="55880" y="0"/>
                    <a:pt x="124460" y="0"/>
                  </a:cubicBezTo>
                  <a:lnTo>
                    <a:pt x="6701370" y="0"/>
                  </a:lnTo>
                  <a:cubicBezTo>
                    <a:pt x="6769950" y="0"/>
                    <a:pt x="6825830" y="55880"/>
                    <a:pt x="6825830" y="124460"/>
                  </a:cubicBezTo>
                  <a:lnTo>
                    <a:pt x="6825830" y="1437390"/>
                  </a:lnTo>
                  <a:cubicBezTo>
                    <a:pt x="6825830" y="1505970"/>
                    <a:pt x="6769950" y="1561850"/>
                    <a:pt x="6701370" y="1561850"/>
                  </a:cubicBezTo>
                  <a:close/>
                </a:path>
              </a:pathLst>
            </a:custGeom>
            <a:solidFill>
              <a:srgbClr val="6366F1"/>
            </a:solidFill>
          </p:spPr>
          <p:txBody>
            <a:bodyPr/>
            <a:lstStyle/>
            <a:p>
              <a:endParaRPr/>
            </a:p>
          </p:txBody>
        </p:sp>
      </p:grpSp>
      <p:sp>
        <p:nvSpPr>
          <p:cNvPr id="5" name="TextBox 5"/>
          <p:cNvSpPr txBox="1"/>
          <p:nvPr/>
        </p:nvSpPr>
        <p:spPr>
          <a:xfrm>
            <a:off x="831954" y="8141976"/>
            <a:ext cx="3844821" cy="1178242"/>
          </a:xfrm>
          <a:prstGeom prst="rect">
            <a:avLst/>
          </a:prstGeom>
        </p:spPr>
        <p:txBody>
          <a:bodyPr lIns="0" tIns="0" rIns="0" bIns="0" rtlCol="0" anchor="t">
            <a:spAutoFit/>
          </a:bodyPr>
          <a:lstStyle/>
          <a:p>
            <a:pPr marL="0" lvl="0" indent="0" algn="l">
              <a:lnSpc>
                <a:spcPts val="8887"/>
              </a:lnSpc>
              <a:spcBef>
                <a:spcPct val="0"/>
              </a:spcBef>
            </a:pPr>
            <a:r>
              <a:rPr lang="en-US" sz="8887" u="none" strike="noStrike" spc="-266">
                <a:solidFill>
                  <a:srgbClr val="F9FAFB"/>
                </a:solidFill>
                <a:latin typeface="DM Sans"/>
                <a:ea typeface="DM Sans"/>
                <a:cs typeface="DM Sans"/>
                <a:sym typeface="DM Sans"/>
              </a:rPr>
              <a:t>4.8/5</a:t>
            </a:r>
          </a:p>
        </p:txBody>
      </p:sp>
      <p:sp>
        <p:nvSpPr>
          <p:cNvPr id="6" name="TextBox 6"/>
          <p:cNvSpPr txBox="1"/>
          <p:nvPr/>
        </p:nvSpPr>
        <p:spPr>
          <a:xfrm>
            <a:off x="4981575" y="8331047"/>
            <a:ext cx="2876550" cy="619125"/>
          </a:xfrm>
          <a:prstGeom prst="rect">
            <a:avLst/>
          </a:prstGeom>
        </p:spPr>
        <p:txBody>
          <a:bodyPr lIns="0" tIns="0" rIns="0" bIns="0" rtlCol="0" anchor="t">
            <a:spAutoFit/>
          </a:bodyPr>
          <a:lstStyle/>
          <a:p>
            <a:pPr marL="0" lvl="0" indent="0" algn="l">
              <a:lnSpc>
                <a:spcPts val="2400"/>
              </a:lnSpc>
            </a:pPr>
            <a:r>
              <a:rPr lang="en-US" sz="2000">
                <a:solidFill>
                  <a:srgbClr val="F9FAFB"/>
                </a:solidFill>
                <a:latin typeface="DM Sans"/>
                <a:ea typeface="DM Sans"/>
                <a:cs typeface="DM Sans"/>
                <a:sym typeface="DM Sans"/>
              </a:rPr>
              <a:t>Average player rating (52 responses)</a:t>
            </a:r>
          </a:p>
        </p:txBody>
      </p:sp>
      <p:grpSp>
        <p:nvGrpSpPr>
          <p:cNvPr id="7" name="Group 7"/>
          <p:cNvGrpSpPr/>
          <p:nvPr/>
        </p:nvGrpSpPr>
        <p:grpSpPr>
          <a:xfrm>
            <a:off x="571500" y="3850957"/>
            <a:ext cx="9858375" cy="1959984"/>
            <a:chOff x="0" y="0"/>
            <a:chExt cx="13144500" cy="2613313"/>
          </a:xfrm>
        </p:grpSpPr>
        <p:sp>
          <p:nvSpPr>
            <p:cNvPr id="8" name="TextBox 8"/>
            <p:cNvSpPr txBox="1"/>
            <p:nvPr/>
          </p:nvSpPr>
          <p:spPr>
            <a:xfrm>
              <a:off x="0" y="985173"/>
              <a:ext cx="13144500" cy="1628140"/>
            </a:xfrm>
            <a:prstGeom prst="rect">
              <a:avLst/>
            </a:prstGeom>
          </p:spPr>
          <p:txBody>
            <a:bodyPr lIns="0" tIns="0" rIns="0" bIns="0" rtlCol="0" anchor="t">
              <a:spAutoFit/>
            </a:bodyPr>
            <a:lstStyle/>
            <a:p>
              <a:pPr marL="0" lvl="0" indent="0" algn="l">
                <a:lnSpc>
                  <a:spcPts val="8887"/>
                </a:lnSpc>
              </a:pPr>
              <a:r>
                <a:rPr lang="en-US" sz="8887" spc="-266">
                  <a:solidFill>
                    <a:srgbClr val="F9FAFB"/>
                  </a:solidFill>
                  <a:latin typeface="DM Sans"/>
                  <a:ea typeface="DM Sans"/>
                  <a:cs typeface="DM Sans"/>
                  <a:sym typeface="DM Sans"/>
                </a:rPr>
                <a:t>51 verified users · 182 on-chain txns</a:t>
              </a:r>
            </a:p>
          </p:txBody>
        </p:sp>
        <p:sp>
          <p:nvSpPr>
            <p:cNvPr id="9" name="TextBox 9"/>
            <p:cNvSpPr txBox="1"/>
            <p:nvPr/>
          </p:nvSpPr>
          <p:spPr>
            <a:xfrm>
              <a:off x="0" y="0"/>
              <a:ext cx="11226800" cy="558800"/>
            </a:xfrm>
            <a:prstGeom prst="rect">
              <a:avLst/>
            </a:prstGeom>
          </p:spPr>
          <p:txBody>
            <a:bodyPr lIns="0" tIns="0" rIns="0" bIns="0" rtlCol="0" anchor="t">
              <a:spAutoFit/>
            </a:bodyPr>
            <a:lstStyle/>
            <a:p>
              <a:pPr marL="0" lvl="0" indent="0" algn="l">
                <a:lnSpc>
                  <a:spcPts val="3359"/>
                </a:lnSpc>
              </a:pPr>
              <a:r>
                <a:rPr lang="en-US" sz="2799">
                  <a:solidFill>
                    <a:srgbClr val="F9FAFB"/>
                  </a:solidFill>
                  <a:latin typeface="DM Sans"/>
                  <a:ea typeface="DM Sans"/>
                  <a:cs typeface="DM Sans"/>
                  <a:sym typeface="DM Sans"/>
                </a:rPr>
                <a:t>User Engagement Metrics</a:t>
              </a:r>
            </a:p>
          </p:txBody>
        </p:sp>
      </p:grpSp>
      <p:pic>
        <p:nvPicPr>
          <p:cNvPr id="10" name="Picture 9" descr="growth_chart.png"/>
          <p:cNvPicPr>
            <a:picLocks noChangeAspect="1"/>
          </p:cNvPicPr>
          <p:nvPr/>
        </p:nvPicPr>
        <p:blipFill>
          <a:blip r:embed="rId3"/>
          <a:stretch>
            <a:fillRect/>
          </a:stretch>
        </p:blipFill>
        <p:spPr>
          <a:xfrm>
            <a:off x="9966960" y="2645912"/>
            <a:ext cx="7955279" cy="4995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2" name="TextBox 2"/>
          <p:cNvSpPr txBox="1"/>
          <p:nvPr/>
        </p:nvSpPr>
        <p:spPr>
          <a:xfrm>
            <a:off x="666750" y="4194532"/>
            <a:ext cx="16954500" cy="1730374"/>
          </a:xfrm>
          <a:prstGeom prst="rect">
            <a:avLst/>
          </a:prstGeom>
        </p:spPr>
        <p:txBody>
          <a:bodyPr lIns="0" tIns="0" rIns="0" bIns="0" rtlCol="0" anchor="t">
            <a:spAutoFit/>
          </a:bodyPr>
          <a:lstStyle/>
          <a:p>
            <a:pPr marL="0" lvl="0" indent="0" algn="ctr">
              <a:lnSpc>
                <a:spcPts val="12999"/>
              </a:lnSpc>
            </a:pPr>
            <a:r>
              <a:rPr lang="en-US" sz="12999" spc="-389">
                <a:solidFill>
                  <a:srgbClr val="F9FAFB"/>
                </a:solidFill>
                <a:latin typeface="DM Sans"/>
                <a:ea typeface="DM Sans"/>
                <a:cs typeface="DM Sans"/>
                <a:sym typeface="DM Sans"/>
              </a:rPr>
              <a:t>Thank you!</a:t>
            </a:r>
          </a:p>
        </p:txBody>
      </p:sp>
      <p:sp>
        <p:nvSpPr>
          <p:cNvPr id="3" name="TextBox 3"/>
          <p:cNvSpPr txBox="1"/>
          <p:nvPr/>
        </p:nvSpPr>
        <p:spPr>
          <a:xfrm>
            <a:off x="3543300" y="9135293"/>
            <a:ext cx="11201400" cy="269875"/>
          </a:xfrm>
          <a:prstGeom prst="rect">
            <a:avLst/>
          </a:prstGeom>
        </p:spPr>
        <p:txBody>
          <a:bodyPr lIns="0" tIns="0" rIns="0" bIns="0" rtlCol="0" anchor="t">
            <a:spAutoFit/>
          </a:bodyPr>
          <a:lstStyle/>
          <a:p>
            <a:pPr marL="0" lvl="0" indent="0" algn="ctr">
              <a:lnSpc>
                <a:spcPts val="2000"/>
              </a:lnSpc>
            </a:pPr>
            <a:r>
              <a:rPr lang="en-US" sz="2000" spc="-60">
                <a:solidFill>
                  <a:srgbClr val="F9FAFB"/>
                </a:solidFill>
                <a:latin typeface="DM Sans"/>
                <a:ea typeface="DM Sans"/>
                <a:cs typeface="DM Sans"/>
                <a:sym typeface="DM Sans"/>
              </a:rPr>
              <a:t>word-scramble-v1.surge.sh   ·   github.com/Jrabara101/Stellar-Paradigm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1464</Words>
  <Application>Microsoft Office PowerPoint</Application>
  <PresentationFormat>Custom</PresentationFormat>
  <Paragraphs>82</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DM Sans Bold</vt:lpstr>
      <vt:lpstr>Arial</vt:lpstr>
      <vt:lpstr>Arial Rounded MT Bold</vt:lpstr>
      <vt:lpstr>DM Sans</vt:lpstr>
      <vt:lpstr>Calibri</vt:lpstr>
      <vt:lpstr>Brush Script MT</vt:lpstr>
      <vt:lpstr>Broadway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Gamified Web3 Onboarding</dc:title>
  <dc:creator>Admin</dc:creator>
  <dc:description>Presentation - Gamified Web3 Onboarding</dc:description>
  <cp:lastModifiedBy>Johnrick Rabara</cp:lastModifiedBy>
  <cp:revision>2</cp:revision>
  <dcterms:created xsi:type="dcterms:W3CDTF">2006-08-16T00:00:00Z</dcterms:created>
  <dcterms:modified xsi:type="dcterms:W3CDTF">2026-07-29T01:46:51Z</dcterms:modified>
  <dc:identifier>DAHQaQdPLxk</dc:identifier>
</cp:coreProperties>
</file>